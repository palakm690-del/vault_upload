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s/slide56.xml" ContentType="application/vnd.openxmlformats-officedocument.presentationml.slide+xml"/>
  <Override PartName="/ppt/slides/slide5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49.xml" ContentType="application/vnd.openxmlformats-officedocument.presentationml.slide+xml"/>
  <Override PartName="/ppt/slides/slide5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4"/>
  </p:notesMasterIdLst>
  <p:sldIdLst>
    <p:sldId id="310" r:id="rId2"/>
    <p:sldId id="256" r:id="rId3"/>
    <p:sldId id="257" r:id="rId4"/>
    <p:sldId id="311" r:id="rId5"/>
    <p:sldId id="258" r:id="rId6"/>
    <p:sldId id="312" r:id="rId7"/>
    <p:sldId id="259" r:id="rId8"/>
    <p:sldId id="314" r:id="rId9"/>
    <p:sldId id="313" r:id="rId10"/>
    <p:sldId id="260" r:id="rId11"/>
    <p:sldId id="261" r:id="rId12"/>
    <p:sldId id="315" r:id="rId13"/>
    <p:sldId id="316" r:id="rId14"/>
    <p:sldId id="262" r:id="rId15"/>
    <p:sldId id="274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  <p:sldId id="299" r:id="rId52"/>
    <p:sldId id="300" r:id="rId53"/>
    <p:sldId id="301" r:id="rId54"/>
    <p:sldId id="302" r:id="rId55"/>
    <p:sldId id="303" r:id="rId56"/>
    <p:sldId id="304" r:id="rId57"/>
    <p:sldId id="305" r:id="rId58"/>
    <p:sldId id="306" r:id="rId59"/>
    <p:sldId id="307" r:id="rId60"/>
    <p:sldId id="308" r:id="rId61"/>
    <p:sldId id="309" r:id="rId62"/>
    <p:sldId id="317" r:id="rId6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2652" autoAdjust="0"/>
  </p:normalViewPr>
  <p:slideViewPr>
    <p:cSldViewPr>
      <p:cViewPr varScale="1">
        <p:scale>
          <a:sx n="67" d="100"/>
          <a:sy n="67" d="100"/>
        </p:scale>
        <p:origin x="-1476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D111A8-E6D9-4661-8FFC-94179FA22F66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DD755E-69A5-4090-BA8A-97D3525C5D6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DD755E-69A5-4090-BA8A-97D3525C5D6A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52600"/>
            <a:ext cx="8305800" cy="2209800"/>
          </a:xfrm>
        </p:spPr>
        <p:txBody>
          <a:bodyPr>
            <a:norm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6-Weeks Summer Internship on Machine Learning and Generative AI with Python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Week 1: Python Foundations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>
                <a:latin typeface="Times New Roman" pitchFamily="18" charset="0"/>
                <a:cs typeface="Times New Roman" pitchFamily="18" charset="0"/>
              </a:rPr>
              <a:t>Contents</a:t>
            </a:r>
            <a:endParaRPr lang="en-US" sz="4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40386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Core Python programming concepts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Variables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Data Types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User Interaction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>
                <a:latin typeface="Times New Roman" pitchFamily="18" charset="0"/>
                <a:cs typeface="Times New Roman" pitchFamily="18" charset="0"/>
              </a:rPr>
              <a:t>Introduction to Python</a:t>
            </a:r>
            <a:endParaRPr lang="en-US" sz="4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6388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Created by Guido van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Rossum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in 1991.</a:t>
            </a:r>
          </a:p>
          <a:p>
            <a:pPr>
              <a:lnSpc>
                <a:spcPct val="150000"/>
              </a:lnSpc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Features - 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High-level 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Interpreted 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Object oriented 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Dynamically typed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Portable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Open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source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>
                <a:latin typeface="Times New Roman" pitchFamily="18" charset="0"/>
                <a:cs typeface="Times New Roman" pitchFamily="18" charset="0"/>
              </a:rPr>
              <a:t>Reasons to choose Python</a:t>
            </a:r>
            <a:endParaRPr lang="en-US" sz="4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Simple elegant syntax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Not overly strict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Expressiveness of the language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Great community and support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Popular Python Libraries and Their Applications</a:t>
            </a:r>
            <a:endParaRPr lang="en-US" sz="3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52578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Library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		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Application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NumPy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	Numerical Computing and Arrays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	Pandas		Data Analysis and Data Manipulation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Matplotlib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	Data Visualization and Graphs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Seaborn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	Statistical Data Visualization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Scikit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-Learn	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Machine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Learning Algorithms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TensorFlow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	Deep Learning and Neural Networks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PyTorch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	AI and Deep Learning Research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OpenCV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	Image Processing and Computer Vision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</a:t>
            </a: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 smtClean="0">
                <a:latin typeface="Times New Roman" pitchFamily="18" charset="0"/>
                <a:cs typeface="Times New Roman" pitchFamily="18" charset="0"/>
              </a:rPr>
              <a:t>Why Python is Used in AI &amp; Machine Learning?</a:t>
            </a:r>
            <a:endParaRPr lang="en-US" sz="4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Simple and Easy to Learn: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Easy-to-read syntax , Less code compared to other languages , Faster development and prototyping </a:t>
            </a:r>
          </a:p>
          <a:p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Powerful AI/ML Libraries: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NumPy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, Pandas,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Scikit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-Learn,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TensorFlow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PyTorch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OpenCV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Cross-Platform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Compatibility: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Runs on Windows, Linux, and Mac OS, Easily integrates with cloud platforms </a:t>
            </a:r>
          </a:p>
          <a:p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Rapid Development: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Helps build AI models quickly , Ideal for research, experimentation, and deployment </a:t>
            </a:r>
          </a:p>
          <a:p>
            <a:pPr algn="just">
              <a:lnSpc>
                <a:spcPct val="150000"/>
              </a:lnSpc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Real-World Applications of Python in AI</a:t>
            </a:r>
            <a:endParaRPr lang="en-US" sz="4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ChatGPT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and Generative AI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Face Recognition Systems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Self-Driving Cars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Recommendation Systems (Netflix, Amazon, YouTube)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Fraud Detection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Medical Diagnosis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Voice Assistants 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>
                <a:latin typeface="Times New Roman" pitchFamily="18" charset="0"/>
                <a:cs typeface="Times New Roman" pitchFamily="18" charset="0"/>
              </a:rPr>
              <a:t>Python Installation  </a:t>
            </a:r>
            <a:endParaRPr lang="en-US" sz="4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Install python from the official website (https://www.python.org)</a:t>
            </a:r>
          </a:p>
          <a:p>
            <a:pPr algn="just">
              <a:lnSpc>
                <a:spcPct val="150000"/>
              </a:lnSpc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Download the latest stable version.</a:t>
            </a:r>
          </a:p>
          <a:p>
            <a:pPr algn="just">
              <a:lnSpc>
                <a:spcPct val="150000"/>
              </a:lnSpc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Install python and enable “Add Python to PATH”.</a:t>
            </a:r>
          </a:p>
          <a:p>
            <a:pPr algn="just">
              <a:lnSpc>
                <a:spcPct val="150000"/>
              </a:lnSpc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Verify installation using: 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                          python --version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Using Google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Colab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53000"/>
          </a:xfrm>
        </p:spPr>
        <p:txBody>
          <a:bodyPr>
            <a:normAutofit lnSpcReduction="1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Google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Colab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is a cloud based Python programming platform.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No installation required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Programs run directly in the browser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Useful for: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		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 Practice programs 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		ii. Machine Learning 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		iii. Data Science 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		iv. GPU-based execution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>
                <a:latin typeface="Times New Roman" pitchFamily="18" charset="0"/>
                <a:cs typeface="Times New Roman" pitchFamily="18" charset="0"/>
              </a:rPr>
              <a:t>Steps to Use Google </a:t>
            </a:r>
            <a:r>
              <a:rPr lang="en-US" sz="4000" b="1" dirty="0" err="1" smtClean="0">
                <a:latin typeface="Times New Roman" pitchFamily="18" charset="0"/>
                <a:cs typeface="Times New Roman" pitchFamily="18" charset="0"/>
              </a:rPr>
              <a:t>Colab</a:t>
            </a:r>
            <a:endParaRPr lang="en-US" sz="4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Open Google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Colab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514350" indent="-514350">
              <a:buAutoNum type="arabicPeriod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Sign in using Gmail account </a:t>
            </a:r>
          </a:p>
          <a:p>
            <a:pPr marL="514350" indent="-514350">
              <a:buAutoNum type="arabicPeriod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Click on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New Notebook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514350" indent="-514350">
              <a:buAutoNum type="arabicPeriod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Write Python code in cells </a:t>
            </a:r>
          </a:p>
          <a:p>
            <a:pPr marL="514350" indent="-514350">
              <a:buAutoNum type="arabicPeriod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Press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Shift + Enter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to execute code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>
                <a:latin typeface="Times New Roman" pitchFamily="18" charset="0"/>
                <a:cs typeface="Times New Roman" pitchFamily="18" charset="0"/>
              </a:rPr>
              <a:t>Introduction to </a:t>
            </a:r>
            <a:r>
              <a:rPr lang="en-US" sz="4000" b="1" dirty="0" err="1" smtClean="0">
                <a:latin typeface="Times New Roman" pitchFamily="18" charset="0"/>
                <a:cs typeface="Times New Roman" pitchFamily="18" charset="0"/>
              </a:rPr>
              <a:t>GitHub</a:t>
            </a:r>
            <a:endParaRPr lang="en-US" sz="4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410200"/>
          </a:xfrm>
        </p:spPr>
        <p:txBody>
          <a:bodyPr>
            <a:normAutofit fontScale="92500" lnSpcReduction="20000"/>
          </a:bodyPr>
          <a:lstStyle/>
          <a:p>
            <a:pPr marL="514350" indent="-514350"/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GitHub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is a cloud-based platform used to store and manage code. </a:t>
            </a:r>
          </a:p>
          <a:p>
            <a:pPr marL="514350" indent="-514350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It helps developers collaborate on projects. </a:t>
            </a:r>
          </a:p>
          <a:p>
            <a:pPr marL="514350" indent="-514350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It keeps track of changes made to files. </a:t>
            </a:r>
          </a:p>
          <a:p>
            <a:pPr marL="514350" indent="-514350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It acts as an online portfolio for programmers.</a:t>
            </a:r>
          </a:p>
          <a:p>
            <a:pPr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Why Do Companies Use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GitHub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?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Version Control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Code Backup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Team Collaboration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Project Management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Portfolio Building</a:t>
            </a:r>
          </a:p>
          <a:p>
            <a:pPr marL="514350" indent="-51435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Assignment Submission Through </a:t>
            </a:r>
            <a:r>
              <a:rPr lang="en-US" sz="3200" b="1" dirty="0" err="1" smtClean="0">
                <a:latin typeface="Times New Roman" pitchFamily="18" charset="0"/>
                <a:cs typeface="Times New Roman" pitchFamily="18" charset="0"/>
              </a:rPr>
              <a:t>GitHub</a:t>
            </a:r>
            <a:endParaRPr lang="en-US" sz="3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219200"/>
            <a:ext cx="8839200" cy="5410200"/>
          </a:xfrm>
        </p:spPr>
        <p:txBody>
          <a:bodyPr>
            <a:normAutofit fontScale="70000" lnSpcReduction="20000"/>
          </a:bodyPr>
          <a:lstStyle/>
          <a:p>
            <a:pPr marL="514350" indent="-514350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Step 1: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Create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GitHub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Account</a:t>
            </a: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Step 2: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Create Repository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Repository Name: StudentName_ML_Internship_2026</a:t>
            </a: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Step 3: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Organize Folder Structure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StudentName_ML_Internship_2026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├── Week1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│   ├── Exercise1.py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│   ├── Exercise2.py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├── Week2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├── Week3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└──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Final_Project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Step 4: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Upload Files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Upload Python files (.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py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 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Upload Google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Colab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notebooks (.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ipynb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 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Add comments in code / Use meaningful filenames</a:t>
            </a:r>
          </a:p>
          <a:p>
            <a:pPr marL="514350" indent="-514350"/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52400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b="1" dirty="0" smtClean="0">
                <a:latin typeface="Times New Roman" pitchFamily="18" charset="0"/>
                <a:cs typeface="Times New Roman" pitchFamily="18" charset="0"/>
              </a:rPr>
              <a:t>First Python Program </a:t>
            </a:r>
            <a:endParaRPr lang="en-US" sz="4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257800"/>
          </a:xfrm>
        </p:spPr>
        <p:txBody>
          <a:bodyPr>
            <a:norm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To print a welcome message using Google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colab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en-US" dirty="0" smtClean="0"/>
          </a:p>
          <a:p>
            <a:pPr>
              <a:buNone/>
            </a:pPr>
            <a:endParaRPr lang="en-US" dirty="0" smtClean="0"/>
          </a:p>
        </p:txBody>
      </p:sp>
      <p:pic>
        <p:nvPicPr>
          <p:cNvPr id="7" name="Picture 6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9600" y="2411232"/>
            <a:ext cx="8153400" cy="39133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381000"/>
            <a:ext cx="8229600" cy="4525963"/>
          </a:xfrm>
        </p:spPr>
        <p:txBody>
          <a:bodyPr/>
          <a:lstStyle/>
          <a:p>
            <a:pPr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Exercise:</a:t>
            </a:r>
          </a:p>
          <a:p>
            <a:pPr marL="514350" indent="-514350">
              <a:buAutoNum type="arabicPeriod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 your name on the screen.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2. Print: Your name, Your college name , Your city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3. Print any motivational quote.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>
                <a:latin typeface="Times New Roman" pitchFamily="18" charset="0"/>
                <a:cs typeface="Times New Roman" pitchFamily="18" charset="0"/>
              </a:rPr>
              <a:t>Points to Remember</a:t>
            </a:r>
            <a:endParaRPr lang="en-US" sz="4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To represent a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statement,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newline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is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used.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Use of semicolon is optional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Instead of curly braces { }, indentations are used to represent a block. 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>
                <a:latin typeface="Times New Roman" pitchFamily="18" charset="0"/>
                <a:cs typeface="Times New Roman" pitchFamily="18" charset="0"/>
              </a:rPr>
              <a:t>Keywords in Python</a:t>
            </a:r>
            <a:endParaRPr lang="en-US" sz="4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257800"/>
          </a:xfrm>
        </p:spPr>
        <p:txBody>
          <a:bodyPr>
            <a:no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Keywords are reserved words in Python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They have special meaning in the programming language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Keywords cannot be used as variable names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Python keywords are case-sensitive</a:t>
            </a:r>
          </a:p>
          <a:p>
            <a:pPr>
              <a:buNone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Common Python Keywords: </a:t>
            </a:r>
          </a:p>
          <a:p>
            <a:pPr>
              <a:buNone/>
            </a:pP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	</a:t>
            </a:r>
          </a:p>
          <a:p>
            <a:pPr>
              <a:buNone/>
            </a:pP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				 	 	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600" y="4495800"/>
          <a:ext cx="8229600" cy="18288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8700"/>
                <a:gridCol w="1028700"/>
                <a:gridCol w="1028700"/>
                <a:gridCol w="849796"/>
                <a:gridCol w="1073426"/>
                <a:gridCol w="983974"/>
                <a:gridCol w="1207604"/>
                <a:gridCol w="1028700"/>
              </a:tblGrid>
              <a:tr h="410777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If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else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elif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for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while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break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continue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return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70901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pass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True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False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None</a:t>
                      </a:r>
                    </a:p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and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or 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not</a:t>
                      </a:r>
                    </a:p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import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70901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from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class</a:t>
                      </a:r>
                    </a:p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def 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try 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except</a:t>
                      </a:r>
                    </a:p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finally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as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assert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Keywords help control program logic.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They are predefined by Python.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Using keywords incorrectly gives syntax errors</a:t>
            </a:r>
          </a:p>
          <a:p>
            <a:pPr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Exercise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Identify the keywords in the following program: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for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in range(5):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print(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>
                <a:latin typeface="Times New Roman" pitchFamily="18" charset="0"/>
                <a:cs typeface="Times New Roman" pitchFamily="18" charset="0"/>
              </a:rPr>
              <a:t>Identifiers in Python</a:t>
            </a:r>
            <a:endParaRPr lang="en-US" sz="4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257800"/>
          </a:xfrm>
        </p:spPr>
        <p:txBody>
          <a:bodyPr>
            <a:normAutofit fontScale="85000" lnSpcReduction="1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Identifiers are names given to variables, functions, classes, and objects.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They help identify program elements uniquely.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Identifiers are created by programmers</a:t>
            </a:r>
          </a:p>
          <a:p>
            <a:pPr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                           Rules for Identifiers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Must start with a letter or underscore (_)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Cannot start with a number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Cannot contain spaces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Special symbols are not allowed except underscore (_)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Keywords cannot be used as identifiers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Python identifiers are case-sensitive</a:t>
            </a:r>
          </a:p>
          <a:p>
            <a:pPr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5821363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Valid Identifiers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Name			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student_age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_marks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totalAmount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Invalid Identifiers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2name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student-age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class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total amount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5821363"/>
          </a:xfr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Always use meaningful names for better readability.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Follow naming conventions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Avoid very long or confusing identifiers</a:t>
            </a:r>
          </a:p>
          <a:p>
            <a:pPr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Exercise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Identify valid and invalid identifiers: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name1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1name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student_marks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my-name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>
                <a:latin typeface="Times New Roman" pitchFamily="18" charset="0"/>
                <a:cs typeface="Times New Roman" pitchFamily="18" charset="0"/>
              </a:rPr>
              <a:t>Python Statement</a:t>
            </a:r>
            <a:endParaRPr lang="en-US" sz="4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 fontScale="92500" lnSpcReduction="10000"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Instructions that a python interpreter can execute are called statements.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Statements form the basic building blocks of a Python program.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Each line of code in Python is generally considered a statement</a:t>
            </a:r>
          </a:p>
          <a:p>
            <a:pPr>
              <a:buNone/>
            </a:pPr>
            <a:r>
              <a:rPr lang="en-US" sz="2800" b="1" dirty="0" smtClean="0"/>
              <a:t>                           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Types of Python Statements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Assignment Statements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Conditional Statements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Looping Statements </a:t>
            </a:r>
          </a:p>
          <a:p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Input/Output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Statements </a:t>
            </a:r>
          </a:p>
          <a:p>
            <a:pPr>
              <a:buNone/>
            </a:pP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6248400"/>
          </a:xfrm>
        </p:spPr>
        <p:txBody>
          <a:bodyPr>
            <a:normAutofit/>
          </a:bodyPr>
          <a:lstStyle/>
          <a:p>
            <a:r>
              <a:rPr lang="en-US" sz="2600" b="1" dirty="0" smtClean="0">
                <a:latin typeface="Times New Roman" pitchFamily="18" charset="0"/>
                <a:cs typeface="Times New Roman" pitchFamily="18" charset="0"/>
              </a:rPr>
              <a:t>Assignment Statement 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- Used to assign values to variables.</a:t>
            </a:r>
          </a:p>
          <a:p>
            <a:pPr>
              <a:buNone/>
            </a:pP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    x = 10</a:t>
            </a:r>
          </a:p>
          <a:p>
            <a:pPr>
              <a:buNone/>
            </a:pP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    name = "</a:t>
            </a:r>
            <a:r>
              <a:rPr lang="en-US" sz="2600" dirty="0" err="1" smtClean="0">
                <a:latin typeface="Times New Roman" pitchFamily="18" charset="0"/>
                <a:cs typeface="Times New Roman" pitchFamily="18" charset="0"/>
              </a:rPr>
              <a:t>Rahul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“</a:t>
            </a:r>
          </a:p>
          <a:p>
            <a:r>
              <a:rPr lang="en-US" sz="2600" b="1" dirty="0" smtClean="0">
                <a:latin typeface="Times New Roman" pitchFamily="18" charset="0"/>
                <a:cs typeface="Times New Roman" pitchFamily="18" charset="0"/>
              </a:rPr>
              <a:t>Input and Output Statements 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- input() takes data from user, print() displays output.</a:t>
            </a:r>
          </a:p>
          <a:p>
            <a:pPr>
              <a:buNone/>
            </a:pP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    name = input("Enter your name: ")</a:t>
            </a:r>
          </a:p>
          <a:p>
            <a:pPr>
              <a:buNone/>
            </a:pP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    print(name)</a:t>
            </a:r>
          </a:p>
          <a:p>
            <a:r>
              <a:rPr lang="en-US" sz="2600" b="1" dirty="0" smtClean="0">
                <a:latin typeface="Times New Roman" pitchFamily="18" charset="0"/>
                <a:cs typeface="Times New Roman" pitchFamily="18" charset="0"/>
              </a:rPr>
              <a:t>Conditional Statement 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- Used for decision making</a:t>
            </a:r>
          </a:p>
          <a:p>
            <a:pPr>
              <a:buNone/>
            </a:pP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age = 20</a:t>
            </a:r>
          </a:p>
          <a:p>
            <a:pPr>
              <a:buNone/>
            </a:pP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if age &gt;= 18:</a:t>
            </a:r>
          </a:p>
          <a:p>
            <a:pPr>
              <a:buNone/>
            </a:pP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    print("Eligible")</a:t>
            </a:r>
            <a:endParaRPr lang="en-US" sz="26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5821363"/>
          </a:xfrm>
        </p:spPr>
        <p:txBody>
          <a:bodyPr/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Loop Statement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- Used to repeat instructions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for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in range(5):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print(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Multi-line Statement -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Backslash \ is used to continue statement in next line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   total = 10 + \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   20 + \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   30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   print(total)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533400"/>
            <a:ext cx="8229600" cy="4525963"/>
          </a:xfrm>
        </p:spPr>
        <p:txBody>
          <a:bodyPr/>
          <a:lstStyle/>
          <a:p>
            <a:pPr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Exercise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Identify the type of statements: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x = 5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print(x)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if x &gt; 0: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print("Positive")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>
                <a:latin typeface="Times New Roman" pitchFamily="18" charset="0"/>
                <a:cs typeface="Times New Roman" pitchFamily="18" charset="0"/>
              </a:rPr>
              <a:t>Python Indentation</a:t>
            </a:r>
            <a:endParaRPr lang="en-US" sz="4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Most of the programming languages like C, C++, Java uses braces { } to define a block of code.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Python uses indentation.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Indentation refers to the spaces provided at the beginning of a line of code.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 code block (body of function, loop) starts with indentation and ends with  the first un-indented line.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304800"/>
            <a:ext cx="8229600" cy="609600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Example 1.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age = 20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if age &gt;= 18: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print("Eligible to vote")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print("Program Ended")</a:t>
            </a:r>
          </a:p>
          <a:p>
            <a:pPr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Example 2.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age = 20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if age &gt;= 18: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print("Eligible")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Print(“program ended”)</a:t>
            </a:r>
          </a:p>
          <a:p>
            <a:pPr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381000"/>
            <a:ext cx="8229600" cy="6172200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Important Points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Python usually uses 4 spaces for indentation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Same block must have same indentation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Mixing spaces and tabs should be avoided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Indentation replaces curly braces { } used in other languages</a:t>
            </a:r>
          </a:p>
          <a:p>
            <a:pPr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Exercise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Identify the correctly indented program:</a:t>
            </a:r>
          </a:p>
          <a:p>
            <a:pPr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Program 1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if True:</a:t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print("Python")</a:t>
            </a:r>
          </a:p>
          <a:p>
            <a:pPr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Program 2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if True: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print("Python“)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>
                <a:latin typeface="Times New Roman" pitchFamily="18" charset="0"/>
                <a:cs typeface="Times New Roman" pitchFamily="18" charset="0"/>
              </a:rPr>
              <a:t>Python Comments</a:t>
            </a:r>
            <a:endParaRPr lang="en-US" sz="4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Comments are used to explain the code.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Comments are ignored by the Python interpreter.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They improve code readability and understanding.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Useful for documentation and debugging</a:t>
            </a:r>
          </a:p>
          <a:p>
            <a:pPr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               Types of Comments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Single-line Comments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Multi-line Comments</a:t>
            </a:r>
          </a:p>
          <a:p>
            <a:pPr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6019800"/>
          </a:xfrm>
        </p:spPr>
        <p:txBody>
          <a:bodyPr>
            <a:normAutofit lnSpcReduction="10000"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Single-line Comment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- Single-line comments start with #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 This is a single-line comment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print("Hello Python")</a:t>
            </a: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Multi-line comments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- Triple quotes (''' ''' or """ """) are used for multi-line comments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'''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This is a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multi-line comment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'''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("Python Programming")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>
                <a:latin typeface="Times New Roman" pitchFamily="18" charset="0"/>
                <a:cs typeface="Times New Roman" pitchFamily="18" charset="0"/>
              </a:rPr>
              <a:t>Python Variable</a:t>
            </a:r>
            <a:endParaRPr lang="en-US" sz="4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 variable is a named location used to store data in the memory.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Values stored in variables can be changed during program execution.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Python automatically determines the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datatype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of variables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>
                <a:latin typeface="Times New Roman" pitchFamily="18" charset="0"/>
                <a:cs typeface="Times New Roman" pitchFamily="18" charset="0"/>
              </a:rPr>
              <a:t>Declaring variables</a:t>
            </a:r>
            <a:endParaRPr lang="en-US" sz="4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 python, variables do not need declaration to reserve memory space.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variable declaration happens automatically when a value is assigned to a variable.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An assignment operator = is used to assign value to a variable.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Assigning values to a variable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85800" y="1447800"/>
            <a:ext cx="8229600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Variable Reassignment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33400" y="1524000"/>
            <a:ext cx="8229600" cy="441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Multiple Variable Assignment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1524000"/>
            <a:ext cx="8229600" cy="441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Assigning same value to multiple variables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1676400"/>
            <a:ext cx="8229600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5592763"/>
          </a:xfrm>
        </p:spPr>
        <p:txBody>
          <a:bodyPr/>
          <a:lstStyle/>
          <a:p>
            <a:pPr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Exercise</a:t>
            </a:r>
          </a:p>
          <a:p>
            <a:pPr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Create variables for: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Student name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Roll number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Course name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Marks</a:t>
            </a:r>
          </a:p>
          <a:p>
            <a:pPr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Constants in python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768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Constants are variables whose values should not change during program execution.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They are used to store fixed values.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Python does not have built-in constant support like some other languages.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By convention, constant names are written in CAPITAL LETTERS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For example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 PI = 3.14159</a:t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GRAVITY = 9.8</a:t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COLLEGE_NAME = "ABC College"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5592763"/>
          </a:xfrm>
        </p:spPr>
        <p:txBody>
          <a:bodyPr/>
          <a:lstStyle/>
          <a:p>
            <a:pPr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Why Use Constants?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Makes programs easy to understand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Improves code readability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Avoids accidental changes in important values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Makes maintenance easier</a:t>
            </a:r>
          </a:p>
          <a:p>
            <a:pPr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Naming Convention for Constants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Use uppercase letters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Use underscore (_) between words</a:t>
            </a:r>
          </a:p>
          <a:p>
            <a:pPr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457200"/>
            <a:ext cx="822960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745163"/>
          </a:xfrm>
        </p:spPr>
        <p:txBody>
          <a:bodyPr/>
          <a:lstStyle/>
          <a:p>
            <a:pPr algn="ctr"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 Exercise</a:t>
            </a:r>
          </a:p>
          <a:p>
            <a:pPr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  Create constants for: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Value of PI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College Name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Maximum Marks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Literals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Literals are fixed values directly written in a program.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They represent constant values assigned to variables.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Python supports different types of literals: Numeric Literals, String Literals, Boolean Literals, Special Literal, Collection Literals.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5821363"/>
          </a:xfrm>
        </p:spPr>
        <p:txBody>
          <a:bodyPr/>
          <a:lstStyle/>
          <a:p>
            <a:pPr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Numeric literals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x = 10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price = 99.5</a:t>
            </a:r>
          </a:p>
          <a:p>
            <a:pPr>
              <a:buNone/>
            </a:pPr>
            <a:r>
              <a:rPr lang="sv-SE" dirty="0" smtClean="0">
                <a:latin typeface="Times New Roman" pitchFamily="18" charset="0"/>
                <a:cs typeface="Times New Roman" pitchFamily="18" charset="0"/>
              </a:rPr>
              <a:t>10 → Integer Literal </a:t>
            </a:r>
          </a:p>
          <a:p>
            <a:pPr>
              <a:buNone/>
            </a:pPr>
            <a:r>
              <a:rPr lang="sv-SE" dirty="0" smtClean="0">
                <a:latin typeface="Times New Roman" pitchFamily="18" charset="0"/>
                <a:cs typeface="Times New Roman" pitchFamily="18" charset="0"/>
              </a:rPr>
              <a:t>99.5 → Float Literal</a:t>
            </a:r>
          </a:p>
          <a:p>
            <a:pPr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String Literals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Text values written inside quotes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name = "Python"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city = 'Delhi'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Boolean Literals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1752600"/>
            <a:ext cx="8229600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Special Literal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Python provides a special literal called None.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None represents the absence of a value.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It means: No data, Empty value, Null value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Example </a:t>
            </a:r>
          </a:p>
          <a:p>
            <a:pPr>
              <a:buNone/>
            </a:pP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student_name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= None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print(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student_name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Collection literals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257800"/>
          </a:xfrm>
        </p:spPr>
        <p:txBody>
          <a:bodyPr>
            <a:normAutofit lnSpcReduction="1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Collection literals are used to store multiple values together.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Types – list literal,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tuple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literal, set literal, dictionary literal</a:t>
            </a:r>
          </a:p>
          <a:p>
            <a:pPr marL="514350" indent="-514350">
              <a:buAutoNum type="arabicPeriod"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List Literal -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 list stores multiple items in a single variable. Lists are ordered and mutable. Written using square brackets [ ]</a:t>
            </a:r>
          </a:p>
          <a:p>
            <a:pPr marL="514350" indent="-51435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Example,</a:t>
            </a:r>
          </a:p>
          <a:p>
            <a:pPr marL="514350" indent="-51435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numbers = [10, 20, 30, 40]</a:t>
            </a:r>
          </a:p>
          <a:p>
            <a:pPr marL="514350" indent="-51435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print(numbers)</a:t>
            </a:r>
          </a:p>
          <a:p>
            <a:pPr marL="514350" indent="-514350"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60960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2.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Tuple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Literal -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tuple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stores multiple values.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Tuples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are ordered but immutable. Written using parentheses ( )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Example, 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colors = ("Red", "Blue", "Green")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print(colors)</a:t>
            </a:r>
          </a:p>
          <a:p>
            <a:pPr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3. Set Literal -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 set stores unique values. Duplicate values are automatically removed. Written using curly braces { }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numbers = {1, 2, 3, 3, 4}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print(numbers)</a:t>
            </a:r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5821363"/>
          </a:xfrm>
        </p:spPr>
        <p:txBody>
          <a:bodyPr/>
          <a:lstStyle/>
          <a:p>
            <a:pPr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4. Dictionary Literal -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Dictionary stores data in key-value pairs. Written using curly braces { }. Keys must be unique.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Example,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student = {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"name": "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Rahul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",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"age": 20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print(student)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745163"/>
          </a:xfrm>
        </p:spPr>
        <p:txBody>
          <a:bodyPr/>
          <a:lstStyle/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Exercise</a:t>
            </a:r>
          </a:p>
          <a:p>
            <a:pPr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Create: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 list of 5 subjects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tuple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of 3 colors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 set of numbers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 dictionary containing student details</a:t>
            </a:r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Data types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Data types specify the type of value stored in a variable.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Python automatically identifies the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datatype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Common data types in python include – integer, decimal, string,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boolean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list,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tuple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set, dictionary.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Integer (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) Data Type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1524000"/>
            <a:ext cx="82296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Float (float) Data Type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1295400"/>
            <a:ext cx="8229600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String (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str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) Data Type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1524000"/>
            <a:ext cx="8229600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Boolean (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bool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) Data Type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126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1447800"/>
            <a:ext cx="8229600" cy="44957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List Data Type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229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1524000"/>
            <a:ext cx="8229600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Dictionary Data Type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331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1371600"/>
            <a:ext cx="8229600" cy="43433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5592763"/>
          </a:xfrm>
        </p:spPr>
        <p:txBody>
          <a:bodyPr/>
          <a:lstStyle/>
          <a:p>
            <a:pPr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Exercise</a:t>
            </a:r>
          </a:p>
          <a:p>
            <a:pPr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Create variables for: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Integer value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Decimal value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String value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Boolean value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List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User Interaction in Python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User interaction allows users to provide input to a program.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Python uses the input() function for user interaction.</a:t>
            </a:r>
          </a:p>
          <a:p>
            <a:pPr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                                input() Function</a:t>
            </a:r>
          </a:p>
          <a:p>
            <a:pPr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Syntax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input("Message")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Displays a message to the user, Accepts input from keyboard and returns input as a string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609600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Example 1 — Simple User Input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name = input("Enter your name: ")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print("Hello", name)</a:t>
            </a:r>
          </a:p>
          <a:p>
            <a:pPr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Type Conversion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input() stores data as string by default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To perform mathematical operations: </a:t>
            </a:r>
          </a:p>
          <a:p>
            <a:pPr lvl="1"/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() converts to integer 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float() converts to decimal</a:t>
            </a:r>
          </a:p>
          <a:p>
            <a:pPr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Example 2 — Taking Numeric Input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age =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(input("Enter your age: "))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print("Your age is", age)</a:t>
            </a:r>
          </a:p>
          <a:p>
            <a:pPr>
              <a:buNone/>
            </a:pPr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5821363"/>
          </a:xfrm>
        </p:spPr>
        <p:txBody>
          <a:bodyPr/>
          <a:lstStyle/>
          <a:p>
            <a:pPr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Example 3 — Addition Using User Input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 =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(input("Enter first number: "))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 =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(input("Enter second number: "))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print("Sum =", a + b)</a:t>
            </a:r>
          </a:p>
          <a:p>
            <a:pPr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Exercise</a:t>
            </a:r>
          </a:p>
          <a:p>
            <a:pPr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Create a program that: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Takes student name as input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Takes marks as input for 5 subjects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Displays the result of the student.</a:t>
            </a:r>
          </a:p>
          <a:p>
            <a:pPr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Assignment 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Find area of rectangle.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Find simple interest.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Convert temperature from Celsius to Fahrenheit.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Calculate average of 3 numbers.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Find square and cube of a number.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Swap two numbers without third variable.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Create a Student Report Program that take student details using input(), Store marks in variables, Calculate total and percentage </a:t>
            </a:r>
            <a:r>
              <a:rPr lang="en-US" smtClean="0">
                <a:latin typeface="Times New Roman" pitchFamily="18" charset="0"/>
                <a:cs typeface="Times New Roman" pitchFamily="18" charset="0"/>
              </a:rPr>
              <a:t>, Use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comments, Use proper indentation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971800"/>
            <a:ext cx="8229600" cy="1143000"/>
          </a:xfrm>
        </p:spPr>
        <p:txBody>
          <a:bodyPr/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Thank you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3257</TotalTime>
  <Words>1931</Words>
  <Application>Microsoft Office PowerPoint</Application>
  <PresentationFormat>On-screen Show (4:3)</PresentationFormat>
  <Paragraphs>399</Paragraphs>
  <Slides>62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63" baseType="lpstr">
      <vt:lpstr>Office Theme</vt:lpstr>
      <vt:lpstr>6-Weeks Summer Internship on Machine Learning and Generative AI with Python</vt:lpstr>
      <vt:lpstr>Week 1: Python Foundations</vt:lpstr>
      <vt:lpstr>Contents</vt:lpstr>
      <vt:lpstr>Introduction to Python</vt:lpstr>
      <vt:lpstr>Reasons to choose Python</vt:lpstr>
      <vt:lpstr>Popular Python Libraries and Their Applications</vt:lpstr>
      <vt:lpstr>Why Python is Used in AI &amp; Machine Learning?</vt:lpstr>
      <vt:lpstr>Real-World Applications of Python in AI</vt:lpstr>
      <vt:lpstr>Python Installation  </vt:lpstr>
      <vt:lpstr>Using Google Colab</vt:lpstr>
      <vt:lpstr>Steps to Use Google Colab</vt:lpstr>
      <vt:lpstr>Introduction to GitHub</vt:lpstr>
      <vt:lpstr>Assignment Submission Through GitHub</vt:lpstr>
      <vt:lpstr>First Python Program </vt:lpstr>
      <vt:lpstr>Slide 15</vt:lpstr>
      <vt:lpstr>Points to Remember</vt:lpstr>
      <vt:lpstr>Keywords in Python</vt:lpstr>
      <vt:lpstr>Slide 18</vt:lpstr>
      <vt:lpstr>Identifiers in Python</vt:lpstr>
      <vt:lpstr>Slide 20</vt:lpstr>
      <vt:lpstr>Slide 21</vt:lpstr>
      <vt:lpstr>Python Statement</vt:lpstr>
      <vt:lpstr>Slide 23</vt:lpstr>
      <vt:lpstr>Slide 24</vt:lpstr>
      <vt:lpstr>Slide 25</vt:lpstr>
      <vt:lpstr>Python Indentation</vt:lpstr>
      <vt:lpstr>Slide 27</vt:lpstr>
      <vt:lpstr>Slide 28</vt:lpstr>
      <vt:lpstr>Python Comments</vt:lpstr>
      <vt:lpstr>Slide 30</vt:lpstr>
      <vt:lpstr>Python Variable</vt:lpstr>
      <vt:lpstr>Declaring variables</vt:lpstr>
      <vt:lpstr>Assigning values to a variable</vt:lpstr>
      <vt:lpstr>Variable Reassignment</vt:lpstr>
      <vt:lpstr>Multiple Variable Assignment</vt:lpstr>
      <vt:lpstr>Assigning same value to multiple variables</vt:lpstr>
      <vt:lpstr>Slide 37</vt:lpstr>
      <vt:lpstr>Constants in python</vt:lpstr>
      <vt:lpstr>Slide 39</vt:lpstr>
      <vt:lpstr>Slide 40</vt:lpstr>
      <vt:lpstr>Slide 41</vt:lpstr>
      <vt:lpstr>Literals</vt:lpstr>
      <vt:lpstr>Slide 43</vt:lpstr>
      <vt:lpstr>Boolean Literals</vt:lpstr>
      <vt:lpstr>Special Literal</vt:lpstr>
      <vt:lpstr>Collection literals</vt:lpstr>
      <vt:lpstr>Slide 47</vt:lpstr>
      <vt:lpstr>Slide 48</vt:lpstr>
      <vt:lpstr>Slide 49</vt:lpstr>
      <vt:lpstr>Data types</vt:lpstr>
      <vt:lpstr>Integer (int) Data Type</vt:lpstr>
      <vt:lpstr>Float (float) Data Type</vt:lpstr>
      <vt:lpstr>String (str) Data Type</vt:lpstr>
      <vt:lpstr>Boolean (bool) Data Type</vt:lpstr>
      <vt:lpstr>List Data Type</vt:lpstr>
      <vt:lpstr>Dictionary Data Type</vt:lpstr>
      <vt:lpstr>Slide 57</vt:lpstr>
      <vt:lpstr>User Interaction in Python</vt:lpstr>
      <vt:lpstr>Slide 59</vt:lpstr>
      <vt:lpstr>Slide 60</vt:lpstr>
      <vt:lpstr>Assignment </vt:lpstr>
      <vt:lpstr>Thank you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Fundamentals of Python Programming</dc:title>
  <dc:creator>Lenovo</dc:creator>
  <cp:lastModifiedBy>Windows User</cp:lastModifiedBy>
  <cp:revision>134</cp:revision>
  <dcterms:created xsi:type="dcterms:W3CDTF">2006-08-16T00:00:00Z</dcterms:created>
  <dcterms:modified xsi:type="dcterms:W3CDTF">2026-06-02T07:44:13Z</dcterms:modified>
</cp:coreProperties>
</file>