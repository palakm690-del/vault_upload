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68" r:id="rId4"/>
    <p:sldId id="269" r:id="rId5"/>
    <p:sldId id="270" r:id="rId6"/>
    <p:sldId id="271" r:id="rId7"/>
    <p:sldId id="261" r:id="rId8"/>
    <p:sldId id="260" r:id="rId9"/>
    <p:sldId id="267" r:id="rId10"/>
    <p:sldId id="272" r:id="rId11"/>
    <p:sldId id="273" r:id="rId12"/>
    <p:sldId id="274" r:id="rId13"/>
    <p:sldId id="258" r:id="rId14"/>
    <p:sldId id="259" r:id="rId15"/>
    <p:sldId id="262" r:id="rId16"/>
    <p:sldId id="263" r:id="rId17"/>
    <p:sldId id="264" r:id="rId18"/>
    <p:sldId id="265" r:id="rId19"/>
    <p:sldId id="275" r:id="rId20"/>
    <p:sldId id="276" r:id="rId21"/>
    <p:sldId id="277" r:id="rId22"/>
    <p:sldId id="278" r:id="rId23"/>
    <p:sldId id="279" r:id="rId24"/>
    <p:sldId id="281" r:id="rId25"/>
    <p:sldId id="282" r:id="rId26"/>
    <p:sldId id="283" r:id="rId27"/>
    <p:sldId id="284"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26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2FC41F-E127-4A5C-A2A0-5AA75CE044A3}" type="datetimeFigureOut">
              <a:rPr lang="en-US" smtClean="0"/>
              <a:pPr/>
              <a:t>6/29/2026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E4D7F3-8EB0-4C1D-BDDB-A9704281D833}" type="slidenum">
              <a:rPr lang="en-US" smtClean="0"/>
              <a:pPr/>
              <a:t>‹#›</a:t>
            </a:fld>
            <a:endParaRPr lang="en-US"/>
          </a:p>
        </p:txBody>
      </p:sp>
    </p:spTree>
    <p:extLst>
      <p:ext uri="{BB962C8B-B14F-4D97-AF65-F5344CB8AC3E}">
        <p14:creationId xmlns:p14="http://schemas.microsoft.com/office/powerpoint/2010/main" xmlns="" val="978994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15</a:t>
            </a:fld>
            <a:endParaRPr lang="en-US"/>
          </a:p>
        </p:txBody>
      </p:sp>
    </p:spTree>
    <p:extLst>
      <p:ext uri="{BB962C8B-B14F-4D97-AF65-F5344CB8AC3E}">
        <p14:creationId xmlns:p14="http://schemas.microsoft.com/office/powerpoint/2010/main" xmlns="" val="426644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E4D7F3-8EB0-4C1D-BDDB-A9704281D833}" type="slidenum">
              <a:rPr lang="en-US" smtClean="0"/>
              <a:pPr/>
              <a:t>47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061D37-F7C3-4A8E-B9CA-D4DF3E7FFAB5}"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41403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61D37-F7C3-4A8E-B9CA-D4DF3E7FFAB5}"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3579527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061D37-F7C3-4A8E-B9CA-D4DF3E7FFAB5}"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2447024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061D37-F7C3-4A8E-B9CA-D4DF3E7FFAB5}"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404567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061D37-F7C3-4A8E-B9CA-D4DF3E7FFAB5}" type="datetimeFigureOut">
              <a:rPr lang="en-US" smtClean="0"/>
              <a:pPr/>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169078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061D37-F7C3-4A8E-B9CA-D4DF3E7FFAB5}" type="datetimeFigureOut">
              <a:rPr lang="en-US" smtClean="0"/>
              <a:pPr/>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3466598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61D37-F7C3-4A8E-B9CA-D4DF3E7FFAB5}" type="datetimeFigureOut">
              <a:rPr lang="en-US" smtClean="0"/>
              <a:pPr/>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4037746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61D37-F7C3-4A8E-B9CA-D4DF3E7FFAB5}"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354122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61D37-F7C3-4A8E-B9CA-D4DF3E7FFAB5}"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3772500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61D37-F7C3-4A8E-B9CA-D4DF3E7FFAB5}"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88060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61D37-F7C3-4A8E-B9CA-D4DF3E7FFAB5}"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182685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61D37-F7C3-4A8E-B9CA-D4DF3E7FFAB5}" type="datetimeFigureOut">
              <a:rPr lang="en-US" smtClean="0"/>
              <a:pPr/>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D5342-87F8-4527-9F69-F1F8A85B64E8}" type="slidenum">
              <a:rPr lang="en-US" smtClean="0"/>
              <a:pPr/>
              <a:t>‹#›</a:t>
            </a:fld>
            <a:endParaRPr lang="en-US"/>
          </a:p>
        </p:txBody>
      </p:sp>
    </p:spTree>
    <p:extLst>
      <p:ext uri="{BB962C8B-B14F-4D97-AF65-F5344CB8AC3E}">
        <p14:creationId xmlns:p14="http://schemas.microsoft.com/office/powerpoint/2010/main" xmlns="" val="2834463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0"/>
            <a:ext cx="7772400" cy="1470025"/>
          </a:xfrm>
        </p:spPr>
        <p:style>
          <a:lnRef idx="2">
            <a:schemeClr val="dk1"/>
          </a:lnRef>
          <a:fillRef idx="1">
            <a:schemeClr val="lt1"/>
          </a:fillRef>
          <a:effectRef idx="0">
            <a:schemeClr val="dk1"/>
          </a:effectRef>
          <a:fontRef idx="minor">
            <a:schemeClr val="dk1"/>
          </a:fontRef>
        </p:style>
        <p:txBody>
          <a:bodyPr/>
          <a:lstStyle/>
          <a:p>
            <a:r>
              <a:rPr lang="en-US" b="1" dirty="0" smtClean="0">
                <a:latin typeface="Times New Roman" pitchFamily="18" charset="0"/>
                <a:cs typeface="Times New Roman" pitchFamily="18" charset="0"/>
              </a:rPr>
              <a:t>Feature Selection</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xmlns="" val="19846698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4000" b="1" dirty="0" smtClean="0">
                <a:latin typeface="Times New Roman" pitchFamily="18" charset="0"/>
                <a:cs typeface="Times New Roman" pitchFamily="18" charset="0"/>
              </a:rPr>
              <a:t>Feature Selection</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600" dirty="0" smtClean="0">
                <a:latin typeface="Times New Roman" pitchFamily="18" charset="0"/>
                <a:cs typeface="Times New Roman" pitchFamily="18" charset="0"/>
              </a:rPr>
              <a:t>It </a:t>
            </a:r>
            <a:r>
              <a:rPr lang="en-US" sz="2600" dirty="0">
                <a:latin typeface="Times New Roman" pitchFamily="18" charset="0"/>
                <a:cs typeface="Times New Roman" pitchFamily="18" charset="0"/>
              </a:rPr>
              <a:t> is the process of selecting a subset of relevant features for use in model </a:t>
            </a:r>
            <a:r>
              <a:rPr lang="en-US" sz="2600" dirty="0" smtClean="0">
                <a:latin typeface="Times New Roman" pitchFamily="18" charset="0"/>
                <a:cs typeface="Times New Roman" pitchFamily="18" charset="0"/>
              </a:rPr>
              <a:t>construction.</a:t>
            </a:r>
          </a:p>
          <a:p>
            <a:r>
              <a:rPr lang="en-US" sz="2600" dirty="0">
                <a:latin typeface="Times New Roman" pitchFamily="18" charset="0"/>
                <a:cs typeface="Times New Roman" pitchFamily="18" charset="0"/>
              </a:rPr>
              <a:t>It is also called variable selection or attribute selection</a:t>
            </a:r>
            <a:r>
              <a:rPr lang="en-US" sz="2600" dirty="0" smtClean="0">
                <a:latin typeface="Times New Roman" pitchFamily="18" charset="0"/>
                <a:cs typeface="Times New Roman" pitchFamily="18" charset="0"/>
              </a:rPr>
              <a:t>.</a:t>
            </a:r>
          </a:p>
          <a:p>
            <a:r>
              <a:rPr lang="en-US" sz="2600" dirty="0" smtClean="0">
                <a:latin typeface="Times New Roman" pitchFamily="18" charset="0"/>
                <a:cs typeface="Times New Roman" pitchFamily="18" charset="0"/>
              </a:rPr>
              <a:t>It reduces the complexity of model.</a:t>
            </a:r>
          </a:p>
          <a:p>
            <a:r>
              <a:rPr lang="en-US" sz="2600" dirty="0" smtClean="0">
                <a:latin typeface="Times New Roman" pitchFamily="18" charset="0"/>
                <a:cs typeface="Times New Roman" pitchFamily="18" charset="0"/>
              </a:rPr>
              <a:t>It either improve or maintain accuracy of model.</a:t>
            </a:r>
          </a:p>
          <a:p>
            <a:endParaRPr lang="en-US" sz="2600" dirty="0">
              <a:latin typeface="Times New Roman" pitchFamily="18" charset="0"/>
              <a:cs typeface="Times New Roman" pitchFamily="18" charset="0"/>
            </a:endParaRPr>
          </a:p>
        </p:txBody>
      </p:sp>
      <p:pic>
        <p:nvPicPr>
          <p:cNvPr id="4" name="object 9"/>
          <p:cNvPicPr/>
          <p:nvPr/>
        </p:nvPicPr>
        <p:blipFill>
          <a:blip r:embed="rId3" cstate="print"/>
          <a:stretch>
            <a:fillRect/>
          </a:stretch>
        </p:blipFill>
        <p:spPr>
          <a:xfrm>
            <a:off x="1371600" y="3962400"/>
            <a:ext cx="5727063" cy="2438399"/>
          </a:xfrm>
          <a:prstGeom prst="rect">
            <a:avLst/>
          </a:prstGeom>
        </p:spPr>
      </p:pic>
    </p:spTree>
    <p:extLst>
      <p:ext uri="{BB962C8B-B14F-4D97-AF65-F5344CB8AC3E}">
        <p14:creationId xmlns:p14="http://schemas.microsoft.com/office/powerpoint/2010/main" xmlns="" val="36163172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20" dirty="0" smtClean="0">
                <a:latin typeface="Times New Roman" pitchFamily="18" charset="0"/>
                <a:cs typeface="Times New Roman" pitchFamily="18" charset="0"/>
              </a:rPr>
              <a:t>Relevant</a:t>
            </a:r>
            <a:r>
              <a:rPr lang="en-US" b="1" spc="-340" dirty="0" smtClean="0">
                <a:latin typeface="Times New Roman" pitchFamily="18" charset="0"/>
                <a:cs typeface="Times New Roman" pitchFamily="18" charset="0"/>
              </a:rPr>
              <a:t> </a:t>
            </a:r>
            <a:r>
              <a:rPr lang="en-US" b="1" spc="-275" dirty="0" smtClean="0">
                <a:latin typeface="Times New Roman" pitchFamily="18" charset="0"/>
                <a:cs typeface="Times New Roman" pitchFamily="18" charset="0"/>
              </a:rPr>
              <a:t>vs.</a:t>
            </a:r>
            <a:r>
              <a:rPr lang="en-US" b="1" spc="-335" dirty="0" smtClean="0">
                <a:latin typeface="Times New Roman" pitchFamily="18" charset="0"/>
                <a:cs typeface="Times New Roman" pitchFamily="18" charset="0"/>
              </a:rPr>
              <a:t> </a:t>
            </a:r>
            <a:r>
              <a:rPr lang="en-US" b="1" spc="-220" dirty="0" smtClean="0">
                <a:latin typeface="Times New Roman" pitchFamily="18" charset="0"/>
                <a:cs typeface="Times New Roman" pitchFamily="18" charset="0"/>
              </a:rPr>
              <a:t>Redundant</a:t>
            </a:r>
            <a:r>
              <a:rPr lang="en-US" b="1" spc="-335" dirty="0" smtClean="0">
                <a:latin typeface="Times New Roman" pitchFamily="18" charset="0"/>
                <a:cs typeface="Times New Roman" pitchFamily="18" charset="0"/>
              </a:rPr>
              <a:t> </a:t>
            </a:r>
            <a:r>
              <a:rPr lang="en-US" b="1" spc="-200" dirty="0" smtClean="0">
                <a:latin typeface="Times New Roman" pitchFamily="18" charset="0"/>
                <a:cs typeface="Times New Roman" pitchFamily="18" charset="0"/>
              </a:rPr>
              <a:t>features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400" spc="-30" dirty="0" smtClean="0">
                <a:latin typeface="Times New Roman" pitchFamily="18" charset="0"/>
                <a:cs typeface="Times New Roman" pitchFamily="18" charset="0"/>
              </a:rPr>
              <a:t>Feature</a:t>
            </a:r>
            <a:r>
              <a:rPr lang="en-US" sz="2400" spc="-4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selection</a:t>
            </a:r>
            <a:r>
              <a:rPr lang="en-US" sz="2400" spc="-4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keeps</a:t>
            </a:r>
            <a:r>
              <a:rPr lang="en-US" sz="2400" spc="-40" dirty="0" smtClean="0">
                <a:latin typeface="Times New Roman" pitchFamily="18" charset="0"/>
                <a:cs typeface="Times New Roman" pitchFamily="18" charset="0"/>
              </a:rPr>
              <a:t> </a:t>
            </a:r>
            <a:r>
              <a:rPr lang="en-US" sz="2400" spc="-75" dirty="0" smtClean="0">
                <a:latin typeface="Times New Roman" pitchFamily="18" charset="0"/>
                <a:cs typeface="Times New Roman" pitchFamily="18" charset="0"/>
              </a:rPr>
              <a:t>relevant</a:t>
            </a:r>
            <a:r>
              <a:rPr lang="en-US" sz="2400" spc="-4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 </a:t>
            </a:r>
            <a:r>
              <a:rPr lang="en-US" sz="2400" spc="-65" dirty="0" smtClean="0">
                <a:latin typeface="Times New Roman" pitchFamily="18" charset="0"/>
                <a:cs typeface="Times New Roman" pitchFamily="18" charset="0"/>
              </a:rPr>
              <a:t>for</a:t>
            </a:r>
            <a:r>
              <a:rPr lang="en-US" sz="2400" spc="-4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learning</a:t>
            </a:r>
            <a:r>
              <a:rPr lang="en-US" sz="2400" spc="-4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a:t>
            </a:r>
            <a:r>
              <a:rPr lang="en-US" sz="2400" spc="-4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removes</a:t>
            </a:r>
            <a:r>
              <a:rPr lang="en-US" sz="2400" spc="-4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redundant </a:t>
            </a:r>
            <a:r>
              <a:rPr lang="en-US" sz="2400" dirty="0" smtClean="0">
                <a:latin typeface="Times New Roman" pitchFamily="18" charset="0"/>
                <a:cs typeface="Times New Roman" pitchFamily="18" charset="0"/>
              </a:rPr>
              <a:t>and</a:t>
            </a:r>
            <a:r>
              <a:rPr lang="en-US" sz="2400" spc="-20"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irrelevant</a:t>
            </a:r>
            <a:r>
              <a:rPr lang="en-US" sz="2400" spc="-2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features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For</a:t>
            </a:r>
            <a:r>
              <a:rPr lang="en-US" sz="2400" spc="-60" dirty="0" smtClean="0">
                <a:latin typeface="Times New Roman" pitchFamily="18" charset="0"/>
                <a:cs typeface="Times New Roman" pitchFamily="18" charset="0"/>
              </a:rPr>
              <a:t> </a:t>
            </a:r>
            <a:r>
              <a:rPr lang="en-US" sz="2400" spc="-30" dirty="0" smtClean="0">
                <a:latin typeface="Times New Roman" pitchFamily="18" charset="0"/>
                <a:cs typeface="Times New Roman" pitchFamily="18" charset="0"/>
              </a:rPr>
              <a:t>example,</a:t>
            </a:r>
            <a:r>
              <a:rPr lang="en-US" sz="2400" spc="-55"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for</a:t>
            </a:r>
            <a:r>
              <a:rPr lang="en-US" sz="2400" spc="-5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a:t>
            </a:r>
            <a:r>
              <a:rPr lang="en-US" sz="2400" spc="-5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binary</a:t>
            </a:r>
            <a:r>
              <a:rPr lang="en-US" sz="2400" spc="-6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classification</a:t>
            </a:r>
            <a:r>
              <a:rPr lang="en-US" sz="2400" spc="-5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task</a:t>
            </a:r>
            <a:r>
              <a:rPr lang="en-US" sz="2400" spc="-55" dirty="0" smtClean="0">
                <a:latin typeface="Times New Roman" pitchFamily="18" charset="0"/>
                <a:cs typeface="Times New Roman" pitchFamily="18" charset="0"/>
              </a:rPr>
              <a:t> </a:t>
            </a:r>
            <a:r>
              <a:rPr lang="en-US" sz="2400" spc="-140" dirty="0" smtClean="0">
                <a:latin typeface="Times New Roman" pitchFamily="18" charset="0"/>
                <a:cs typeface="Times New Roman" pitchFamily="18" charset="0"/>
              </a:rPr>
              <a:t>(f1</a:t>
            </a:r>
            <a:r>
              <a:rPr lang="en-US" sz="2400" spc="-5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60" dirty="0" smtClean="0">
                <a:latin typeface="Times New Roman" pitchFamily="18" charset="0"/>
                <a:cs typeface="Times New Roman" pitchFamily="18" charset="0"/>
              </a:rPr>
              <a:t> </a:t>
            </a:r>
            <a:r>
              <a:rPr lang="en-US" sz="2400" spc="-95" dirty="0" smtClean="0">
                <a:latin typeface="Times New Roman" pitchFamily="18" charset="0"/>
                <a:cs typeface="Times New Roman" pitchFamily="18" charset="0"/>
              </a:rPr>
              <a:t>relevant;</a:t>
            </a:r>
            <a:r>
              <a:rPr lang="en-US" sz="2400" spc="-5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f2</a:t>
            </a:r>
            <a:r>
              <a:rPr lang="en-US" sz="2400" spc="-5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5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redundant </a:t>
            </a:r>
            <a:r>
              <a:rPr lang="en-US" sz="2400" dirty="0" smtClean="0">
                <a:latin typeface="Times New Roman" pitchFamily="18" charset="0"/>
                <a:cs typeface="Times New Roman" pitchFamily="18" charset="0"/>
              </a:rPr>
              <a:t>given</a:t>
            </a:r>
            <a:r>
              <a:rPr lang="en-US" sz="2400" spc="-75" dirty="0" smtClean="0">
                <a:latin typeface="Times New Roman" pitchFamily="18" charset="0"/>
                <a:cs typeface="Times New Roman" pitchFamily="18" charset="0"/>
              </a:rPr>
              <a:t> </a:t>
            </a:r>
            <a:r>
              <a:rPr lang="en-US" sz="2400" spc="-110" dirty="0" smtClean="0">
                <a:latin typeface="Times New Roman" pitchFamily="18" charset="0"/>
                <a:cs typeface="Times New Roman" pitchFamily="18" charset="0"/>
              </a:rPr>
              <a:t>f1;</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f3</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7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irrelevant)</a:t>
            </a:r>
          </a:p>
          <a:p>
            <a:endParaRPr lang="en-US" sz="2400" dirty="0" smtClean="0">
              <a:latin typeface="Times New Roman" pitchFamily="18" charset="0"/>
              <a:cs typeface="Times New Roman" pitchFamily="18" charset="0"/>
            </a:endParaRPr>
          </a:p>
          <a:p>
            <a:endParaRPr lang="en-US" dirty="0"/>
          </a:p>
        </p:txBody>
      </p:sp>
      <p:pic>
        <p:nvPicPr>
          <p:cNvPr id="4" name="object 7"/>
          <p:cNvPicPr/>
          <p:nvPr/>
        </p:nvPicPr>
        <p:blipFill>
          <a:blip r:embed="rId3" cstate="print"/>
          <a:stretch>
            <a:fillRect/>
          </a:stretch>
        </p:blipFill>
        <p:spPr>
          <a:xfrm>
            <a:off x="152401" y="3505201"/>
            <a:ext cx="8762999" cy="2895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pc="-254" dirty="0" smtClean="0">
                <a:latin typeface="Times New Roman" pitchFamily="18" charset="0"/>
                <a:cs typeface="Times New Roman" pitchFamily="18" charset="0"/>
              </a:rPr>
              <a:t>Feature</a:t>
            </a:r>
            <a:r>
              <a:rPr lang="en-US" b="1" spc="-345" dirty="0" smtClean="0">
                <a:latin typeface="Times New Roman" pitchFamily="18" charset="0"/>
                <a:cs typeface="Times New Roman" pitchFamily="18" charset="0"/>
              </a:rPr>
              <a:t> </a:t>
            </a:r>
            <a:r>
              <a:rPr lang="en-US" b="1" spc="-204" dirty="0" smtClean="0">
                <a:latin typeface="Times New Roman" pitchFamily="18" charset="0"/>
                <a:cs typeface="Times New Roman" pitchFamily="18" charset="0"/>
              </a:rPr>
              <a:t>Extraction</a:t>
            </a:r>
            <a:r>
              <a:rPr lang="en-US" b="1" spc="-345" dirty="0" smtClean="0">
                <a:latin typeface="Times New Roman" pitchFamily="18" charset="0"/>
                <a:cs typeface="Times New Roman" pitchFamily="18" charset="0"/>
              </a:rPr>
              <a:t> </a:t>
            </a:r>
            <a:r>
              <a:rPr lang="en-US" b="1" spc="-275" dirty="0" smtClean="0">
                <a:latin typeface="Times New Roman" pitchFamily="18" charset="0"/>
                <a:cs typeface="Times New Roman" pitchFamily="18" charset="0"/>
              </a:rPr>
              <a:t>vs.</a:t>
            </a:r>
            <a:r>
              <a:rPr lang="en-US" b="1" spc="-345" dirty="0" smtClean="0">
                <a:latin typeface="Times New Roman" pitchFamily="18" charset="0"/>
                <a:cs typeface="Times New Roman" pitchFamily="18" charset="0"/>
              </a:rPr>
              <a:t> </a:t>
            </a:r>
            <a:r>
              <a:rPr lang="en-US" b="1" spc="-254" dirty="0" smtClean="0">
                <a:latin typeface="Times New Roman" pitchFamily="18" charset="0"/>
                <a:cs typeface="Times New Roman" pitchFamily="18" charset="0"/>
              </a:rPr>
              <a:t>Feature</a:t>
            </a:r>
            <a:r>
              <a:rPr lang="en-US" b="1" spc="-345" dirty="0" smtClean="0">
                <a:latin typeface="Times New Roman" pitchFamily="18" charset="0"/>
                <a:cs typeface="Times New Roman" pitchFamily="18" charset="0"/>
              </a:rPr>
              <a:t> </a:t>
            </a:r>
            <a:r>
              <a:rPr lang="en-US" b="1" spc="-105" dirty="0" smtClean="0">
                <a:latin typeface="Times New Roman" pitchFamily="18" charset="0"/>
                <a:cs typeface="Times New Roman" pitchFamily="18" charset="0"/>
              </a:rPr>
              <a:t>Selection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b="1" spc="-10" dirty="0" smtClean="0">
                <a:latin typeface="Times New Roman" pitchFamily="18" charset="0"/>
                <a:cs typeface="Times New Roman" pitchFamily="18" charset="0"/>
              </a:rPr>
              <a:t>Commonalities</a:t>
            </a:r>
            <a:endParaRPr lang="en-US" b="1" dirty="0" smtClean="0">
              <a:latin typeface="Times New Roman" pitchFamily="18" charset="0"/>
              <a:cs typeface="Times New Roman" pitchFamily="18" charset="0"/>
            </a:endParaRPr>
          </a:p>
          <a:p>
            <a:pPr marL="249554" indent="-236854">
              <a:lnSpc>
                <a:spcPct val="100000"/>
              </a:lnSpc>
              <a:spcBef>
                <a:spcPts val="100"/>
              </a:spcBef>
              <a:buChar char="–"/>
              <a:tabLst>
                <a:tab pos="249554" algn="l"/>
              </a:tabLst>
            </a:pPr>
            <a:r>
              <a:rPr lang="en-US" spc="100" dirty="0" smtClean="0">
                <a:latin typeface="Times New Roman" pitchFamily="18" charset="0"/>
                <a:cs typeface="Times New Roman" pitchFamily="18" charset="0"/>
              </a:rPr>
              <a:t>Speed</a:t>
            </a:r>
            <a:r>
              <a:rPr lang="en-US" spc="-85"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up</a:t>
            </a:r>
            <a:r>
              <a:rPr lang="en-US" spc="-85"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85" dirty="0" smtClean="0">
                <a:latin typeface="Times New Roman" pitchFamily="18" charset="0"/>
                <a:cs typeface="Times New Roman" pitchFamily="18" charset="0"/>
              </a:rPr>
              <a:t> </a:t>
            </a:r>
            <a:r>
              <a:rPr lang="en-US" spc="-25" dirty="0" smtClean="0">
                <a:latin typeface="Times New Roman" pitchFamily="18" charset="0"/>
                <a:cs typeface="Times New Roman" pitchFamily="18" charset="0"/>
              </a:rPr>
              <a:t>learning</a:t>
            </a:r>
            <a:r>
              <a:rPr lang="en-US" spc="-85" dirty="0" smtClean="0">
                <a:latin typeface="Times New Roman" pitchFamily="18" charset="0"/>
                <a:cs typeface="Times New Roman" pitchFamily="18" charset="0"/>
              </a:rPr>
              <a:t> </a:t>
            </a:r>
            <a:r>
              <a:rPr lang="en-US" spc="55" dirty="0" smtClean="0">
                <a:latin typeface="Times New Roman" pitchFamily="18" charset="0"/>
                <a:cs typeface="Times New Roman" pitchFamily="18" charset="0"/>
              </a:rPr>
              <a:t>process</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spc="65" dirty="0" smtClean="0">
                <a:latin typeface="Times New Roman" pitchFamily="18" charset="0"/>
                <a:cs typeface="Times New Roman" pitchFamily="18" charset="0"/>
              </a:rPr>
              <a:t>Reduce</a:t>
            </a:r>
            <a:r>
              <a:rPr lang="en-US" spc="-30"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3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storage</a:t>
            </a:r>
            <a:r>
              <a:rPr lang="en-US" spc="-2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requirements</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dirty="0" smtClean="0">
                <a:latin typeface="Times New Roman" pitchFamily="18" charset="0"/>
                <a:cs typeface="Times New Roman" pitchFamily="18" charset="0"/>
              </a:rPr>
              <a:t>Improve</a:t>
            </a:r>
            <a:r>
              <a:rPr lang="en-US" spc="-110"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105" dirty="0" smtClean="0">
                <a:latin typeface="Times New Roman" pitchFamily="18" charset="0"/>
                <a:cs typeface="Times New Roman" pitchFamily="18" charset="0"/>
              </a:rPr>
              <a:t> </a:t>
            </a:r>
            <a:r>
              <a:rPr lang="en-US" spc="-25" dirty="0" smtClean="0">
                <a:latin typeface="Times New Roman" pitchFamily="18" charset="0"/>
                <a:cs typeface="Times New Roman" pitchFamily="18" charset="0"/>
              </a:rPr>
              <a:t>learning</a:t>
            </a:r>
            <a:r>
              <a:rPr lang="en-US" spc="-10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performance</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dirty="0" smtClean="0">
                <a:latin typeface="Times New Roman" pitchFamily="18" charset="0"/>
                <a:cs typeface="Times New Roman" pitchFamily="18" charset="0"/>
              </a:rPr>
              <a:t>Build</a:t>
            </a:r>
            <a:r>
              <a:rPr lang="en-US" spc="-8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more</a:t>
            </a:r>
            <a:r>
              <a:rPr lang="en-US" spc="-75" dirty="0" smtClean="0">
                <a:latin typeface="Times New Roman" pitchFamily="18" charset="0"/>
                <a:cs typeface="Times New Roman" pitchFamily="18" charset="0"/>
              </a:rPr>
              <a:t> </a:t>
            </a:r>
            <a:r>
              <a:rPr lang="en-US" spc="-20" dirty="0" smtClean="0">
                <a:latin typeface="Times New Roman" pitchFamily="18" charset="0"/>
                <a:cs typeface="Times New Roman" pitchFamily="18" charset="0"/>
              </a:rPr>
              <a:t>generalized</a:t>
            </a:r>
            <a:r>
              <a:rPr lang="en-US" spc="-7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models</a:t>
            </a:r>
            <a:endParaRPr lang="en-US" dirty="0" smtClean="0">
              <a:latin typeface="Times New Roman" pitchFamily="18" charset="0"/>
              <a:cs typeface="Times New Roman" pitchFamily="18" charset="0"/>
            </a:endParaRPr>
          </a:p>
          <a:p>
            <a:r>
              <a:rPr lang="en-US" b="1" spc="-25" dirty="0" smtClean="0">
                <a:latin typeface="Times New Roman" pitchFamily="18" charset="0"/>
                <a:cs typeface="Times New Roman" pitchFamily="18" charset="0"/>
              </a:rPr>
              <a:t>Differences</a:t>
            </a:r>
            <a:endParaRPr lang="en-US" b="1" dirty="0" smtClean="0">
              <a:latin typeface="Times New Roman" pitchFamily="18" charset="0"/>
              <a:cs typeface="Times New Roman" pitchFamily="18" charset="0"/>
            </a:endParaRPr>
          </a:p>
          <a:p>
            <a:pPr marL="12700" marR="5080" indent="236854">
              <a:lnSpc>
                <a:spcPct val="100699"/>
              </a:lnSpc>
              <a:spcBef>
                <a:spcPts val="80"/>
              </a:spcBef>
              <a:buChar char="–"/>
              <a:tabLst>
                <a:tab pos="249554" algn="l"/>
              </a:tabLst>
            </a:pPr>
            <a:r>
              <a:rPr lang="en-US" spc="-30" dirty="0" smtClean="0">
                <a:latin typeface="Times New Roman" pitchFamily="18" charset="0"/>
                <a:cs typeface="Times New Roman" pitchFamily="18" charset="0"/>
              </a:rPr>
              <a:t>Feature</a:t>
            </a:r>
            <a:r>
              <a:rPr lang="en-US" spc="-80" dirty="0" smtClean="0">
                <a:latin typeface="Times New Roman" pitchFamily="18" charset="0"/>
                <a:cs typeface="Times New Roman" pitchFamily="18" charset="0"/>
              </a:rPr>
              <a:t> </a:t>
            </a:r>
            <a:r>
              <a:rPr lang="en-US" spc="-40" dirty="0" smtClean="0">
                <a:latin typeface="Times New Roman" pitchFamily="18" charset="0"/>
                <a:cs typeface="Times New Roman" pitchFamily="18" charset="0"/>
              </a:rPr>
              <a:t>extraction</a:t>
            </a:r>
            <a:r>
              <a:rPr lang="en-US" spc="-8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obtains</a:t>
            </a:r>
            <a:r>
              <a:rPr lang="en-US" spc="-8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new</a:t>
            </a:r>
            <a:r>
              <a:rPr lang="en-US" spc="-80" dirty="0" smtClean="0">
                <a:latin typeface="Times New Roman" pitchFamily="18" charset="0"/>
                <a:cs typeface="Times New Roman" pitchFamily="18" charset="0"/>
              </a:rPr>
              <a:t> </a:t>
            </a:r>
            <a:r>
              <a:rPr lang="en-US" spc="-40" dirty="0" smtClean="0">
                <a:latin typeface="Times New Roman" pitchFamily="18" charset="0"/>
                <a:cs typeface="Times New Roman" pitchFamily="18" charset="0"/>
              </a:rPr>
              <a:t>features</a:t>
            </a:r>
            <a:r>
              <a:rPr lang="en-US" spc="-80" dirty="0" smtClean="0">
                <a:latin typeface="Times New Roman" pitchFamily="18" charset="0"/>
                <a:cs typeface="Times New Roman" pitchFamily="18" charset="0"/>
              </a:rPr>
              <a:t> </a:t>
            </a:r>
            <a:r>
              <a:rPr lang="en-US" spc="-65" dirty="0" smtClean="0">
                <a:latin typeface="Times New Roman" pitchFamily="18" charset="0"/>
                <a:cs typeface="Times New Roman" pitchFamily="18" charset="0"/>
              </a:rPr>
              <a:t>while</a:t>
            </a:r>
            <a:r>
              <a:rPr lang="en-US" spc="-80" dirty="0" smtClean="0">
                <a:latin typeface="Times New Roman" pitchFamily="18" charset="0"/>
                <a:cs typeface="Times New Roman" pitchFamily="18" charset="0"/>
              </a:rPr>
              <a:t> </a:t>
            </a:r>
            <a:r>
              <a:rPr lang="en-US" spc="-85" dirty="0" smtClean="0">
                <a:latin typeface="Times New Roman" pitchFamily="18" charset="0"/>
                <a:cs typeface="Times New Roman" pitchFamily="18" charset="0"/>
              </a:rPr>
              <a:t>feature</a:t>
            </a:r>
            <a:r>
              <a:rPr lang="en-US" spc="-8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selection</a:t>
            </a:r>
            <a:r>
              <a:rPr lang="en-US" spc="-8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selects</a:t>
            </a:r>
            <a:r>
              <a:rPr lang="en-US" spc="-80"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a </a:t>
            </a:r>
            <a:r>
              <a:rPr lang="en-US" dirty="0" smtClean="0">
                <a:latin typeface="Times New Roman" pitchFamily="18" charset="0"/>
                <a:cs typeface="Times New Roman" pitchFamily="18" charset="0"/>
              </a:rPr>
              <a:t>subset</a:t>
            </a:r>
            <a:r>
              <a:rPr lang="en-US" spc="-1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a:t>
            </a:r>
            <a:r>
              <a:rPr lang="en-US" spc="-10" dirty="0" smtClean="0">
                <a:latin typeface="Times New Roman" pitchFamily="18" charset="0"/>
                <a:cs typeface="Times New Roman" pitchFamily="18" charset="0"/>
              </a:rPr>
              <a:t> </a:t>
            </a:r>
            <a:r>
              <a:rPr lang="en-US" spc="-35" dirty="0" smtClean="0">
                <a:latin typeface="Times New Roman" pitchFamily="18" charset="0"/>
                <a:cs typeface="Times New Roman" pitchFamily="18" charset="0"/>
              </a:rPr>
              <a:t>original</a:t>
            </a:r>
            <a:r>
              <a:rPr lang="en-US" spc="-15"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ones</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spc="-30" dirty="0" smtClean="0">
                <a:latin typeface="Times New Roman" pitchFamily="18" charset="0"/>
                <a:cs typeface="Times New Roman" pitchFamily="18" charset="0"/>
              </a:rPr>
              <a:t>Feature</a:t>
            </a:r>
            <a:r>
              <a:rPr lang="en-US" spc="3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selection</a:t>
            </a:r>
            <a:r>
              <a:rPr lang="en-US" spc="35" dirty="0" smtClean="0">
                <a:latin typeface="Times New Roman" pitchFamily="18" charset="0"/>
                <a:cs typeface="Times New Roman" pitchFamily="18" charset="0"/>
              </a:rPr>
              <a:t> </a:t>
            </a:r>
            <a:r>
              <a:rPr lang="en-US" spc="-20" dirty="0" smtClean="0">
                <a:latin typeface="Times New Roman" pitchFamily="18" charset="0"/>
                <a:cs typeface="Times New Roman" pitchFamily="18" charset="0"/>
              </a:rPr>
              <a:t>maintains</a:t>
            </a:r>
            <a:r>
              <a:rPr lang="en-US" spc="3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physical</a:t>
            </a:r>
            <a:r>
              <a:rPr lang="en-US" spc="3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meanings</a:t>
            </a:r>
            <a:r>
              <a:rPr lang="en-US" spc="3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a:t>
            </a:r>
            <a:r>
              <a:rPr lang="en-US" spc="3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gives</a:t>
            </a:r>
            <a:r>
              <a:rPr lang="en-US" spc="3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models</a:t>
            </a:r>
            <a:r>
              <a:rPr lang="en-US" spc="3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better </a:t>
            </a:r>
            <a:r>
              <a:rPr lang="en-US" dirty="0" smtClean="0">
                <a:latin typeface="Times New Roman" pitchFamily="18" charset="0"/>
                <a:cs typeface="Times New Roman" pitchFamily="18" charset="0"/>
              </a:rPr>
              <a:t>readability</a:t>
            </a:r>
            <a:r>
              <a:rPr lang="en-US" spc="-2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a:t>
            </a:r>
            <a:r>
              <a:rPr lang="en-US" spc="-8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interpretability</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pc="-290" dirty="0" smtClean="0">
                <a:latin typeface="Times New Roman" pitchFamily="18" charset="0"/>
                <a:cs typeface="Times New Roman" pitchFamily="18" charset="0"/>
              </a:rPr>
              <a:t>Interpretability</a:t>
            </a:r>
            <a:r>
              <a:rPr lang="en-US" b="1" spc="-330" dirty="0" smtClean="0">
                <a:latin typeface="Times New Roman" pitchFamily="18" charset="0"/>
                <a:cs typeface="Times New Roman" pitchFamily="18" charset="0"/>
              </a:rPr>
              <a:t> </a:t>
            </a:r>
            <a:r>
              <a:rPr lang="en-US" b="1" spc="-150" dirty="0" smtClean="0">
                <a:latin typeface="Times New Roman" pitchFamily="18" charset="0"/>
                <a:cs typeface="Times New Roman" pitchFamily="18" charset="0"/>
              </a:rPr>
              <a:t>of</a:t>
            </a:r>
            <a:r>
              <a:rPr lang="en-US" b="1" spc="-325" dirty="0" smtClean="0">
                <a:latin typeface="Times New Roman" pitchFamily="18" charset="0"/>
                <a:cs typeface="Times New Roman" pitchFamily="18" charset="0"/>
              </a:rPr>
              <a:t> </a:t>
            </a:r>
            <a:r>
              <a:rPr lang="en-US" b="1" spc="-175" dirty="0" smtClean="0">
                <a:latin typeface="Times New Roman" pitchFamily="18" charset="0"/>
                <a:cs typeface="Times New Roman" pitchFamily="18" charset="0"/>
              </a:rPr>
              <a:t>Learning </a:t>
            </a:r>
            <a:r>
              <a:rPr lang="en-US" b="1" spc="-125" dirty="0" smtClean="0">
                <a:latin typeface="Times New Roman" pitchFamily="18" charset="0"/>
                <a:cs typeface="Times New Roman" pitchFamily="18" charset="0"/>
              </a:rPr>
              <a:t>Algorithms</a:t>
            </a:r>
            <a:endParaRPr lang="en-US" b="1" dirty="0">
              <a:latin typeface="Times New Roman" pitchFamily="18" charset="0"/>
              <a:cs typeface="Times New Roman" pitchFamily="18" charset="0"/>
            </a:endParaRPr>
          </a:p>
        </p:txBody>
      </p:sp>
      <p:pic>
        <p:nvPicPr>
          <p:cNvPr id="4" name="object 3"/>
          <p:cNvPicPr>
            <a:picLocks noGrp="1"/>
          </p:cNvPicPr>
          <p:nvPr>
            <p:ph idx="1"/>
          </p:nvPr>
        </p:nvPicPr>
        <p:blipFill>
          <a:blip r:embed="rId3" cstate="print"/>
          <a:stretch>
            <a:fillRect/>
          </a:stretch>
        </p:blipFill>
        <p:spPr>
          <a:xfrm>
            <a:off x="457200" y="1524000"/>
            <a:ext cx="8229600" cy="472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85" dirty="0" smtClean="0">
                <a:latin typeface="Times New Roman" pitchFamily="18" charset="0"/>
                <a:cs typeface="Times New Roman" pitchFamily="18" charset="0"/>
              </a:rPr>
              <a:t>When</a:t>
            </a:r>
            <a:r>
              <a:rPr lang="en-US" b="1" spc="-350" dirty="0" smtClean="0">
                <a:latin typeface="Times New Roman" pitchFamily="18" charset="0"/>
                <a:cs typeface="Times New Roman" pitchFamily="18" charset="0"/>
              </a:rPr>
              <a:t> </a:t>
            </a:r>
            <a:r>
              <a:rPr lang="en-US" b="1" spc="-280" dirty="0" smtClean="0">
                <a:latin typeface="Times New Roman" pitchFamily="18" charset="0"/>
                <a:cs typeface="Times New Roman" pitchFamily="18" charset="0"/>
              </a:rPr>
              <a:t>feature</a:t>
            </a:r>
            <a:r>
              <a:rPr lang="en-US" b="1" spc="-350" dirty="0" smtClean="0">
                <a:latin typeface="Times New Roman" pitchFamily="18" charset="0"/>
                <a:cs typeface="Times New Roman" pitchFamily="18" charset="0"/>
              </a:rPr>
              <a:t> </a:t>
            </a:r>
            <a:r>
              <a:rPr lang="en-US" b="1" spc="-155" dirty="0" smtClean="0">
                <a:latin typeface="Times New Roman" pitchFamily="18" charset="0"/>
                <a:cs typeface="Times New Roman" pitchFamily="18" charset="0"/>
              </a:rPr>
              <a:t>selection</a:t>
            </a:r>
            <a:r>
              <a:rPr lang="en-US" b="1" spc="-350" dirty="0" smtClean="0">
                <a:latin typeface="Times New Roman" pitchFamily="18" charset="0"/>
                <a:cs typeface="Times New Roman" pitchFamily="18" charset="0"/>
              </a:rPr>
              <a:t> </a:t>
            </a:r>
            <a:r>
              <a:rPr lang="en-US" b="1" spc="-100" dirty="0" smtClean="0">
                <a:latin typeface="Times New Roman" pitchFamily="18" charset="0"/>
                <a:cs typeface="Times New Roman" pitchFamily="18" charset="0"/>
              </a:rPr>
              <a:t>is</a:t>
            </a:r>
            <a:r>
              <a:rPr lang="en-US" b="1" spc="-350" dirty="0" smtClean="0">
                <a:latin typeface="Times New Roman" pitchFamily="18" charset="0"/>
                <a:cs typeface="Times New Roman" pitchFamily="18" charset="0"/>
              </a:rPr>
              <a:t> </a:t>
            </a:r>
            <a:r>
              <a:rPr lang="en-US" b="1" spc="-195" dirty="0" smtClean="0">
                <a:latin typeface="Times New Roman" pitchFamily="18" charset="0"/>
                <a:cs typeface="Times New Roman" pitchFamily="18" charset="0"/>
              </a:rPr>
              <a:t>important?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pc="65" dirty="0" smtClean="0">
                <a:latin typeface="Times New Roman" pitchFamily="18" charset="0"/>
                <a:cs typeface="Times New Roman" pitchFamily="18" charset="0"/>
              </a:rPr>
              <a:t>Noisy</a:t>
            </a:r>
            <a:r>
              <a:rPr lang="en-US" spc="-45" dirty="0" smtClean="0">
                <a:latin typeface="Times New Roman" pitchFamily="18" charset="0"/>
                <a:cs typeface="Times New Roman" pitchFamily="18" charset="0"/>
              </a:rPr>
              <a:t> </a:t>
            </a:r>
            <a:r>
              <a:rPr lang="en-US" spc="-20" dirty="0" smtClean="0">
                <a:latin typeface="Times New Roman" pitchFamily="18" charset="0"/>
                <a:cs typeface="Times New Roman" pitchFamily="18" charset="0"/>
              </a:rPr>
              <a:t>data</a:t>
            </a:r>
            <a:endParaRPr lang="en-US" dirty="0" smtClean="0">
              <a:latin typeface="Times New Roman" pitchFamily="18" charset="0"/>
              <a:cs typeface="Times New Roman" pitchFamily="18" charset="0"/>
            </a:endParaRPr>
          </a:p>
          <a:p>
            <a:r>
              <a:rPr lang="en-US" spc="55" dirty="0" smtClean="0">
                <a:latin typeface="Times New Roman" pitchFamily="18" charset="0"/>
                <a:cs typeface="Times New Roman" pitchFamily="18" charset="0"/>
              </a:rPr>
              <a:t>Lots</a:t>
            </a:r>
            <a:r>
              <a:rPr lang="en-US" spc="-114"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a:t>
            </a:r>
            <a:r>
              <a:rPr lang="en-US" spc="-11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low</a:t>
            </a:r>
            <a:r>
              <a:rPr lang="en-US" spc="-110" dirty="0" smtClean="0">
                <a:latin typeface="Times New Roman" pitchFamily="18" charset="0"/>
                <a:cs typeface="Times New Roman" pitchFamily="18" charset="0"/>
              </a:rPr>
              <a:t> </a:t>
            </a:r>
            <a:r>
              <a:rPr lang="en-US" spc="-60" dirty="0" smtClean="0">
                <a:latin typeface="Times New Roman" pitchFamily="18" charset="0"/>
                <a:cs typeface="Times New Roman" pitchFamily="18" charset="0"/>
              </a:rPr>
              <a:t>frequent</a:t>
            </a:r>
            <a:r>
              <a:rPr lang="en-US" spc="-114" dirty="0" smtClean="0">
                <a:latin typeface="Times New Roman" pitchFamily="18" charset="0"/>
                <a:cs typeface="Times New Roman" pitchFamily="18" charset="0"/>
              </a:rPr>
              <a:t> </a:t>
            </a:r>
            <a:r>
              <a:rPr lang="en-US" spc="-30" dirty="0" smtClean="0">
                <a:latin typeface="Times New Roman" pitchFamily="18" charset="0"/>
                <a:cs typeface="Times New Roman" pitchFamily="18" charset="0"/>
              </a:rPr>
              <a:t>features</a:t>
            </a:r>
            <a:endParaRPr lang="en-US" dirty="0" smtClean="0">
              <a:latin typeface="Times New Roman" pitchFamily="18" charset="0"/>
              <a:cs typeface="Times New Roman" pitchFamily="18" charset="0"/>
            </a:endParaRPr>
          </a:p>
          <a:p>
            <a:r>
              <a:rPr lang="en-US" spc="114" dirty="0" smtClean="0">
                <a:latin typeface="Times New Roman" pitchFamily="18" charset="0"/>
                <a:cs typeface="Times New Roman" pitchFamily="18" charset="0"/>
              </a:rPr>
              <a:t>Use</a:t>
            </a:r>
            <a:r>
              <a:rPr lang="en-US" spc="-75" dirty="0" smtClean="0">
                <a:latin typeface="Times New Roman" pitchFamily="18" charset="0"/>
                <a:cs typeface="Times New Roman" pitchFamily="18" charset="0"/>
              </a:rPr>
              <a:t> </a:t>
            </a:r>
            <a:r>
              <a:rPr lang="en-US" spc="-60" dirty="0" smtClean="0">
                <a:latin typeface="Times New Roman" pitchFamily="18" charset="0"/>
                <a:cs typeface="Times New Roman" pitchFamily="18" charset="0"/>
              </a:rPr>
              <a:t>multi-</a:t>
            </a:r>
            <a:r>
              <a:rPr lang="en-US" spc="-45" dirty="0" smtClean="0">
                <a:latin typeface="Times New Roman" pitchFamily="18" charset="0"/>
                <a:cs typeface="Times New Roman" pitchFamily="18" charset="0"/>
              </a:rPr>
              <a:t>type</a:t>
            </a:r>
            <a:r>
              <a:rPr lang="en-US" spc="-70" dirty="0" smtClean="0">
                <a:latin typeface="Times New Roman" pitchFamily="18" charset="0"/>
                <a:cs typeface="Times New Roman" pitchFamily="18" charset="0"/>
              </a:rPr>
              <a:t> </a:t>
            </a:r>
            <a:r>
              <a:rPr lang="en-US" spc="-35" dirty="0" smtClean="0">
                <a:latin typeface="Times New Roman" pitchFamily="18" charset="0"/>
                <a:cs typeface="Times New Roman" pitchFamily="18" charset="0"/>
              </a:rPr>
              <a:t>features</a:t>
            </a:r>
            <a:endParaRPr lang="en-US" dirty="0" smtClean="0">
              <a:latin typeface="Times New Roman" pitchFamily="18" charset="0"/>
              <a:cs typeface="Times New Roman" pitchFamily="18" charset="0"/>
            </a:endParaRPr>
          </a:p>
          <a:p>
            <a:r>
              <a:rPr lang="en-US" spc="-10" dirty="0" smtClean="0">
                <a:latin typeface="Times New Roman" pitchFamily="18" charset="0"/>
                <a:cs typeface="Times New Roman" pitchFamily="18" charset="0"/>
              </a:rPr>
              <a:t>Too</a:t>
            </a:r>
            <a:r>
              <a:rPr lang="en-US" spc="-5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many</a:t>
            </a:r>
            <a:r>
              <a:rPr lang="en-US" spc="-50" dirty="0" smtClean="0">
                <a:latin typeface="Times New Roman" pitchFamily="18" charset="0"/>
                <a:cs typeface="Times New Roman" pitchFamily="18" charset="0"/>
              </a:rPr>
              <a:t> </a:t>
            </a:r>
            <a:r>
              <a:rPr lang="en-US" spc="-40" dirty="0" smtClean="0">
                <a:latin typeface="Times New Roman" pitchFamily="18" charset="0"/>
                <a:cs typeface="Times New Roman" pitchFamily="18" charset="0"/>
              </a:rPr>
              <a:t>features</a:t>
            </a:r>
            <a:r>
              <a:rPr lang="en-US" spc="-5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comparing</a:t>
            </a:r>
            <a:r>
              <a:rPr lang="en-US" spc="-5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to</a:t>
            </a:r>
            <a:r>
              <a:rPr lang="en-US" spc="-5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samples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Complex model</a:t>
            </a:r>
          </a:p>
          <a:p>
            <a:r>
              <a:rPr lang="en-US" spc="70" dirty="0" smtClean="0">
                <a:latin typeface="Times New Roman" pitchFamily="18" charset="0"/>
                <a:cs typeface="Times New Roman" pitchFamily="18" charset="0"/>
              </a:rPr>
              <a:t>Samples</a:t>
            </a:r>
            <a:r>
              <a:rPr lang="en-US" spc="-25" dirty="0" smtClean="0">
                <a:latin typeface="Times New Roman" pitchFamily="18" charset="0"/>
                <a:cs typeface="Times New Roman" pitchFamily="18" charset="0"/>
              </a:rPr>
              <a:t> </a:t>
            </a:r>
            <a:r>
              <a:rPr lang="en-US" spc="-20" dirty="0" smtClean="0">
                <a:latin typeface="Times New Roman" pitchFamily="18" charset="0"/>
                <a:cs typeface="Times New Roman" pitchFamily="18" charset="0"/>
              </a:rPr>
              <a:t>in </a:t>
            </a:r>
            <a:r>
              <a:rPr lang="en-US" spc="-90" dirty="0" smtClean="0">
                <a:latin typeface="Times New Roman" pitchFamily="18" charset="0"/>
                <a:cs typeface="Times New Roman" pitchFamily="18" charset="0"/>
              </a:rPr>
              <a:t>real</a:t>
            </a:r>
            <a:r>
              <a:rPr lang="en-US" spc="-2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scenario</a:t>
            </a:r>
            <a:r>
              <a:rPr lang="en-US" spc="-2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is</a:t>
            </a:r>
            <a:r>
              <a:rPr lang="en-US" spc="-2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inhomogeneous</a:t>
            </a:r>
            <a:r>
              <a:rPr lang="en-US" spc="-20" dirty="0" smtClean="0">
                <a:latin typeface="Times New Roman" pitchFamily="18" charset="0"/>
                <a:cs typeface="Times New Roman" pitchFamily="18" charset="0"/>
              </a:rPr>
              <a:t> </a:t>
            </a:r>
            <a:r>
              <a:rPr lang="en-US" spc="-75" dirty="0" smtClean="0">
                <a:latin typeface="Times New Roman" pitchFamily="18" charset="0"/>
                <a:cs typeface="Times New Roman" pitchFamily="18" charset="0"/>
              </a:rPr>
              <a:t>with</a:t>
            </a:r>
            <a:r>
              <a:rPr lang="en-US" spc="-25" dirty="0" smtClean="0">
                <a:latin typeface="Times New Roman" pitchFamily="18" charset="0"/>
                <a:cs typeface="Times New Roman" pitchFamily="18" charset="0"/>
              </a:rPr>
              <a:t> </a:t>
            </a:r>
            <a:r>
              <a:rPr lang="en-US" spc="-45" dirty="0" smtClean="0">
                <a:latin typeface="Times New Roman" pitchFamily="18" charset="0"/>
                <a:cs typeface="Times New Roman" pitchFamily="18" charset="0"/>
              </a:rPr>
              <a:t>training</a:t>
            </a:r>
            <a:r>
              <a:rPr lang="en-US" spc="-20" dirty="0" smtClean="0">
                <a:latin typeface="Times New Roman" pitchFamily="18" charset="0"/>
                <a:cs typeface="Times New Roman" pitchFamily="18" charset="0"/>
              </a:rPr>
              <a:t> </a:t>
            </a:r>
            <a:r>
              <a:rPr lang="en-US" spc="-210" dirty="0" smtClean="0">
                <a:latin typeface="Times New Roman" pitchFamily="18" charset="0"/>
                <a:cs typeface="Times New Roman" pitchFamily="18" charset="0"/>
              </a:rPr>
              <a:t>&amp;</a:t>
            </a:r>
            <a:r>
              <a:rPr lang="en-US" spc="-20" dirty="0" smtClean="0">
                <a:latin typeface="Times New Roman" pitchFamily="18" charset="0"/>
                <a:cs typeface="Times New Roman" pitchFamily="18" charset="0"/>
              </a:rPr>
              <a:t> </a:t>
            </a:r>
            <a:r>
              <a:rPr lang="en-US" spc="-30" dirty="0" smtClean="0">
                <a:latin typeface="Times New Roman" pitchFamily="18" charset="0"/>
                <a:cs typeface="Times New Roman" pitchFamily="18" charset="0"/>
              </a:rPr>
              <a:t>test</a:t>
            </a:r>
            <a:r>
              <a:rPr lang="en-US" spc="-2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samples</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Curse of Dimensionality</a:t>
            </a:r>
            <a:endParaRPr lang="en-US" b="1" dirty="0">
              <a:latin typeface="Times New Roman" pitchFamily="18" charset="0"/>
              <a:cs typeface="Times New Roman" pitchFamily="18" charset="0"/>
            </a:endParaRPr>
          </a:p>
        </p:txBody>
      </p:sp>
      <p:sp>
        <p:nvSpPr>
          <p:cNvPr id="3" name="TextBox 2"/>
          <p:cNvSpPr txBox="1"/>
          <p:nvPr/>
        </p:nvSpPr>
        <p:spPr>
          <a:xfrm>
            <a:off x="457200" y="1676400"/>
            <a:ext cx="3886200" cy="4832092"/>
          </a:xfrm>
          <a:prstGeom prst="rect">
            <a:avLst/>
          </a:prstGeom>
          <a:noFill/>
        </p:spPr>
        <p:txBody>
          <a:bodyPr wrap="square" rtlCol="0">
            <a:spAutoFit/>
          </a:bodyPr>
          <a:lstStyle/>
          <a:p>
            <a:pPr marL="342900" indent="-342900" algn="just" fontAlgn="base">
              <a:buFont typeface="Arial" pitchFamily="34" charset="0"/>
              <a:buChar char="•"/>
            </a:pP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amount of data required to achieve the same level of </a:t>
            </a:r>
            <a:r>
              <a:rPr lang="en-US" sz="2200" dirty="0" smtClean="0">
                <a:latin typeface="Times New Roman" pitchFamily="18" charset="0"/>
                <a:cs typeface="Times New Roman" pitchFamily="18" charset="0"/>
              </a:rPr>
              <a:t>accuracy increases </a:t>
            </a:r>
            <a:r>
              <a:rPr lang="en-US" sz="2200" dirty="0">
                <a:latin typeface="Times New Roman" pitchFamily="18" charset="0"/>
                <a:cs typeface="Times New Roman" pitchFamily="18" charset="0"/>
              </a:rPr>
              <a:t>exponentially as the number of features </a:t>
            </a:r>
            <a:r>
              <a:rPr lang="en-US" sz="2200" dirty="0" smtClean="0">
                <a:latin typeface="Times New Roman" pitchFamily="18" charset="0"/>
                <a:cs typeface="Times New Roman" pitchFamily="18" charset="0"/>
              </a:rPr>
              <a:t>increases.</a:t>
            </a:r>
            <a:endParaRPr lang="en-US" sz="2200" dirty="0">
              <a:latin typeface="Times New Roman" pitchFamily="18" charset="0"/>
              <a:cs typeface="Times New Roman" pitchFamily="18" charset="0"/>
            </a:endParaRPr>
          </a:p>
          <a:p>
            <a:pPr algn="just" fontAlgn="base"/>
            <a:r>
              <a:rPr lang="en-US" sz="2200" dirty="0">
                <a:latin typeface="Times New Roman" pitchFamily="18" charset="0"/>
                <a:cs typeface="Times New Roman" pitchFamily="18" charset="0"/>
              </a:rPr>
              <a:t> </a:t>
            </a:r>
          </a:p>
          <a:p>
            <a:pPr marL="342900" indent="-342900" algn="just" fontAlgn="base">
              <a:buFont typeface="Arial" pitchFamily="34" charset="0"/>
              <a:buChar char="•"/>
            </a:pPr>
            <a:r>
              <a:rPr lang="en-US" sz="2200" dirty="0" smtClean="0">
                <a:latin typeface="Times New Roman" pitchFamily="18" charset="0"/>
                <a:cs typeface="Times New Roman" pitchFamily="18" charset="0"/>
              </a:rPr>
              <a:t>But </a:t>
            </a:r>
            <a:r>
              <a:rPr lang="en-US" sz="2200" dirty="0">
                <a:latin typeface="Times New Roman" pitchFamily="18" charset="0"/>
                <a:cs typeface="Times New Roman" pitchFamily="18" charset="0"/>
              </a:rPr>
              <a:t>in </a:t>
            </a:r>
            <a:r>
              <a:rPr lang="en-US" sz="2200" dirty="0" smtClean="0">
                <a:latin typeface="Times New Roman" pitchFamily="18" charset="0"/>
                <a:cs typeface="Times New Roman" pitchFamily="18" charset="0"/>
              </a:rPr>
              <a:t>practice, </a:t>
            </a:r>
            <a:r>
              <a:rPr lang="en-US" sz="2200" dirty="0">
                <a:latin typeface="Times New Roman" pitchFamily="18" charset="0"/>
                <a:cs typeface="Times New Roman" pitchFamily="18" charset="0"/>
              </a:rPr>
              <a:t>the volume of training data available to us is </a:t>
            </a:r>
            <a:r>
              <a:rPr lang="en-US" sz="2200" dirty="0" smtClean="0">
                <a:latin typeface="Times New Roman" pitchFamily="18" charset="0"/>
                <a:cs typeface="Times New Roman" pitchFamily="18" charset="0"/>
              </a:rPr>
              <a:t>fixed. Therefore, </a:t>
            </a:r>
            <a:r>
              <a:rPr lang="en-US" sz="2200" dirty="0">
                <a:latin typeface="Times New Roman" pitchFamily="18" charset="0"/>
                <a:cs typeface="Times New Roman" pitchFamily="18" charset="0"/>
              </a:rPr>
              <a:t>in most </a:t>
            </a:r>
            <a:r>
              <a:rPr lang="en-US" sz="2200" dirty="0" smtClean="0">
                <a:latin typeface="Times New Roman" pitchFamily="18" charset="0"/>
                <a:cs typeface="Times New Roman" pitchFamily="18" charset="0"/>
              </a:rPr>
              <a:t>cases, </a:t>
            </a:r>
            <a:r>
              <a:rPr lang="en-US" sz="2200" dirty="0">
                <a:latin typeface="Times New Roman" pitchFamily="18" charset="0"/>
                <a:cs typeface="Times New Roman" pitchFamily="18" charset="0"/>
              </a:rPr>
              <a:t>the performance of the classifier will decrease with an increased number of </a:t>
            </a:r>
            <a:r>
              <a:rPr lang="en-US" sz="2200" dirty="0" smtClean="0">
                <a:latin typeface="Times New Roman" pitchFamily="18" charset="0"/>
                <a:cs typeface="Times New Roman" pitchFamily="18" charset="0"/>
              </a:rPr>
              <a:t>variables.</a:t>
            </a:r>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599709" y="1828800"/>
            <a:ext cx="3858491" cy="3276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890784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latin typeface="Times New Roman" pitchFamily="18" charset="0"/>
                <a:cs typeface="Times New Roman" pitchFamily="18" charset="0"/>
              </a:rPr>
              <a:t>Feature </a:t>
            </a:r>
            <a:r>
              <a:rPr lang="en-US" b="1" dirty="0" smtClean="0">
                <a:latin typeface="Times New Roman" pitchFamily="18" charset="0"/>
                <a:cs typeface="Times New Roman" pitchFamily="18" charset="0"/>
              </a:rPr>
              <a:t>Selection Steps</a:t>
            </a:r>
            <a:endParaRPr lang="en-US"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xmlns="" val="0"/>
              </a:ext>
            </a:extLst>
          </a:blip>
          <a:srcRect/>
          <a:stretch>
            <a:fillRect/>
          </a:stretch>
        </p:blipFill>
        <p:spPr bwMode="auto">
          <a:xfrm>
            <a:off x="4191000" y="1143000"/>
            <a:ext cx="4572000" cy="510540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381000" y="1219200"/>
            <a:ext cx="3962400" cy="4401205"/>
          </a:xfrm>
          <a:prstGeom prst="rect">
            <a:avLst/>
          </a:prstGeom>
          <a:noFill/>
        </p:spPr>
        <p:txBody>
          <a:bodyPr wrap="square" rtlCol="0">
            <a:spAutoFit/>
          </a:bodyPr>
          <a:lstStyle/>
          <a:p>
            <a:r>
              <a:rPr lang="en-US" sz="2800" dirty="0" smtClean="0">
                <a:latin typeface="Times New Roman" pitchFamily="18" charset="0"/>
                <a:cs typeface="Times New Roman" pitchFamily="18" charset="0"/>
              </a:rPr>
              <a:t>Feature Selection is an optimization problem.</a:t>
            </a:r>
          </a:p>
          <a:p>
            <a:endParaRPr lang="en-US" sz="2800" dirty="0" smtClean="0">
              <a:latin typeface="Times New Roman" pitchFamily="18" charset="0"/>
              <a:cs typeface="Times New Roman" pitchFamily="18" charset="0"/>
            </a:endParaRPr>
          </a:p>
          <a:p>
            <a:r>
              <a:rPr lang="en-US" sz="2800" dirty="0" smtClean="0">
                <a:solidFill>
                  <a:srgbClr val="FF0000"/>
                </a:solidFill>
                <a:latin typeface="Times New Roman" pitchFamily="18" charset="0"/>
                <a:cs typeface="Times New Roman" pitchFamily="18" charset="0"/>
              </a:rPr>
              <a:t>Step 1 : </a:t>
            </a:r>
            <a:r>
              <a:rPr lang="en-US" sz="2800" dirty="0" smtClean="0">
                <a:latin typeface="Times New Roman" pitchFamily="18" charset="0"/>
                <a:cs typeface="Times New Roman" pitchFamily="18" charset="0"/>
              </a:rPr>
              <a:t>Search the space of possible feature set.</a:t>
            </a:r>
          </a:p>
          <a:p>
            <a:endParaRPr lang="en-US" sz="2800" dirty="0" smtClean="0">
              <a:latin typeface="Times New Roman" pitchFamily="18" charset="0"/>
              <a:cs typeface="Times New Roman" pitchFamily="18" charset="0"/>
            </a:endParaRPr>
          </a:p>
          <a:p>
            <a:r>
              <a:rPr lang="en-US" sz="2800" dirty="0" smtClean="0">
                <a:solidFill>
                  <a:srgbClr val="FF0000"/>
                </a:solidFill>
                <a:latin typeface="Times New Roman" pitchFamily="18" charset="0"/>
                <a:cs typeface="Times New Roman" pitchFamily="18" charset="0"/>
              </a:rPr>
              <a:t>Step 2 : </a:t>
            </a:r>
            <a:r>
              <a:rPr lang="en-US" sz="2800" dirty="0" smtClean="0">
                <a:latin typeface="Times New Roman" pitchFamily="18" charset="0"/>
                <a:cs typeface="Times New Roman" pitchFamily="18" charset="0"/>
              </a:rPr>
              <a:t>Pick the subset that is optimal or near optimal with respect to some objective function. </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2676413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54" dirty="0" smtClean="0">
                <a:latin typeface="Times New Roman" pitchFamily="18" charset="0"/>
                <a:cs typeface="Times New Roman" pitchFamily="18" charset="0"/>
              </a:rPr>
              <a:t>Feature</a:t>
            </a:r>
            <a:r>
              <a:rPr lang="en-US" b="1" spc="-345" dirty="0" smtClean="0">
                <a:latin typeface="Times New Roman" pitchFamily="18" charset="0"/>
                <a:cs typeface="Times New Roman" pitchFamily="18" charset="0"/>
              </a:rPr>
              <a:t> </a:t>
            </a:r>
            <a:r>
              <a:rPr lang="en-US" b="1" spc="-180" dirty="0" smtClean="0">
                <a:latin typeface="Times New Roman" pitchFamily="18" charset="0"/>
                <a:cs typeface="Times New Roman" pitchFamily="18" charset="0"/>
              </a:rPr>
              <a:t>Selection</a:t>
            </a:r>
            <a:r>
              <a:rPr lang="en-US" b="1" spc="-345" dirty="0" smtClean="0">
                <a:latin typeface="Times New Roman" pitchFamily="18" charset="0"/>
                <a:cs typeface="Times New Roman" pitchFamily="18" charset="0"/>
              </a:rPr>
              <a:t> </a:t>
            </a:r>
            <a:r>
              <a:rPr lang="en-US" b="1" spc="-180" dirty="0" smtClean="0">
                <a:latin typeface="Times New Roman" pitchFamily="18" charset="0"/>
                <a:cs typeface="Times New Roman" pitchFamily="18" charset="0"/>
              </a:rPr>
              <a:t>Algorithms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From</a:t>
            </a:r>
            <a:r>
              <a:rPr lang="en-US" spc="-80"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80" dirty="0" smtClean="0">
                <a:latin typeface="Times New Roman" pitchFamily="18" charset="0"/>
                <a:cs typeface="Times New Roman" pitchFamily="18" charset="0"/>
              </a:rPr>
              <a:t> </a:t>
            </a:r>
            <a:r>
              <a:rPr lang="en-US" spc="-55" dirty="0" smtClean="0">
                <a:latin typeface="Times New Roman" pitchFamily="18" charset="0"/>
                <a:cs typeface="Times New Roman" pitchFamily="18" charset="0"/>
              </a:rPr>
              <a:t>label</a:t>
            </a:r>
            <a:r>
              <a:rPr lang="en-US" spc="-7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perspective</a:t>
            </a:r>
            <a:r>
              <a:rPr lang="en-US" spc="-80" dirty="0" smtClean="0">
                <a:latin typeface="Times New Roman" pitchFamily="18" charset="0"/>
                <a:cs typeface="Times New Roman" pitchFamily="18" charset="0"/>
              </a:rPr>
              <a:t> </a:t>
            </a:r>
            <a:r>
              <a:rPr lang="en-US" spc="-75" dirty="0" smtClean="0">
                <a:latin typeface="Times New Roman" pitchFamily="18" charset="0"/>
                <a:cs typeface="Times New Roman" pitchFamily="18" charset="0"/>
              </a:rPr>
              <a:t>(whether </a:t>
            </a:r>
            <a:r>
              <a:rPr lang="en-US" spc="-55" dirty="0" smtClean="0">
                <a:latin typeface="Times New Roman" pitchFamily="18" charset="0"/>
                <a:cs typeface="Times New Roman" pitchFamily="18" charset="0"/>
              </a:rPr>
              <a:t>label</a:t>
            </a:r>
            <a:r>
              <a:rPr lang="en-US" spc="-80" dirty="0" smtClean="0">
                <a:latin typeface="Times New Roman" pitchFamily="18" charset="0"/>
                <a:cs typeface="Times New Roman" pitchFamily="18" charset="0"/>
              </a:rPr>
              <a:t> </a:t>
            </a:r>
            <a:r>
              <a:rPr lang="en-US" spc="-55" dirty="0" smtClean="0">
                <a:latin typeface="Times New Roman" pitchFamily="18" charset="0"/>
                <a:cs typeface="Times New Roman" pitchFamily="18" charset="0"/>
              </a:rPr>
              <a:t>information</a:t>
            </a:r>
            <a:r>
              <a:rPr lang="en-US" spc="-7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is</a:t>
            </a:r>
            <a:r>
              <a:rPr lang="en-US" spc="-8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involved</a:t>
            </a:r>
            <a:r>
              <a:rPr lang="en-US" spc="-7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during</a:t>
            </a:r>
            <a:r>
              <a:rPr lang="en-US" spc="-80" dirty="0" smtClean="0">
                <a:latin typeface="Times New Roman" pitchFamily="18" charset="0"/>
                <a:cs typeface="Times New Roman" pitchFamily="18" charset="0"/>
              </a:rPr>
              <a:t> </a:t>
            </a:r>
            <a:r>
              <a:rPr lang="en-US" spc="-25" dirty="0" smtClean="0">
                <a:latin typeface="Times New Roman" pitchFamily="18" charset="0"/>
                <a:cs typeface="Times New Roman" pitchFamily="18" charset="0"/>
              </a:rPr>
              <a:t>the </a:t>
            </a:r>
            <a:r>
              <a:rPr lang="en-US" spc="-10" dirty="0" smtClean="0">
                <a:latin typeface="Times New Roman" pitchFamily="18" charset="0"/>
                <a:cs typeface="Times New Roman" pitchFamily="18" charset="0"/>
              </a:rPr>
              <a:t>selection</a:t>
            </a:r>
            <a:r>
              <a:rPr lang="en-US" spc="-16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phase):</a:t>
            </a:r>
            <a:endParaRPr lang="en-US" dirty="0" smtClean="0">
              <a:latin typeface="Times New Roman" pitchFamily="18" charset="0"/>
              <a:cs typeface="Times New Roman" pitchFamily="18" charset="0"/>
            </a:endParaRPr>
          </a:p>
          <a:p>
            <a:pPr marL="249554" indent="-236854">
              <a:lnSpc>
                <a:spcPct val="100000"/>
              </a:lnSpc>
              <a:spcBef>
                <a:spcPts val="100"/>
              </a:spcBef>
              <a:buChar char="–"/>
              <a:tabLst>
                <a:tab pos="249554" algn="l"/>
              </a:tabLst>
            </a:pPr>
            <a:r>
              <a:rPr lang="en-US" spc="-10" dirty="0" smtClean="0">
                <a:latin typeface="Times New Roman" pitchFamily="18" charset="0"/>
                <a:cs typeface="Times New Roman" pitchFamily="18" charset="0"/>
              </a:rPr>
              <a:t>Supervised</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spc="-10" dirty="0" smtClean="0">
                <a:latin typeface="Times New Roman" pitchFamily="18" charset="0"/>
                <a:cs typeface="Times New Roman" pitchFamily="18" charset="0"/>
              </a:rPr>
              <a:t>Unsupervised</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dirty="0" smtClean="0">
                <a:latin typeface="Times New Roman" pitchFamily="18" charset="0"/>
                <a:cs typeface="Times New Roman" pitchFamily="18" charset="0"/>
              </a:rPr>
              <a:t>Semi-</a:t>
            </a:r>
            <a:r>
              <a:rPr lang="en-US" spc="-10" dirty="0" smtClean="0">
                <a:latin typeface="Times New Roman" pitchFamily="18" charset="0"/>
                <a:cs typeface="Times New Roman" pitchFamily="18" charset="0"/>
              </a:rPr>
              <a:t>Supervised</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From</a:t>
            </a:r>
            <a:r>
              <a:rPr lang="en-US" spc="-120"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12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selection</a:t>
            </a:r>
            <a:r>
              <a:rPr lang="en-US" spc="-114"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strategy</a:t>
            </a:r>
            <a:r>
              <a:rPr lang="en-US" spc="-12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perspective</a:t>
            </a:r>
            <a:r>
              <a:rPr lang="en-US" spc="-120" dirty="0" smtClean="0">
                <a:latin typeface="Times New Roman" pitchFamily="18" charset="0"/>
                <a:cs typeface="Times New Roman" pitchFamily="18" charset="0"/>
              </a:rPr>
              <a:t> </a:t>
            </a:r>
            <a:r>
              <a:rPr lang="en-US" spc="-20" dirty="0" smtClean="0">
                <a:latin typeface="Times New Roman" pitchFamily="18" charset="0"/>
                <a:cs typeface="Times New Roman" pitchFamily="18" charset="0"/>
              </a:rPr>
              <a:t>(how</a:t>
            </a:r>
            <a:r>
              <a:rPr lang="en-US" spc="-114"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the</a:t>
            </a:r>
            <a:r>
              <a:rPr lang="en-US" spc="-120" dirty="0" smtClean="0">
                <a:latin typeface="Times New Roman" pitchFamily="18" charset="0"/>
                <a:cs typeface="Times New Roman" pitchFamily="18" charset="0"/>
              </a:rPr>
              <a:t> </a:t>
            </a:r>
            <a:r>
              <a:rPr lang="en-US" spc="-40" dirty="0" smtClean="0">
                <a:latin typeface="Times New Roman" pitchFamily="18" charset="0"/>
                <a:cs typeface="Times New Roman" pitchFamily="18" charset="0"/>
              </a:rPr>
              <a:t>features</a:t>
            </a:r>
            <a:r>
              <a:rPr lang="en-US" spc="-120" dirty="0" smtClean="0">
                <a:latin typeface="Times New Roman" pitchFamily="18" charset="0"/>
                <a:cs typeface="Times New Roman" pitchFamily="18" charset="0"/>
              </a:rPr>
              <a:t> </a:t>
            </a:r>
            <a:r>
              <a:rPr lang="en-US" spc="-45" dirty="0" smtClean="0">
                <a:latin typeface="Times New Roman" pitchFamily="18" charset="0"/>
                <a:cs typeface="Times New Roman" pitchFamily="18" charset="0"/>
              </a:rPr>
              <a:t>are</a:t>
            </a:r>
            <a:r>
              <a:rPr lang="en-US" spc="-114"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selected):</a:t>
            </a:r>
            <a:endParaRPr lang="en-US" dirty="0" smtClean="0">
              <a:latin typeface="Times New Roman" pitchFamily="18" charset="0"/>
              <a:cs typeface="Times New Roman" pitchFamily="18" charset="0"/>
            </a:endParaRPr>
          </a:p>
          <a:p>
            <a:pPr marL="249554" indent="-236854">
              <a:lnSpc>
                <a:spcPct val="100000"/>
              </a:lnSpc>
              <a:spcBef>
                <a:spcPts val="100"/>
              </a:spcBef>
              <a:buChar char="–"/>
              <a:tabLst>
                <a:tab pos="249554" algn="l"/>
              </a:tabLst>
            </a:pPr>
            <a:r>
              <a:rPr lang="en-US" dirty="0" smtClean="0">
                <a:latin typeface="Times New Roman" pitchFamily="18" charset="0"/>
                <a:cs typeface="Times New Roman" pitchFamily="18" charset="0"/>
              </a:rPr>
              <a:t>Wrapper</a:t>
            </a:r>
            <a:r>
              <a:rPr lang="en-US" spc="-8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methods</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spc="-100" dirty="0" smtClean="0">
                <a:latin typeface="Times New Roman" pitchFamily="18" charset="0"/>
                <a:cs typeface="Times New Roman" pitchFamily="18" charset="0"/>
              </a:rPr>
              <a:t>Filter</a:t>
            </a:r>
            <a:r>
              <a:rPr lang="en-US" spc="-5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methods</a:t>
            </a:r>
            <a:endParaRPr lang="en-US" dirty="0" smtClean="0">
              <a:latin typeface="Times New Roman" pitchFamily="18" charset="0"/>
              <a:cs typeface="Times New Roman" pitchFamily="18" charset="0"/>
            </a:endParaRPr>
          </a:p>
          <a:p>
            <a:pPr marL="249554" indent="-236854">
              <a:lnSpc>
                <a:spcPct val="100000"/>
              </a:lnSpc>
              <a:spcBef>
                <a:spcPts val="20"/>
              </a:spcBef>
              <a:buChar char="–"/>
              <a:tabLst>
                <a:tab pos="249554" algn="l"/>
              </a:tabLst>
            </a:pPr>
            <a:r>
              <a:rPr lang="en-US" spc="55" dirty="0" smtClean="0">
                <a:latin typeface="Times New Roman" pitchFamily="18" charset="0"/>
                <a:cs typeface="Times New Roman" pitchFamily="18" charset="0"/>
              </a:rPr>
              <a:t>Embedded</a:t>
            </a:r>
            <a:r>
              <a:rPr lang="en-US" spc="-50"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methods</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195" dirty="0" smtClean="0">
                <a:latin typeface="Times New Roman" pitchFamily="18" charset="0"/>
                <a:cs typeface="Times New Roman" pitchFamily="18" charset="0"/>
              </a:rPr>
              <a:t>Supervised</a:t>
            </a:r>
            <a:r>
              <a:rPr lang="en-US" b="1" spc="-355" dirty="0" smtClean="0">
                <a:latin typeface="Times New Roman" pitchFamily="18" charset="0"/>
                <a:cs typeface="Times New Roman" pitchFamily="18" charset="0"/>
              </a:rPr>
              <a:t> </a:t>
            </a:r>
            <a:r>
              <a:rPr lang="en-US" b="1" spc="-254" dirty="0" smtClean="0">
                <a:latin typeface="Times New Roman" pitchFamily="18" charset="0"/>
                <a:cs typeface="Times New Roman" pitchFamily="18" charset="0"/>
              </a:rPr>
              <a:t>Feature</a:t>
            </a:r>
            <a:r>
              <a:rPr lang="en-US" b="1" spc="-350" dirty="0" smtClean="0">
                <a:latin typeface="Times New Roman" pitchFamily="18" charset="0"/>
                <a:cs typeface="Times New Roman" pitchFamily="18" charset="0"/>
              </a:rPr>
              <a:t> </a:t>
            </a:r>
            <a:r>
              <a:rPr lang="en-US" b="1" spc="-135" dirty="0" smtClean="0">
                <a:latin typeface="Times New Roman" pitchFamily="18" charset="0"/>
                <a:cs typeface="Times New Roman" pitchFamily="18" charset="0"/>
              </a:rPr>
              <a:t>Selection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562600"/>
          </a:xfrm>
        </p:spPr>
        <p:txBody>
          <a:bodyPr/>
          <a:lstStyle/>
          <a:p>
            <a:r>
              <a:rPr lang="en-US" sz="2400" dirty="0" smtClean="0">
                <a:latin typeface="Times New Roman" pitchFamily="18" charset="0"/>
                <a:cs typeface="Times New Roman" pitchFamily="18" charset="0"/>
              </a:rPr>
              <a:t>Supervised</a:t>
            </a:r>
            <a:r>
              <a:rPr lang="en-US" sz="2400" spc="-2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feature</a:t>
            </a:r>
            <a:r>
              <a:rPr lang="en-US" sz="2400" spc="-2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selection</a:t>
            </a:r>
            <a:r>
              <a:rPr lang="en-US" sz="2400" spc="-2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20"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often</a:t>
            </a:r>
            <a:r>
              <a:rPr lang="en-US" sz="2400" spc="-2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for</a:t>
            </a:r>
            <a:r>
              <a:rPr lang="en-US" sz="2400" spc="-2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classification </a:t>
            </a:r>
            <a:r>
              <a:rPr lang="en-US" sz="2400" dirty="0" smtClean="0">
                <a:latin typeface="Times New Roman" pitchFamily="18" charset="0"/>
                <a:cs typeface="Times New Roman" pitchFamily="18" charset="0"/>
              </a:rPr>
              <a:t>or</a:t>
            </a:r>
            <a:r>
              <a:rPr lang="en-US" sz="2400" spc="-2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regression</a:t>
            </a:r>
            <a:r>
              <a:rPr lang="en-US" sz="2400" spc="-2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problems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Find</a:t>
            </a:r>
            <a:r>
              <a:rPr lang="en-US" sz="2400" spc="-45" dirty="0" smtClean="0">
                <a:latin typeface="Times New Roman" pitchFamily="18" charset="0"/>
                <a:cs typeface="Times New Roman" pitchFamily="18" charset="0"/>
              </a:rPr>
              <a:t> </a:t>
            </a:r>
            <a:r>
              <a:rPr lang="en-US" sz="2400" spc="-30" dirty="0" smtClean="0">
                <a:latin typeface="Times New Roman" pitchFamily="18" charset="0"/>
                <a:cs typeface="Times New Roman" pitchFamily="18" charset="0"/>
              </a:rPr>
              <a:t>discriminative</a:t>
            </a:r>
            <a:r>
              <a:rPr lang="en-US" sz="2400" spc="-4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 </a:t>
            </a:r>
            <a:r>
              <a:rPr lang="en-US" sz="2400" spc="-80" dirty="0" smtClean="0">
                <a:latin typeface="Times New Roman" pitchFamily="18" charset="0"/>
                <a:cs typeface="Times New Roman" pitchFamily="18" charset="0"/>
              </a:rPr>
              <a:t>that</a:t>
            </a:r>
            <a:r>
              <a:rPr lang="en-US" sz="2400" spc="-4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separate</a:t>
            </a:r>
            <a:r>
              <a:rPr lang="en-US" sz="2400" spc="-4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samples</a:t>
            </a:r>
            <a:r>
              <a:rPr lang="en-US" sz="2400" spc="-4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from</a:t>
            </a:r>
            <a:r>
              <a:rPr lang="en-US" sz="2400" spc="-40" dirty="0" smtClean="0">
                <a:latin typeface="Times New Roman" pitchFamily="18" charset="0"/>
                <a:cs typeface="Times New Roman" pitchFamily="18" charset="0"/>
              </a:rPr>
              <a:t> </a:t>
            </a:r>
            <a:r>
              <a:rPr lang="en-US" sz="2400" spc="-105" dirty="0" smtClean="0">
                <a:latin typeface="Times New Roman" pitchFamily="18" charset="0"/>
                <a:cs typeface="Times New Roman" pitchFamily="18" charset="0"/>
              </a:rPr>
              <a:t>different</a:t>
            </a:r>
            <a:r>
              <a:rPr lang="en-US" sz="2400" spc="-45" dirty="0" smtClean="0">
                <a:latin typeface="Times New Roman" pitchFamily="18" charset="0"/>
                <a:cs typeface="Times New Roman" pitchFamily="18" charset="0"/>
              </a:rPr>
              <a:t> </a:t>
            </a:r>
            <a:r>
              <a:rPr lang="en-US" sz="2400" spc="70" dirty="0" smtClean="0">
                <a:latin typeface="Times New Roman" pitchFamily="18" charset="0"/>
                <a:cs typeface="Times New Roman" pitchFamily="18" charset="0"/>
              </a:rPr>
              <a:t>classes </a:t>
            </a:r>
            <a:r>
              <a:rPr lang="en-US" sz="2400" spc="-50" dirty="0" smtClean="0">
                <a:latin typeface="Times New Roman" pitchFamily="18" charset="0"/>
                <a:cs typeface="Times New Roman" pitchFamily="18" charset="0"/>
              </a:rPr>
              <a:t>(classification)</a:t>
            </a:r>
            <a:r>
              <a:rPr lang="en-US" sz="2400" spc="-11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a:t>
            </a:r>
            <a:r>
              <a:rPr lang="en-US" sz="2400" spc="-10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approximate</a:t>
            </a:r>
            <a:r>
              <a:rPr lang="en-US" sz="2400" spc="-105" dirty="0" smtClean="0">
                <a:latin typeface="Times New Roman" pitchFamily="18" charset="0"/>
                <a:cs typeface="Times New Roman" pitchFamily="18" charset="0"/>
              </a:rPr>
              <a:t> </a:t>
            </a:r>
            <a:r>
              <a:rPr lang="en-US" sz="2400" spc="-75" dirty="0" smtClean="0">
                <a:latin typeface="Times New Roman" pitchFamily="18" charset="0"/>
                <a:cs typeface="Times New Roman" pitchFamily="18" charset="0"/>
              </a:rPr>
              <a:t>target</a:t>
            </a:r>
            <a:r>
              <a:rPr lang="en-US" sz="2400" spc="-10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variables</a:t>
            </a:r>
            <a:r>
              <a:rPr lang="en-US" sz="2400" spc="-10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(regression)</a:t>
            </a:r>
            <a:endParaRPr lang="en-US" sz="2400" dirty="0" smtClean="0">
              <a:latin typeface="Times New Roman" pitchFamily="18" charset="0"/>
              <a:cs typeface="Times New Roman" pitchFamily="18" charset="0"/>
            </a:endParaRPr>
          </a:p>
          <a:p>
            <a:endParaRPr lang="en-US" dirty="0"/>
          </a:p>
        </p:txBody>
      </p:sp>
      <p:pic>
        <p:nvPicPr>
          <p:cNvPr id="4" name="object 6"/>
          <p:cNvPicPr/>
          <p:nvPr/>
        </p:nvPicPr>
        <p:blipFill>
          <a:blip r:embed="rId3" cstate="print"/>
          <a:stretch>
            <a:fillRect/>
          </a:stretch>
        </p:blipFill>
        <p:spPr>
          <a:xfrm>
            <a:off x="228600" y="3429000"/>
            <a:ext cx="8610600" cy="31423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00" dirty="0" smtClean="0">
                <a:latin typeface="Times New Roman" pitchFamily="18" charset="0"/>
                <a:cs typeface="Times New Roman" pitchFamily="18" charset="0"/>
              </a:rPr>
              <a:t>Unsupervised</a:t>
            </a:r>
            <a:r>
              <a:rPr lang="en-US" b="1" spc="-340" dirty="0" smtClean="0">
                <a:latin typeface="Times New Roman" pitchFamily="18" charset="0"/>
                <a:cs typeface="Times New Roman" pitchFamily="18" charset="0"/>
              </a:rPr>
              <a:t> </a:t>
            </a:r>
            <a:r>
              <a:rPr lang="en-US" b="1" spc="-254" dirty="0" smtClean="0">
                <a:latin typeface="Times New Roman" pitchFamily="18" charset="0"/>
                <a:cs typeface="Times New Roman" pitchFamily="18" charset="0"/>
              </a:rPr>
              <a:t>Feature</a:t>
            </a:r>
            <a:r>
              <a:rPr lang="en-US" b="1" spc="-335" dirty="0" smtClean="0">
                <a:latin typeface="Times New Roman" pitchFamily="18" charset="0"/>
                <a:cs typeface="Times New Roman" pitchFamily="18" charset="0"/>
              </a:rPr>
              <a:t> </a:t>
            </a:r>
            <a:r>
              <a:rPr lang="en-US" b="1" spc="-105" dirty="0" smtClean="0">
                <a:latin typeface="Times New Roman" pitchFamily="18" charset="0"/>
                <a:cs typeface="Times New Roman" pitchFamily="18" charset="0"/>
              </a:rPr>
              <a:t>Selection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10200"/>
          </a:xfrm>
        </p:spPr>
        <p:txBody>
          <a:bodyPr/>
          <a:lstStyle/>
          <a:p>
            <a:r>
              <a:rPr lang="en-US" sz="2800" spc="-125" dirty="0" smtClean="0">
                <a:latin typeface="Times New Roman" pitchFamily="18" charset="0"/>
                <a:cs typeface="Times New Roman" pitchFamily="18" charset="0"/>
              </a:rPr>
              <a:t>It</a:t>
            </a:r>
            <a:r>
              <a:rPr lang="en-US" sz="2800" spc="-6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is</a:t>
            </a:r>
            <a:r>
              <a:rPr lang="en-US" sz="2800" spc="-75"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often</a:t>
            </a:r>
            <a:r>
              <a:rPr lang="en-US" sz="2800" spc="-65" dirty="0" smtClean="0">
                <a:latin typeface="Times New Roman" pitchFamily="18" charset="0"/>
                <a:cs typeface="Times New Roman" pitchFamily="18" charset="0"/>
              </a:rPr>
              <a:t> for </a:t>
            </a:r>
            <a:r>
              <a:rPr lang="en-US" sz="2800" spc="-20" dirty="0" smtClean="0">
                <a:latin typeface="Times New Roman" pitchFamily="18" charset="0"/>
                <a:cs typeface="Times New Roman" pitchFamily="18" charset="0"/>
              </a:rPr>
              <a:t>clustering</a:t>
            </a:r>
            <a:r>
              <a:rPr lang="en-US" sz="2800" spc="-65"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problems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Label</a:t>
            </a:r>
            <a:r>
              <a:rPr lang="en-US" sz="2800" spc="-65" dirty="0" smtClean="0">
                <a:latin typeface="Times New Roman" pitchFamily="18" charset="0"/>
                <a:cs typeface="Times New Roman" pitchFamily="18" charset="0"/>
              </a:rPr>
              <a:t> </a:t>
            </a:r>
            <a:r>
              <a:rPr lang="en-US" sz="2800" spc="-55" dirty="0" smtClean="0">
                <a:latin typeface="Times New Roman" pitchFamily="18" charset="0"/>
                <a:cs typeface="Times New Roman" pitchFamily="18" charset="0"/>
              </a:rPr>
              <a:t>information</a:t>
            </a:r>
            <a:r>
              <a:rPr lang="en-US" sz="2800" spc="-6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is</a:t>
            </a:r>
            <a:r>
              <a:rPr lang="en-US" sz="2800" spc="-6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expensive</a:t>
            </a:r>
            <a:r>
              <a:rPr lang="en-US" sz="2800" spc="-6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to</a:t>
            </a:r>
            <a:r>
              <a:rPr lang="en-US" sz="2800" spc="-65"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obtain</a:t>
            </a:r>
            <a:r>
              <a:rPr lang="en-US" sz="2800" spc="-6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which</a:t>
            </a:r>
            <a:r>
              <a:rPr lang="en-US" sz="2800" spc="-65"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requires</a:t>
            </a:r>
            <a:r>
              <a:rPr lang="en-US" sz="2800" spc="-6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both</a:t>
            </a:r>
            <a:r>
              <a:rPr lang="en-US" sz="2800" spc="-65" dirty="0" smtClean="0">
                <a:latin typeface="Times New Roman" pitchFamily="18" charset="0"/>
                <a:cs typeface="Times New Roman" pitchFamily="18" charset="0"/>
              </a:rPr>
              <a:t> </a:t>
            </a:r>
            <a:r>
              <a:rPr lang="en-US" sz="2800" spc="-75" dirty="0" smtClean="0">
                <a:latin typeface="Times New Roman" pitchFamily="18" charset="0"/>
                <a:cs typeface="Times New Roman" pitchFamily="18" charset="0"/>
              </a:rPr>
              <a:t>time</a:t>
            </a:r>
            <a:r>
              <a:rPr lang="en-US" sz="2800" spc="-6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and</a:t>
            </a:r>
            <a:r>
              <a:rPr lang="en-US" sz="2800" spc="-65"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efforts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Unsupervised</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methods</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seek</a:t>
            </a:r>
            <a:r>
              <a:rPr lang="en-US" sz="2800" spc="15" dirty="0" smtClean="0">
                <a:latin typeface="Times New Roman" pitchFamily="18" charset="0"/>
                <a:cs typeface="Times New Roman" pitchFamily="18" charset="0"/>
              </a:rPr>
              <a:t> </a:t>
            </a:r>
            <a:r>
              <a:rPr lang="en-US" sz="2800" spc="-70" dirty="0" smtClean="0">
                <a:latin typeface="Times New Roman" pitchFamily="18" charset="0"/>
                <a:cs typeface="Times New Roman" pitchFamily="18" charset="0"/>
              </a:rPr>
              <a:t>alternative</a:t>
            </a:r>
            <a:r>
              <a:rPr lang="en-US" sz="2800" spc="10" dirty="0" smtClean="0">
                <a:latin typeface="Times New Roman" pitchFamily="18" charset="0"/>
                <a:cs typeface="Times New Roman" pitchFamily="18" charset="0"/>
              </a:rPr>
              <a:t> </a:t>
            </a:r>
            <a:r>
              <a:rPr lang="en-US" sz="2800" spc="-90" dirty="0" smtClean="0">
                <a:latin typeface="Times New Roman" pitchFamily="18" charset="0"/>
                <a:cs typeface="Times New Roman" pitchFamily="18" charset="0"/>
              </a:rPr>
              <a:t>criteria</a:t>
            </a:r>
            <a:r>
              <a:rPr lang="en-US" sz="2800" spc="1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to</a:t>
            </a:r>
            <a:r>
              <a:rPr lang="en-US" sz="2800" spc="10" dirty="0" smtClean="0">
                <a:latin typeface="Times New Roman" pitchFamily="18" charset="0"/>
                <a:cs typeface="Times New Roman" pitchFamily="18" charset="0"/>
              </a:rPr>
              <a:t> </a:t>
            </a:r>
            <a:r>
              <a:rPr lang="en-US" sz="2800" spc="-35" dirty="0" smtClean="0">
                <a:latin typeface="Times New Roman" pitchFamily="18" charset="0"/>
                <a:cs typeface="Times New Roman" pitchFamily="18" charset="0"/>
              </a:rPr>
              <a:t>define</a:t>
            </a:r>
            <a:r>
              <a:rPr lang="en-US" sz="2800" spc="15" dirty="0" smtClean="0">
                <a:latin typeface="Times New Roman" pitchFamily="18" charset="0"/>
                <a:cs typeface="Times New Roman" pitchFamily="18" charset="0"/>
              </a:rPr>
              <a:t> </a:t>
            </a:r>
            <a:r>
              <a:rPr lang="en-US" sz="2800" spc="-85" dirty="0" smtClean="0">
                <a:latin typeface="Times New Roman" pitchFamily="18" charset="0"/>
                <a:cs typeface="Times New Roman" pitchFamily="18" charset="0"/>
              </a:rPr>
              <a:t>feature</a:t>
            </a:r>
            <a:r>
              <a:rPr lang="en-US" sz="2800" spc="1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relevance</a:t>
            </a:r>
          </a:p>
          <a:p>
            <a:pPr>
              <a:buNone/>
            </a:pPr>
            <a:endParaRPr lang="en-US" sz="2800"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4" name="object 7"/>
          <p:cNvPicPr/>
          <p:nvPr/>
        </p:nvPicPr>
        <p:blipFill>
          <a:blip r:embed="rId3" cstate="print"/>
          <a:stretch>
            <a:fillRect/>
          </a:stretch>
        </p:blipFill>
        <p:spPr>
          <a:xfrm>
            <a:off x="457201" y="3962400"/>
            <a:ext cx="8305800" cy="24477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45" dirty="0" smtClean="0">
                <a:latin typeface="Times New Roman" pitchFamily="18" charset="0"/>
                <a:cs typeface="Times New Roman" pitchFamily="18" charset="0"/>
              </a:rPr>
              <a:t>Semi-</a:t>
            </a:r>
            <a:r>
              <a:rPr lang="en-US" b="1" spc="-225" dirty="0" smtClean="0">
                <a:latin typeface="Times New Roman" pitchFamily="18" charset="0"/>
                <a:cs typeface="Times New Roman" pitchFamily="18" charset="0"/>
              </a:rPr>
              <a:t>Supervised</a:t>
            </a:r>
            <a:r>
              <a:rPr lang="en-US" b="1" spc="-325" dirty="0" smtClean="0">
                <a:latin typeface="Times New Roman" pitchFamily="18" charset="0"/>
                <a:cs typeface="Times New Roman" pitchFamily="18" charset="0"/>
              </a:rPr>
              <a:t> </a:t>
            </a:r>
            <a:r>
              <a:rPr lang="en-US" b="1" spc="-254" dirty="0" smtClean="0">
                <a:latin typeface="Times New Roman" pitchFamily="18" charset="0"/>
                <a:cs typeface="Times New Roman" pitchFamily="18" charset="0"/>
              </a:rPr>
              <a:t>Feature</a:t>
            </a:r>
            <a:r>
              <a:rPr lang="en-US" b="1" spc="-325" dirty="0" smtClean="0">
                <a:latin typeface="Times New Roman" pitchFamily="18" charset="0"/>
                <a:cs typeface="Times New Roman" pitchFamily="18" charset="0"/>
              </a:rPr>
              <a:t> </a:t>
            </a:r>
            <a:r>
              <a:rPr lang="en-US" b="1" spc="-125" dirty="0" smtClean="0">
                <a:latin typeface="Times New Roman" pitchFamily="18" charset="0"/>
                <a:cs typeface="Times New Roman" pitchFamily="18" charset="0"/>
              </a:rPr>
              <a:t>Selection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800" dirty="0" smtClean="0">
                <a:latin typeface="Times New Roman" pitchFamily="18" charset="0"/>
                <a:cs typeface="Times New Roman" pitchFamily="18" charset="0"/>
              </a:rPr>
              <a:t>We</a:t>
            </a:r>
            <a:r>
              <a:rPr lang="en-US" sz="2800" spc="-85"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often</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have</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small</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amount</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of</a:t>
            </a:r>
            <a:r>
              <a:rPr lang="en-US" sz="2800" spc="-80"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labeled</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data</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and</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a:t>
            </a:r>
            <a:r>
              <a:rPr lang="en-US" sz="2800" spc="-80" dirty="0" smtClean="0">
                <a:latin typeface="Times New Roman" pitchFamily="18" charset="0"/>
                <a:cs typeface="Times New Roman" pitchFamily="18" charset="0"/>
              </a:rPr>
              <a:t> </a:t>
            </a:r>
            <a:r>
              <a:rPr lang="en-US" sz="2800" spc="-30" dirty="0" smtClean="0">
                <a:latin typeface="Times New Roman" pitchFamily="18" charset="0"/>
                <a:cs typeface="Times New Roman" pitchFamily="18" charset="0"/>
              </a:rPr>
              <a:t>large</a:t>
            </a:r>
            <a:r>
              <a:rPr lang="en-US" sz="2800" spc="-8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amount</a:t>
            </a:r>
            <a:r>
              <a:rPr lang="en-US" sz="2800" spc="-80"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of </a:t>
            </a:r>
            <a:r>
              <a:rPr lang="en-US" sz="2800" spc="-20" dirty="0" smtClean="0">
                <a:latin typeface="Times New Roman" pitchFamily="18" charset="0"/>
                <a:cs typeface="Times New Roman" pitchFamily="18" charset="0"/>
              </a:rPr>
              <a:t>unlabeled</a:t>
            </a:r>
            <a:r>
              <a:rPr lang="en-US" sz="2800" spc="-9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data</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Semi-supervised</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methods</a:t>
            </a:r>
            <a:r>
              <a:rPr lang="en-US" sz="2800" spc="-10" dirty="0" smtClean="0">
                <a:latin typeface="Times New Roman" pitchFamily="18" charset="0"/>
                <a:cs typeface="Times New Roman" pitchFamily="18" charset="0"/>
              </a:rPr>
              <a:t> </a:t>
            </a:r>
            <a:r>
              <a:rPr lang="en-US" sz="2800" spc="-45" dirty="0" smtClean="0">
                <a:latin typeface="Times New Roman" pitchFamily="18" charset="0"/>
                <a:cs typeface="Times New Roman" pitchFamily="18" charset="0"/>
              </a:rPr>
              <a:t>exploit</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both</a:t>
            </a:r>
            <a:r>
              <a:rPr lang="en-US" sz="2800" spc="-10"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labeled</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and</a:t>
            </a:r>
            <a:r>
              <a:rPr lang="en-US" sz="2800" spc="-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unlabeled</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data</a:t>
            </a:r>
            <a:r>
              <a:rPr lang="en-US" sz="2800" spc="-1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to</a:t>
            </a:r>
            <a:r>
              <a:rPr lang="en-US" sz="2800" spc="-10"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find </a:t>
            </a:r>
            <a:r>
              <a:rPr lang="en-US" sz="2800" spc="-75" dirty="0" smtClean="0">
                <a:latin typeface="Times New Roman" pitchFamily="18" charset="0"/>
                <a:cs typeface="Times New Roman" pitchFamily="18" charset="0"/>
              </a:rPr>
              <a:t>relevant</a:t>
            </a:r>
            <a:r>
              <a:rPr lang="en-US" sz="2800" spc="-5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features</a:t>
            </a:r>
            <a:endParaRPr lang="en-US" sz="2800"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4" name="object 7"/>
          <p:cNvPicPr/>
          <p:nvPr/>
        </p:nvPicPr>
        <p:blipFill>
          <a:blip r:embed="rId3" cstate="print"/>
          <a:stretch>
            <a:fillRect/>
          </a:stretch>
        </p:blipFill>
        <p:spPr>
          <a:xfrm>
            <a:off x="228600" y="3770909"/>
            <a:ext cx="8703534" cy="28584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Feature Selection Methods</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Feature Selection Algorithms can be broadly classified into 3 classes </a:t>
            </a:r>
            <a:r>
              <a:rPr lang="en-US" sz="2800" dirty="0" smtClean="0">
                <a:latin typeface="Times New Roman" pitchFamily="18" charset="0"/>
                <a:cs typeface="Times New Roman" pitchFamily="18" charset="0"/>
              </a:rPr>
              <a:t>:</a:t>
            </a:r>
          </a:p>
          <a:p>
            <a:pPr lvl="1"/>
            <a:r>
              <a:rPr lang="en-US" sz="2400" dirty="0" smtClean="0">
                <a:latin typeface="Times New Roman" pitchFamily="18" charset="0"/>
                <a:cs typeface="Times New Roman" pitchFamily="18" charset="0"/>
              </a:rPr>
              <a:t>Filter Methods</a:t>
            </a:r>
          </a:p>
          <a:p>
            <a:pPr lvl="1"/>
            <a:r>
              <a:rPr lang="en-US" sz="2400" dirty="0" smtClean="0">
                <a:latin typeface="Times New Roman" pitchFamily="18" charset="0"/>
                <a:cs typeface="Times New Roman" pitchFamily="18" charset="0"/>
              </a:rPr>
              <a:t>Wrapper Methods</a:t>
            </a:r>
          </a:p>
          <a:p>
            <a:pPr lvl="1"/>
            <a:r>
              <a:rPr lang="en-US" sz="2400" dirty="0" smtClean="0">
                <a:latin typeface="Times New Roman" pitchFamily="18" charset="0"/>
                <a:cs typeface="Times New Roman" pitchFamily="18" charset="0"/>
              </a:rPr>
              <a:t>Embedded Methods</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9804224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4000" b="1" dirty="0" smtClean="0">
                <a:latin typeface="Times New Roman" pitchFamily="18" charset="0"/>
                <a:cs typeface="Times New Roman" pitchFamily="18" charset="0"/>
              </a:rPr>
              <a:t/>
            </a:r>
            <a:br>
              <a:rPr lang="en-US" sz="4000" b="1" dirty="0" smtClean="0">
                <a:latin typeface="Times New Roman" pitchFamily="18" charset="0"/>
                <a:cs typeface="Times New Roman" pitchFamily="18" charset="0"/>
              </a:rPr>
            </a:br>
            <a:r>
              <a:rPr lang="en-US" sz="4000" b="1" dirty="0" smtClean="0">
                <a:latin typeface="Times New Roman" pitchFamily="18" charset="0"/>
                <a:cs typeface="Times New Roman" pitchFamily="18" charset="0"/>
              </a:rPr>
              <a:t>Filter Methods</a:t>
            </a:r>
            <a:br>
              <a:rPr lang="en-US" sz="4000" b="1" dirty="0" smtClean="0">
                <a:latin typeface="Times New Roman" pitchFamily="18" charset="0"/>
                <a:cs typeface="Times New Roman" pitchFamily="18" charset="0"/>
              </a:rPr>
            </a:br>
            <a:endParaRPr lang="en-US" sz="4000" b="1" dirty="0"/>
          </a:p>
        </p:txBody>
      </p:sp>
      <p:sp>
        <p:nvSpPr>
          <p:cNvPr id="3" name="Content Placeholder 2"/>
          <p:cNvSpPr>
            <a:spLocks noGrp="1"/>
          </p:cNvSpPr>
          <p:nvPr>
            <p:ph idx="1"/>
          </p:nvPr>
        </p:nvSpPr>
        <p:spPr>
          <a:xfrm>
            <a:off x="457200" y="1295400"/>
            <a:ext cx="8229600" cy="4830763"/>
          </a:xfrm>
        </p:spPr>
        <p:txBody>
          <a:bodyPr>
            <a:normAutofit/>
          </a:bodyPr>
          <a:lstStyle/>
          <a:p>
            <a:pPr algn="just"/>
            <a:r>
              <a:rPr lang="en-US" sz="2400" dirty="0">
                <a:latin typeface="Times New Roman" pitchFamily="18" charset="0"/>
                <a:cs typeface="Times New Roman" pitchFamily="18" charset="0"/>
              </a:rPr>
              <a:t>purely Statistical in </a:t>
            </a:r>
            <a:r>
              <a:rPr lang="en-US" sz="2400" dirty="0" smtClean="0">
                <a:latin typeface="Times New Roman" pitchFamily="18" charset="0"/>
                <a:cs typeface="Times New Roman" pitchFamily="18" charset="0"/>
              </a:rPr>
              <a:t>nature.</a:t>
            </a:r>
          </a:p>
          <a:p>
            <a:pPr algn="just"/>
            <a:r>
              <a:rPr lang="en-US" sz="2400" dirty="0">
                <a:latin typeface="Times New Roman" pitchFamily="18" charset="0"/>
                <a:cs typeface="Times New Roman" pitchFamily="18" charset="0"/>
              </a:rPr>
              <a:t>used as a preprocessing step</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t</a:t>
            </a:r>
            <a:r>
              <a:rPr lang="en-US" sz="2400" dirty="0" smtClean="0">
                <a:latin typeface="Times New Roman" pitchFamily="18" charset="0"/>
                <a:cs typeface="Times New Roman" pitchFamily="18" charset="0"/>
              </a:rPr>
              <a:t>he </a:t>
            </a:r>
            <a:r>
              <a:rPr lang="en-US" sz="2400" dirty="0">
                <a:latin typeface="Times New Roman" pitchFamily="18" charset="0"/>
                <a:cs typeface="Times New Roman" pitchFamily="18" charset="0"/>
              </a:rPr>
              <a:t>selection of features is independent of any machine learning </a:t>
            </a:r>
            <a:r>
              <a:rPr lang="en-US" sz="2400" dirty="0" smtClean="0">
                <a:latin typeface="Times New Roman" pitchFamily="18" charset="0"/>
                <a:cs typeface="Times New Roman" pitchFamily="18" charset="0"/>
              </a:rPr>
              <a:t>algorithms.</a:t>
            </a:r>
          </a:p>
          <a:p>
            <a:pPr algn="just"/>
            <a:r>
              <a:rPr lang="en-US" sz="2400" dirty="0">
                <a:latin typeface="Times New Roman" pitchFamily="18" charset="0"/>
                <a:cs typeface="Times New Roman" pitchFamily="18" charset="0"/>
              </a:rPr>
              <a:t>features are selected on the basis of their scores in various statistical tests for their correlation with the outcome </a:t>
            </a:r>
            <a:r>
              <a:rPr lang="en-US" sz="2400" dirty="0" smtClean="0">
                <a:latin typeface="Times New Roman" pitchFamily="18" charset="0"/>
                <a:cs typeface="Times New Roman" pitchFamily="18" charset="0"/>
              </a:rPr>
              <a:t>variable.</a:t>
            </a:r>
          </a:p>
          <a:p>
            <a:pPr algn="just"/>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AutoShape 2" descr="https://www.analyticsvidhya.com/wp-content/uploads/2016/11/FS1.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object 9"/>
          <p:cNvPicPr/>
          <p:nvPr/>
        </p:nvPicPr>
        <p:blipFill>
          <a:blip r:embed="rId3" cstate="print"/>
          <a:stretch>
            <a:fillRect/>
          </a:stretch>
        </p:blipFill>
        <p:spPr>
          <a:xfrm>
            <a:off x="533400" y="4343400"/>
            <a:ext cx="8242300" cy="1366886"/>
          </a:xfrm>
          <a:prstGeom prst="rect">
            <a:avLst/>
          </a:prstGeom>
        </p:spPr>
      </p:pic>
    </p:spTree>
    <p:extLst>
      <p:ext uri="{BB962C8B-B14F-4D97-AF65-F5344CB8AC3E}">
        <p14:creationId xmlns:p14="http://schemas.microsoft.com/office/powerpoint/2010/main" xmlns="" val="2834716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buNone/>
            </a:pPr>
            <a:r>
              <a:rPr lang="en-US" sz="2400" b="1" u="sng" dirty="0" smtClean="0">
                <a:latin typeface="Times New Roman" pitchFamily="18" charset="0"/>
                <a:cs typeface="Times New Roman" pitchFamily="18" charset="0"/>
              </a:rPr>
              <a:t>Filter Method Techniques </a:t>
            </a:r>
            <a:endParaRPr lang="en-US" sz="2200" b="1" u="sng" dirty="0" smtClean="0">
              <a:latin typeface="Times New Roman" pitchFamily="18" charset="0"/>
              <a:cs typeface="Times New Roman" pitchFamily="18" charset="0"/>
            </a:endParaRPr>
          </a:p>
          <a:p>
            <a:pPr algn="just"/>
            <a:r>
              <a:rPr lang="en-US" sz="2200" b="1" dirty="0" smtClean="0">
                <a:latin typeface="Times New Roman" pitchFamily="18" charset="0"/>
                <a:cs typeface="Times New Roman" pitchFamily="18" charset="0"/>
              </a:rPr>
              <a:t>LDA</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Linear discriminant analysis is used to find a linear combination of features that characterizes or separates two or more classes (or levels) of a categorical variable.</a:t>
            </a:r>
          </a:p>
          <a:p>
            <a:pPr algn="just"/>
            <a:r>
              <a:rPr lang="en-US" sz="2200" b="1" dirty="0">
                <a:latin typeface="Times New Roman" pitchFamily="18" charset="0"/>
                <a:cs typeface="Times New Roman" pitchFamily="18" charset="0"/>
              </a:rPr>
              <a:t>ANOVA:</a:t>
            </a:r>
            <a:r>
              <a:rPr lang="en-US" sz="2200" dirty="0">
                <a:latin typeface="Times New Roman" pitchFamily="18" charset="0"/>
                <a:cs typeface="Times New Roman" pitchFamily="18" charset="0"/>
              </a:rPr>
              <a:t> ANOVA stands for Analysis of variance. It is similar to LDA except for the fact that it is operated using one or more categorical independent features and one continuous dependent feature. It provides a statistical test of whether the means of several groups are equal or not.</a:t>
            </a:r>
          </a:p>
          <a:p>
            <a:pPr algn="just"/>
            <a:r>
              <a:rPr lang="en-US" sz="2200" b="1" dirty="0">
                <a:latin typeface="Times New Roman" pitchFamily="18" charset="0"/>
                <a:cs typeface="Times New Roman" pitchFamily="18" charset="0"/>
              </a:rPr>
              <a:t>Chi-Square:</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a dependency test which helps us to determine </a:t>
            </a:r>
            <a:r>
              <a:rPr lang="en-US" sz="2200" dirty="0" smtClean="0">
                <a:latin typeface="Times New Roman" pitchFamily="18" charset="0"/>
                <a:cs typeface="Times New Roman" pitchFamily="18" charset="0"/>
              </a:rPr>
              <a:t>either </a:t>
            </a:r>
            <a:r>
              <a:rPr lang="en-US" sz="2200" dirty="0">
                <a:latin typeface="Times New Roman" pitchFamily="18" charset="0"/>
                <a:cs typeface="Times New Roman" pitchFamily="18" charset="0"/>
              </a:rPr>
              <a:t>there is any kind of dependence among the variables under observation or </a:t>
            </a:r>
            <a:r>
              <a:rPr lang="en-US" sz="2200" dirty="0" smtClean="0">
                <a:latin typeface="Times New Roman" pitchFamily="18" charset="0"/>
                <a:cs typeface="Times New Roman" pitchFamily="18" charset="0"/>
              </a:rPr>
              <a:t>not.</a:t>
            </a:r>
            <a:endParaRPr lang="en-US" sz="2200" dirty="0">
              <a:latin typeface="Times New Roman" pitchFamily="18" charset="0"/>
              <a:cs typeface="Times New Roman" pitchFamily="18" charset="0"/>
            </a:endParaRPr>
          </a:p>
          <a:p>
            <a:pPr algn="just"/>
            <a:r>
              <a:rPr lang="en-US" sz="2200" b="1" dirty="0" smtClean="0">
                <a:latin typeface="Times New Roman" pitchFamily="18" charset="0"/>
                <a:cs typeface="Times New Roman" pitchFamily="18" charset="0"/>
              </a:rPr>
              <a:t>Pearson’s </a:t>
            </a:r>
            <a:r>
              <a:rPr lang="en-US" sz="2200" b="1" dirty="0">
                <a:latin typeface="Times New Roman" pitchFamily="18" charset="0"/>
                <a:cs typeface="Times New Roman" pitchFamily="18" charset="0"/>
              </a:rPr>
              <a:t>Correlation:</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used as a measure for quantifying linear dependence between two continuous variables X and Y. Its value varies from -1 to +1. </a:t>
            </a:r>
          </a:p>
        </p:txBody>
      </p:sp>
    </p:spTree>
    <p:extLst>
      <p:ext uri="{BB962C8B-B14F-4D97-AF65-F5344CB8AC3E}">
        <p14:creationId xmlns:p14="http://schemas.microsoft.com/office/powerpoint/2010/main" xmlns="" val="7147781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Wrapper Method</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10200"/>
          </a:xfrm>
        </p:spPr>
        <p:txBody>
          <a:bodyPr>
            <a:normAutofit/>
          </a:bodyPr>
          <a:lstStyle/>
          <a:p>
            <a:r>
              <a:rPr lang="en-US" sz="2000" dirty="0">
                <a:latin typeface="Times New Roman" pitchFamily="18" charset="0"/>
                <a:cs typeface="Times New Roman" pitchFamily="18" charset="0"/>
              </a:rPr>
              <a:t>work on the basic principles of </a:t>
            </a:r>
            <a:r>
              <a:rPr lang="en-US" sz="2000" dirty="0" err="1" smtClean="0">
                <a:latin typeface="Times New Roman" pitchFamily="18" charset="0"/>
                <a:cs typeface="Times New Roman" pitchFamily="18" charset="0"/>
              </a:rPr>
              <a:t>Combinatorics</a:t>
            </a:r>
            <a:r>
              <a:rPr lang="en-US" sz="2000" dirty="0" smtClean="0">
                <a:latin typeface="Times New Roman" pitchFamily="18" charset="0"/>
                <a:cs typeface="Times New Roman" pitchFamily="18" charset="0"/>
              </a:rPr>
              <a:t>.</a:t>
            </a:r>
          </a:p>
          <a:p>
            <a:r>
              <a:rPr lang="en-US" sz="2000" dirty="0">
                <a:latin typeface="Times New Roman" pitchFamily="18" charset="0"/>
                <a:cs typeface="Times New Roman" pitchFamily="18" charset="0"/>
              </a:rPr>
              <a:t>the learning algorithm (classifier) itself is used to perform the Feature Selection and select the top </a:t>
            </a:r>
            <a:r>
              <a:rPr lang="en-US" sz="2000" dirty="0" smtClean="0">
                <a:latin typeface="Times New Roman" pitchFamily="18" charset="0"/>
                <a:cs typeface="Times New Roman" pitchFamily="18" charset="0"/>
              </a:rPr>
              <a:t>features.</a:t>
            </a:r>
          </a:p>
          <a:p>
            <a:r>
              <a:rPr lang="en-US" sz="2000" dirty="0" smtClean="0">
                <a:latin typeface="Times New Roman" pitchFamily="18" charset="0"/>
                <a:cs typeface="Times New Roman" pitchFamily="18" charset="0"/>
              </a:rPr>
              <a:t>Examples :</a:t>
            </a:r>
          </a:p>
          <a:p>
            <a:pPr lvl="1"/>
            <a:r>
              <a:rPr lang="en-US" sz="2000" dirty="0">
                <a:latin typeface="Times New Roman" pitchFamily="18" charset="0"/>
                <a:cs typeface="Times New Roman" pitchFamily="18" charset="0"/>
              </a:rPr>
              <a:t>forward feature </a:t>
            </a:r>
            <a:r>
              <a:rPr lang="en-US" sz="2000" dirty="0" smtClean="0">
                <a:latin typeface="Times New Roman" pitchFamily="18" charset="0"/>
                <a:cs typeface="Times New Roman" pitchFamily="18" charset="0"/>
              </a:rPr>
              <a:t>selection</a:t>
            </a:r>
          </a:p>
          <a:p>
            <a:pPr lvl="1"/>
            <a:r>
              <a:rPr lang="en-US" sz="2000" dirty="0" smtClean="0">
                <a:latin typeface="Times New Roman" pitchFamily="18" charset="0"/>
                <a:cs typeface="Times New Roman" pitchFamily="18" charset="0"/>
              </a:rPr>
              <a:t>backward </a:t>
            </a:r>
            <a:r>
              <a:rPr lang="en-US" sz="2000" dirty="0">
                <a:latin typeface="Times New Roman" pitchFamily="18" charset="0"/>
                <a:cs typeface="Times New Roman" pitchFamily="18" charset="0"/>
              </a:rPr>
              <a:t>feature </a:t>
            </a:r>
            <a:r>
              <a:rPr lang="en-US" sz="2000" dirty="0" smtClean="0">
                <a:latin typeface="Times New Roman" pitchFamily="18" charset="0"/>
                <a:cs typeface="Times New Roman" pitchFamily="18" charset="0"/>
              </a:rPr>
              <a:t>elimination</a:t>
            </a:r>
            <a:endParaRPr lang="en-US" sz="2400" dirty="0" smtClean="0">
              <a:latin typeface="Times New Roman" pitchFamily="18" charset="0"/>
              <a:cs typeface="Times New Roman" pitchFamily="18" charset="0"/>
            </a:endParaRPr>
          </a:p>
        </p:txBody>
      </p:sp>
      <p:pic>
        <p:nvPicPr>
          <p:cNvPr id="4" name="object 6"/>
          <p:cNvPicPr/>
          <p:nvPr/>
        </p:nvPicPr>
        <p:blipFill>
          <a:blip r:embed="rId3" cstate="print"/>
          <a:stretch>
            <a:fillRect/>
          </a:stretch>
        </p:blipFill>
        <p:spPr>
          <a:xfrm>
            <a:off x="1066800" y="3581400"/>
            <a:ext cx="7162800" cy="2971800"/>
          </a:xfrm>
          <a:prstGeom prst="rect">
            <a:avLst/>
          </a:prstGeom>
        </p:spPr>
      </p:pic>
    </p:spTree>
    <p:extLst>
      <p:ext uri="{BB962C8B-B14F-4D97-AF65-F5344CB8AC3E}">
        <p14:creationId xmlns:p14="http://schemas.microsoft.com/office/powerpoint/2010/main" xmlns="" val="12585223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lgn="just"/>
            <a:r>
              <a:rPr lang="en-US" sz="2400" b="1" dirty="0">
                <a:latin typeface="Times New Roman" pitchFamily="18" charset="0"/>
                <a:cs typeface="Times New Roman" pitchFamily="18" charset="0"/>
              </a:rPr>
              <a:t>Forward Selection:</a:t>
            </a:r>
            <a:r>
              <a:rPr lang="en-US" sz="2400" dirty="0">
                <a:latin typeface="Times New Roman" pitchFamily="18" charset="0"/>
                <a:cs typeface="Times New Roman" pitchFamily="18" charset="0"/>
              </a:rPr>
              <a:t> Forward selection is an iterative method in which we start with having no feature in the model. In each iteration, we keep adding the feature which best improves our model till an addition of a new variable does not improve the performance of the model.</a:t>
            </a:r>
          </a:p>
          <a:p>
            <a:pPr algn="just"/>
            <a:r>
              <a:rPr lang="en-US" sz="2400" b="1" dirty="0">
                <a:latin typeface="Times New Roman" pitchFamily="18" charset="0"/>
                <a:cs typeface="Times New Roman" pitchFamily="18" charset="0"/>
              </a:rPr>
              <a:t>Backward Elimination:</a:t>
            </a:r>
            <a:r>
              <a:rPr lang="en-US" sz="2400" dirty="0">
                <a:latin typeface="Times New Roman" pitchFamily="18" charset="0"/>
                <a:cs typeface="Times New Roman" pitchFamily="18" charset="0"/>
              </a:rPr>
              <a:t> In backward elimination, we start with all the features and removes the least significant feature at each iteration which improves the performance of the model. We repeat this until no improvement is observed on removal of features.</a:t>
            </a: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36175777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Embedded Methods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105400"/>
          </a:xfrm>
        </p:spPr>
        <p:txBody>
          <a:bodyPr>
            <a:noAutofit/>
          </a:bodyPr>
          <a:lstStyle/>
          <a:p>
            <a:r>
              <a:rPr lang="en-US" sz="2400" dirty="0">
                <a:latin typeface="Times New Roman" pitchFamily="18" charset="0"/>
                <a:cs typeface="Times New Roman" pitchFamily="18" charset="0"/>
              </a:rPr>
              <a:t>combine the </a:t>
            </a:r>
            <a:r>
              <a:rPr lang="en-US" sz="2400" dirty="0" smtClean="0">
                <a:latin typeface="Times New Roman" pitchFamily="18" charset="0"/>
                <a:cs typeface="Times New Roman" pitchFamily="18" charset="0"/>
              </a:rPr>
              <a:t>qualities of </a:t>
            </a:r>
            <a:r>
              <a:rPr lang="en-US" sz="2400" dirty="0">
                <a:latin typeface="Times New Roman" pitchFamily="18" charset="0"/>
                <a:cs typeface="Times New Roman" pitchFamily="18" charset="0"/>
              </a:rPr>
              <a:t>filter and wrapper methods</a:t>
            </a:r>
            <a:r>
              <a:rPr lang="en-US" sz="2400" dirty="0" smtClean="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dynamic Feature Selection </a:t>
            </a:r>
            <a:r>
              <a:rPr lang="en-US" sz="2400" dirty="0" smtClean="0">
                <a:latin typeface="Times New Roman" pitchFamily="18" charset="0"/>
                <a:cs typeface="Times New Roman" pitchFamily="18" charset="0"/>
              </a:rPr>
              <a:t>Methods.</a:t>
            </a:r>
          </a:p>
          <a:p>
            <a:pPr marL="12700">
              <a:lnSpc>
                <a:spcPct val="100000"/>
              </a:lnSpc>
              <a:spcBef>
                <a:spcPts val="100"/>
              </a:spcBef>
            </a:pPr>
            <a:r>
              <a:rPr lang="en-US" sz="2400" dirty="0" smtClean="0">
                <a:latin typeface="Times New Roman" pitchFamily="18" charset="0"/>
                <a:cs typeface="Times New Roman" pitchFamily="18" charset="0"/>
              </a:rPr>
              <a:t>Inherit the merits of wrapper and filter methods</a:t>
            </a:r>
          </a:p>
          <a:p>
            <a:pPr marL="249554" indent="-236854">
              <a:lnSpc>
                <a:spcPct val="100000"/>
              </a:lnSpc>
              <a:spcBef>
                <a:spcPts val="20"/>
              </a:spcBef>
              <a:buChar char="–"/>
              <a:tabLst>
                <a:tab pos="249554" algn="l"/>
              </a:tabLst>
            </a:pPr>
            <a:r>
              <a:rPr lang="en-US" sz="2400" dirty="0" smtClean="0">
                <a:latin typeface="Times New Roman" pitchFamily="18" charset="0"/>
                <a:cs typeface="Times New Roman" pitchFamily="18" charset="0"/>
              </a:rPr>
              <a:t>Include the interactions with the learning algorithm</a:t>
            </a:r>
          </a:p>
          <a:p>
            <a:pPr marL="249554" indent="-236854">
              <a:lnSpc>
                <a:spcPct val="100000"/>
              </a:lnSpc>
              <a:spcBef>
                <a:spcPts val="20"/>
              </a:spcBef>
              <a:buChar char="–"/>
              <a:tabLst>
                <a:tab pos="249554" algn="l"/>
              </a:tabLst>
            </a:pPr>
            <a:r>
              <a:rPr lang="en-US" sz="2400" dirty="0" smtClean="0">
                <a:latin typeface="Times New Roman" pitchFamily="18" charset="0"/>
                <a:cs typeface="Times New Roman" pitchFamily="18" charset="0"/>
              </a:rPr>
              <a:t>More efficient than wrapper methods</a:t>
            </a:r>
          </a:p>
          <a:p>
            <a:pPr algn="just"/>
            <a:r>
              <a:rPr lang="en-US" sz="2400" dirty="0" smtClean="0">
                <a:latin typeface="Times New Roman" pitchFamily="18" charset="0"/>
                <a:cs typeface="Times New Roman" pitchFamily="18" charset="0"/>
              </a:rPr>
              <a:t>Like wrapper methods, they are biased to the underlying learning algorithms</a:t>
            </a:r>
            <a:endParaRPr lang="en-US" sz="2400" dirty="0">
              <a:latin typeface="Times New Roman" pitchFamily="18" charset="0"/>
              <a:cs typeface="Times New Roman" pitchFamily="18" charset="0"/>
            </a:endParaRPr>
          </a:p>
        </p:txBody>
      </p:sp>
      <p:pic>
        <p:nvPicPr>
          <p:cNvPr id="4" name="object 9"/>
          <p:cNvPicPr/>
          <p:nvPr/>
        </p:nvPicPr>
        <p:blipFill>
          <a:blip r:embed="rId3" cstate="print"/>
          <a:stretch>
            <a:fillRect/>
          </a:stretch>
        </p:blipFill>
        <p:spPr>
          <a:xfrm>
            <a:off x="990600" y="4267200"/>
            <a:ext cx="6697788" cy="2061602"/>
          </a:xfrm>
          <a:prstGeom prst="rect">
            <a:avLst/>
          </a:prstGeom>
        </p:spPr>
      </p:pic>
    </p:spTree>
    <p:extLst>
      <p:ext uri="{BB962C8B-B14F-4D97-AF65-F5344CB8AC3E}">
        <p14:creationId xmlns:p14="http://schemas.microsoft.com/office/powerpoint/2010/main" xmlns="" val="25378301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spc="-180" dirty="0" smtClean="0">
                <a:latin typeface="Times New Roman" pitchFamily="18" charset="0"/>
                <a:cs typeface="Times New Roman" pitchFamily="18" charset="0"/>
              </a:rPr>
              <a:t>Selection</a:t>
            </a:r>
            <a:r>
              <a:rPr lang="en-US" b="1" spc="-355" dirty="0" smtClean="0">
                <a:latin typeface="Times New Roman" pitchFamily="18" charset="0"/>
                <a:cs typeface="Times New Roman" pitchFamily="18" charset="0"/>
              </a:rPr>
              <a:t> </a:t>
            </a:r>
            <a:r>
              <a:rPr lang="en-US" b="1" spc="-190" dirty="0" smtClean="0">
                <a:latin typeface="Times New Roman" pitchFamily="18" charset="0"/>
                <a:cs typeface="Times New Roman" pitchFamily="18" charset="0"/>
              </a:rPr>
              <a:t>Criteria</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lstStyle/>
          <a:p>
            <a:pPr lvl="0" algn="ctr">
              <a:buNone/>
            </a:pPr>
            <a:r>
              <a:rPr lang="en-US" spc="-245" dirty="0" smtClean="0">
                <a:latin typeface="Times New Roman" pitchFamily="18" charset="0"/>
                <a:cs typeface="Times New Roman" pitchFamily="18" charset="0"/>
              </a:rPr>
              <a:t>Traditional</a:t>
            </a:r>
            <a:r>
              <a:rPr lang="en-US" spc="-350" dirty="0" smtClean="0">
                <a:latin typeface="Times New Roman" pitchFamily="18" charset="0"/>
                <a:cs typeface="Times New Roman" pitchFamily="18" charset="0"/>
              </a:rPr>
              <a:t> </a:t>
            </a:r>
            <a:r>
              <a:rPr lang="en-US" spc="-254" dirty="0" smtClean="0">
                <a:latin typeface="Times New Roman" pitchFamily="18" charset="0"/>
                <a:cs typeface="Times New Roman" pitchFamily="18" charset="0"/>
              </a:rPr>
              <a:t>Feature</a:t>
            </a:r>
            <a:r>
              <a:rPr lang="en-US" spc="-345" dirty="0" smtClean="0">
                <a:latin typeface="Times New Roman" pitchFamily="18" charset="0"/>
                <a:cs typeface="Times New Roman" pitchFamily="18" charset="0"/>
              </a:rPr>
              <a:t> </a:t>
            </a:r>
            <a:r>
              <a:rPr lang="en-US" spc="-135" dirty="0" smtClean="0">
                <a:latin typeface="Times New Roman" pitchFamily="18" charset="0"/>
                <a:cs typeface="Times New Roman" pitchFamily="18" charset="0"/>
              </a:rPr>
              <a:t>Selection</a:t>
            </a:r>
          </a:p>
          <a:p>
            <a:endParaRPr lang="en-US" dirty="0">
              <a:latin typeface="Times New Roman" pitchFamily="18" charset="0"/>
              <a:cs typeface="Times New Roman" pitchFamily="18" charset="0"/>
            </a:endParaRPr>
          </a:p>
        </p:txBody>
      </p:sp>
      <p:sp>
        <p:nvSpPr>
          <p:cNvPr id="5" name="object 7"/>
          <p:cNvSpPr txBox="1">
            <a:spLocks noGrp="1"/>
          </p:cNvSpPr>
          <p:nvPr>
            <p:ph type="sldNum" sz="quarter" idx="4294967295"/>
          </p:nvPr>
        </p:nvSpPr>
        <p:spPr>
          <a:xfrm>
            <a:off x="6311900" y="9315805"/>
            <a:ext cx="364490" cy="265429"/>
          </a:xfrm>
          <a:prstGeom prst="rect">
            <a:avLst/>
          </a:prstGeom>
        </p:spPr>
        <p:txBody>
          <a:bodyPr vert="horz" wrap="square" lIns="0" tIns="5715" rIns="0" bIns="0" rtlCol="0">
            <a:spAutoFit/>
          </a:bodyPr>
          <a:lstStyle/>
          <a:p>
            <a:pPr marL="12700">
              <a:lnSpc>
                <a:spcPct val="100000"/>
              </a:lnSpc>
              <a:spcBef>
                <a:spcPts val="45"/>
              </a:spcBef>
            </a:pPr>
            <a:fld id="{81D60167-4931-47E6-BA6A-407CBD079E47}" type="slidenum">
              <a:rPr spc="-25" dirty="0"/>
              <a:pPr marL="12700">
                <a:lnSpc>
                  <a:spcPct val="100000"/>
                </a:lnSpc>
                <a:spcBef>
                  <a:spcPts val="45"/>
                </a:spcBef>
              </a:pPr>
              <a:t>19</a:t>
            </a:fld>
            <a:endParaRPr spc="-25" dirty="0"/>
          </a:p>
        </p:txBody>
      </p:sp>
      <p:sp>
        <p:nvSpPr>
          <p:cNvPr id="6" name="object 3"/>
          <p:cNvSpPr txBox="1"/>
          <p:nvPr/>
        </p:nvSpPr>
        <p:spPr>
          <a:xfrm>
            <a:off x="152400" y="2590800"/>
            <a:ext cx="2885440" cy="1079655"/>
          </a:xfrm>
          <a:prstGeom prst="rect">
            <a:avLst/>
          </a:prstGeom>
          <a:solidFill>
            <a:srgbClr val="61D836"/>
          </a:solidFill>
        </p:spPr>
        <p:txBody>
          <a:bodyPr vert="horz" wrap="square" lIns="0" tIns="284480" rIns="0" bIns="0" rtlCol="0">
            <a:spAutoFit/>
          </a:bodyPr>
          <a:lstStyle/>
          <a:p>
            <a:pPr marL="870585" marR="403225" indent="-457200">
              <a:lnSpc>
                <a:spcPct val="102299"/>
              </a:lnSpc>
              <a:spcBef>
                <a:spcPts val="2240"/>
              </a:spcBef>
            </a:pPr>
            <a:r>
              <a:rPr sz="2600" spc="-120" dirty="0">
                <a:solidFill>
                  <a:srgbClr val="FFFFFF"/>
                </a:solidFill>
                <a:latin typeface="Times New Roman" pitchFamily="18" charset="0"/>
                <a:cs typeface="Times New Roman" pitchFamily="18" charset="0"/>
              </a:rPr>
              <a:t>Similarity </a:t>
            </a:r>
            <a:r>
              <a:rPr sz="2600" spc="-60" dirty="0">
                <a:solidFill>
                  <a:srgbClr val="FFFFFF"/>
                </a:solidFill>
                <a:latin typeface="Times New Roman" pitchFamily="18" charset="0"/>
                <a:cs typeface="Times New Roman" pitchFamily="18" charset="0"/>
              </a:rPr>
              <a:t>based </a:t>
            </a:r>
            <a:r>
              <a:rPr sz="2600" spc="-10" dirty="0">
                <a:solidFill>
                  <a:srgbClr val="FFFFFF"/>
                </a:solidFill>
                <a:latin typeface="Times New Roman" pitchFamily="18" charset="0"/>
                <a:cs typeface="Times New Roman" pitchFamily="18" charset="0"/>
              </a:rPr>
              <a:t>methods</a:t>
            </a:r>
            <a:endParaRPr sz="2600">
              <a:latin typeface="Times New Roman" pitchFamily="18" charset="0"/>
              <a:cs typeface="Times New Roman" pitchFamily="18" charset="0"/>
            </a:endParaRPr>
          </a:p>
        </p:txBody>
      </p:sp>
      <p:sp>
        <p:nvSpPr>
          <p:cNvPr id="7" name="object 4"/>
          <p:cNvSpPr txBox="1"/>
          <p:nvPr/>
        </p:nvSpPr>
        <p:spPr>
          <a:xfrm>
            <a:off x="3200400" y="2590800"/>
            <a:ext cx="2885440" cy="1136465"/>
          </a:xfrm>
          <a:prstGeom prst="rect">
            <a:avLst/>
          </a:prstGeom>
          <a:solidFill>
            <a:srgbClr val="000000"/>
          </a:solidFill>
        </p:spPr>
        <p:txBody>
          <a:bodyPr vert="horz" wrap="square" lIns="0" tIns="119380" rIns="0" bIns="0" rtlCol="0">
            <a:spAutoFit/>
          </a:bodyPr>
          <a:lstStyle/>
          <a:p>
            <a:pPr marL="286385" marR="281305" indent="3810" algn="ctr">
              <a:lnSpc>
                <a:spcPct val="102299"/>
              </a:lnSpc>
              <a:spcBef>
                <a:spcPts val="940"/>
              </a:spcBef>
            </a:pPr>
            <a:r>
              <a:rPr sz="2200" spc="-50" dirty="0">
                <a:solidFill>
                  <a:srgbClr val="FFFFFF"/>
                </a:solidFill>
                <a:latin typeface="Times New Roman" pitchFamily="18" charset="0"/>
                <a:cs typeface="Times New Roman" pitchFamily="18" charset="0"/>
              </a:rPr>
              <a:t>Information </a:t>
            </a:r>
            <a:r>
              <a:rPr sz="2200" spc="-90" dirty="0">
                <a:solidFill>
                  <a:srgbClr val="FFFFFF"/>
                </a:solidFill>
                <a:latin typeface="Times New Roman" pitchFamily="18" charset="0"/>
                <a:cs typeface="Times New Roman" pitchFamily="18" charset="0"/>
              </a:rPr>
              <a:t>Theoretical</a:t>
            </a:r>
            <a:r>
              <a:rPr sz="2200" spc="-135" dirty="0">
                <a:solidFill>
                  <a:srgbClr val="FFFFFF"/>
                </a:solidFill>
                <a:latin typeface="Times New Roman" pitchFamily="18" charset="0"/>
                <a:cs typeface="Times New Roman" pitchFamily="18" charset="0"/>
              </a:rPr>
              <a:t> </a:t>
            </a:r>
            <a:r>
              <a:rPr sz="2200" spc="-50" dirty="0">
                <a:solidFill>
                  <a:srgbClr val="FFFFFF"/>
                </a:solidFill>
                <a:latin typeface="Times New Roman" pitchFamily="18" charset="0"/>
                <a:cs typeface="Times New Roman" pitchFamily="18" charset="0"/>
              </a:rPr>
              <a:t>based </a:t>
            </a:r>
            <a:r>
              <a:rPr sz="2200" spc="-10" dirty="0">
                <a:solidFill>
                  <a:srgbClr val="FFFFFF"/>
                </a:solidFill>
                <a:latin typeface="Times New Roman" pitchFamily="18" charset="0"/>
                <a:cs typeface="Times New Roman" pitchFamily="18" charset="0"/>
              </a:rPr>
              <a:t>methods</a:t>
            </a:r>
            <a:endParaRPr sz="2200">
              <a:latin typeface="Times New Roman" pitchFamily="18" charset="0"/>
              <a:cs typeface="Times New Roman" pitchFamily="18" charset="0"/>
            </a:endParaRPr>
          </a:p>
        </p:txBody>
      </p:sp>
      <p:sp>
        <p:nvSpPr>
          <p:cNvPr id="8" name="object 5"/>
          <p:cNvSpPr txBox="1"/>
          <p:nvPr/>
        </p:nvSpPr>
        <p:spPr>
          <a:xfrm>
            <a:off x="6258560" y="2590800"/>
            <a:ext cx="2885440" cy="1018677"/>
          </a:xfrm>
          <a:prstGeom prst="rect">
            <a:avLst/>
          </a:prstGeom>
          <a:solidFill>
            <a:srgbClr val="000000"/>
          </a:solidFill>
        </p:spPr>
        <p:txBody>
          <a:bodyPr vert="horz" wrap="square" lIns="0" tIns="284480" rIns="0" bIns="0" rtlCol="0">
            <a:spAutoFit/>
          </a:bodyPr>
          <a:lstStyle/>
          <a:p>
            <a:pPr marL="438784" marR="377190" indent="-50800">
              <a:lnSpc>
                <a:spcPct val="102299"/>
              </a:lnSpc>
              <a:spcBef>
                <a:spcPts val="2240"/>
              </a:spcBef>
            </a:pPr>
            <a:r>
              <a:rPr sz="2400" spc="-90" dirty="0">
                <a:solidFill>
                  <a:srgbClr val="FFFFFF"/>
                </a:solidFill>
                <a:latin typeface="Times New Roman" pitchFamily="18" charset="0"/>
                <a:cs typeface="Times New Roman" pitchFamily="18" charset="0"/>
              </a:rPr>
              <a:t>Sparse</a:t>
            </a:r>
            <a:r>
              <a:rPr sz="2400" spc="-160" dirty="0">
                <a:solidFill>
                  <a:srgbClr val="FFFFFF"/>
                </a:solidFill>
                <a:latin typeface="Times New Roman" pitchFamily="18" charset="0"/>
                <a:cs typeface="Times New Roman" pitchFamily="18" charset="0"/>
              </a:rPr>
              <a:t> </a:t>
            </a:r>
            <a:r>
              <a:rPr sz="2400" spc="-85" dirty="0">
                <a:solidFill>
                  <a:srgbClr val="FFFFFF"/>
                </a:solidFill>
                <a:latin typeface="Times New Roman" pitchFamily="18" charset="0"/>
                <a:cs typeface="Times New Roman" pitchFamily="18" charset="0"/>
              </a:rPr>
              <a:t>Learning </a:t>
            </a:r>
            <a:r>
              <a:rPr sz="2400" spc="-55" dirty="0">
                <a:solidFill>
                  <a:srgbClr val="FFFFFF"/>
                </a:solidFill>
                <a:latin typeface="Times New Roman" pitchFamily="18" charset="0"/>
                <a:cs typeface="Times New Roman" pitchFamily="18" charset="0"/>
              </a:rPr>
              <a:t>based</a:t>
            </a:r>
            <a:r>
              <a:rPr sz="2400" spc="-155" dirty="0">
                <a:solidFill>
                  <a:srgbClr val="FFFFFF"/>
                </a:solidFill>
                <a:latin typeface="Times New Roman" pitchFamily="18" charset="0"/>
                <a:cs typeface="Times New Roman" pitchFamily="18" charset="0"/>
              </a:rPr>
              <a:t> </a:t>
            </a:r>
            <a:r>
              <a:rPr sz="2400" spc="-45" dirty="0">
                <a:solidFill>
                  <a:srgbClr val="FFFFFF"/>
                </a:solidFill>
                <a:latin typeface="Times New Roman" pitchFamily="18" charset="0"/>
                <a:cs typeface="Times New Roman" pitchFamily="18" charset="0"/>
              </a:rPr>
              <a:t>methods</a:t>
            </a:r>
            <a:endParaRPr sz="2400">
              <a:latin typeface="Times New Roman" pitchFamily="18" charset="0"/>
              <a:cs typeface="Times New Roman" pitchFamily="18" charset="0"/>
            </a:endParaRPr>
          </a:p>
        </p:txBody>
      </p:sp>
      <p:sp>
        <p:nvSpPr>
          <p:cNvPr id="9" name="object 6"/>
          <p:cNvSpPr txBox="1"/>
          <p:nvPr/>
        </p:nvSpPr>
        <p:spPr>
          <a:xfrm>
            <a:off x="3429000" y="4343400"/>
            <a:ext cx="2885440" cy="1140505"/>
          </a:xfrm>
          <a:prstGeom prst="rect">
            <a:avLst/>
          </a:prstGeom>
          <a:solidFill>
            <a:srgbClr val="000000"/>
          </a:solidFill>
        </p:spPr>
        <p:txBody>
          <a:bodyPr vert="horz" wrap="square" lIns="0" tIns="284480" rIns="0" bIns="0" rtlCol="0">
            <a:spAutoFit/>
          </a:bodyPr>
          <a:lstStyle/>
          <a:p>
            <a:pPr marL="870585" marR="366395" indent="-508000">
              <a:lnSpc>
                <a:spcPct val="102299"/>
              </a:lnSpc>
              <a:spcBef>
                <a:spcPts val="2240"/>
              </a:spcBef>
            </a:pPr>
            <a:r>
              <a:rPr sz="2800" spc="-85" dirty="0">
                <a:solidFill>
                  <a:srgbClr val="FFFFFF"/>
                </a:solidFill>
                <a:latin typeface="Times New Roman" pitchFamily="18" charset="0"/>
                <a:cs typeface="Times New Roman" pitchFamily="18" charset="0"/>
              </a:rPr>
              <a:t>Statistical</a:t>
            </a:r>
            <a:r>
              <a:rPr sz="2800" spc="-100" dirty="0">
                <a:solidFill>
                  <a:srgbClr val="FFFFFF"/>
                </a:solidFill>
                <a:latin typeface="Times New Roman" pitchFamily="18" charset="0"/>
                <a:cs typeface="Times New Roman" pitchFamily="18" charset="0"/>
              </a:rPr>
              <a:t> </a:t>
            </a:r>
            <a:r>
              <a:rPr sz="2800" spc="-55" dirty="0">
                <a:solidFill>
                  <a:srgbClr val="FFFFFF"/>
                </a:solidFill>
                <a:latin typeface="Times New Roman" pitchFamily="18" charset="0"/>
                <a:cs typeface="Times New Roman" pitchFamily="18" charset="0"/>
              </a:rPr>
              <a:t>based </a:t>
            </a:r>
            <a:r>
              <a:rPr sz="2800" spc="-10" dirty="0">
                <a:solidFill>
                  <a:srgbClr val="FFFFFF"/>
                </a:solidFill>
                <a:latin typeface="Times New Roman" pitchFamily="18" charset="0"/>
                <a:cs typeface="Times New Roman" pitchFamily="18" charset="0"/>
              </a:rPr>
              <a:t>methods</a:t>
            </a:r>
            <a:endParaRPr sz="280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290" dirty="0" smtClean="0">
                <a:latin typeface="Times New Roman" pitchFamily="18" charset="0"/>
                <a:cs typeface="Times New Roman" pitchFamily="18" charset="0"/>
              </a:rPr>
              <a:t>Similarity</a:t>
            </a:r>
            <a:r>
              <a:rPr lang="en-US" b="1" spc="-335" dirty="0" smtClean="0">
                <a:latin typeface="Times New Roman" pitchFamily="18" charset="0"/>
                <a:cs typeface="Times New Roman" pitchFamily="18" charset="0"/>
              </a:rPr>
              <a:t> </a:t>
            </a:r>
            <a:r>
              <a:rPr lang="en-US" b="1" spc="-125" dirty="0" smtClean="0">
                <a:latin typeface="Times New Roman" pitchFamily="18" charset="0"/>
                <a:cs typeface="Times New Roman" pitchFamily="18" charset="0"/>
              </a:rPr>
              <a:t>based</a:t>
            </a:r>
            <a:r>
              <a:rPr lang="en-US" b="1" spc="-335" dirty="0" smtClean="0">
                <a:latin typeface="Times New Roman" pitchFamily="18" charset="0"/>
                <a:cs typeface="Times New Roman" pitchFamily="18" charset="0"/>
              </a:rPr>
              <a:t> </a:t>
            </a:r>
            <a:r>
              <a:rPr lang="en-US" b="1" spc="-254" dirty="0" smtClean="0">
                <a:latin typeface="Times New Roman" pitchFamily="18" charset="0"/>
                <a:cs typeface="Times New Roman" pitchFamily="18" charset="0"/>
              </a:rPr>
              <a:t>Feature</a:t>
            </a:r>
            <a:r>
              <a:rPr lang="en-US" b="1" spc="-335" dirty="0" smtClean="0">
                <a:latin typeface="Times New Roman" pitchFamily="18" charset="0"/>
                <a:cs typeface="Times New Roman" pitchFamily="18" charset="0"/>
              </a:rPr>
              <a:t> </a:t>
            </a:r>
            <a:r>
              <a:rPr lang="en-US" b="1" spc="-110" dirty="0" smtClean="0">
                <a:latin typeface="Times New Roman" pitchFamily="18" charset="0"/>
                <a:cs typeface="Times New Roman" pitchFamily="18" charset="0"/>
              </a:rPr>
              <a:t>Selection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458200" cy="5334000"/>
          </a:xfrm>
        </p:spPr>
        <p:txBody>
          <a:bodyPr>
            <a:normAutofit/>
          </a:bodyPr>
          <a:lstStyle/>
          <a:p>
            <a:r>
              <a:rPr lang="en-US" sz="2400" spc="-45" dirty="0" smtClean="0">
                <a:latin typeface="Times New Roman" pitchFamily="18" charset="0"/>
                <a:cs typeface="Times New Roman" pitchFamily="18" charset="0"/>
              </a:rPr>
              <a:t>Similarity</a:t>
            </a:r>
            <a:r>
              <a:rPr lang="en-US" sz="2400" spc="-65" dirty="0" smtClean="0">
                <a:latin typeface="Times New Roman" pitchFamily="18" charset="0"/>
                <a:cs typeface="Times New Roman" pitchFamily="18" charset="0"/>
              </a:rPr>
              <a:t> </a:t>
            </a:r>
            <a:r>
              <a:rPr lang="en-US" sz="2400" spc="70" dirty="0" smtClean="0">
                <a:latin typeface="Times New Roman" pitchFamily="18" charset="0"/>
                <a:cs typeface="Times New Roman" pitchFamily="18" charset="0"/>
              </a:rPr>
              <a:t>based</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methods</a:t>
            </a:r>
            <a:r>
              <a:rPr lang="en-US" sz="2400" spc="-65" dirty="0" smtClean="0">
                <a:latin typeface="Times New Roman" pitchFamily="18" charset="0"/>
                <a:cs typeface="Times New Roman" pitchFamily="18" charset="0"/>
              </a:rPr>
              <a:t> </a:t>
            </a:r>
            <a:r>
              <a:rPr lang="en-US" sz="2400" spc="140" dirty="0" smtClean="0">
                <a:latin typeface="Times New Roman" pitchFamily="18" charset="0"/>
                <a:cs typeface="Times New Roman" pitchFamily="18" charset="0"/>
              </a:rPr>
              <a:t>assess</a:t>
            </a:r>
            <a:r>
              <a:rPr lang="en-US" sz="2400" spc="-6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6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importance</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of</a:t>
            </a:r>
            <a:r>
              <a:rPr lang="en-US" sz="2400" spc="-6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by</a:t>
            </a:r>
            <a:r>
              <a:rPr lang="en-US" sz="2400" spc="-65" dirty="0" smtClean="0">
                <a:latin typeface="Times New Roman" pitchFamily="18" charset="0"/>
                <a:cs typeface="Times New Roman" pitchFamily="18" charset="0"/>
              </a:rPr>
              <a:t> </a:t>
            </a:r>
            <a:r>
              <a:rPr lang="en-US" sz="2400" spc="-100" dirty="0" smtClean="0">
                <a:latin typeface="Times New Roman" pitchFamily="18" charset="0"/>
                <a:cs typeface="Times New Roman" pitchFamily="18" charset="0"/>
              </a:rPr>
              <a:t>their</a:t>
            </a:r>
            <a:r>
              <a:rPr lang="en-US" sz="2400" spc="-65" dirty="0" smtClean="0">
                <a:latin typeface="Times New Roman" pitchFamily="18" charset="0"/>
                <a:cs typeface="Times New Roman" pitchFamily="18" charset="0"/>
              </a:rPr>
              <a:t> </a:t>
            </a:r>
            <a:r>
              <a:rPr lang="en-US" sz="2400" spc="-90" dirty="0" smtClean="0">
                <a:latin typeface="Times New Roman" pitchFamily="18" charset="0"/>
                <a:cs typeface="Times New Roman" pitchFamily="18" charset="0"/>
              </a:rPr>
              <a:t>ability</a:t>
            </a:r>
            <a:r>
              <a:rPr lang="en-US" sz="2400" spc="-6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to </a:t>
            </a:r>
            <a:r>
              <a:rPr lang="en-US" sz="2400" dirty="0" smtClean="0">
                <a:latin typeface="Times New Roman" pitchFamily="18" charset="0"/>
                <a:cs typeface="Times New Roman" pitchFamily="18" charset="0"/>
              </a:rPr>
              <a:t>preserve</a:t>
            </a:r>
            <a:r>
              <a:rPr lang="en-US" sz="2400" spc="-1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data</a:t>
            </a:r>
            <a:r>
              <a:rPr lang="en-US" sz="2400" spc="-16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similarity</a:t>
            </a:r>
            <a:endParaRPr lang="en-US" sz="2400" dirty="0" smtClean="0">
              <a:latin typeface="Times New Roman" pitchFamily="18" charset="0"/>
              <a:cs typeface="Times New Roman" pitchFamily="18" charset="0"/>
            </a:endParaRPr>
          </a:p>
          <a:p>
            <a:r>
              <a:rPr lang="en-US" sz="2400" spc="140" dirty="0" smtClean="0">
                <a:latin typeface="Times New Roman" pitchFamily="18" charset="0"/>
                <a:cs typeface="Times New Roman" pitchFamily="18" charset="0"/>
              </a:rPr>
              <a:t>A</a:t>
            </a:r>
            <a:r>
              <a:rPr lang="en-US" sz="2400" spc="-75" dirty="0" smtClean="0">
                <a:latin typeface="Times New Roman" pitchFamily="18" charset="0"/>
                <a:cs typeface="Times New Roman" pitchFamily="18" charset="0"/>
              </a:rPr>
              <a:t> </a:t>
            </a:r>
            <a:r>
              <a:rPr lang="en-US" sz="2400" spc="100" dirty="0" smtClean="0">
                <a:latin typeface="Times New Roman" pitchFamily="18" charset="0"/>
                <a:cs typeface="Times New Roman" pitchFamily="18" charset="0"/>
              </a:rPr>
              <a:t>good</a:t>
            </a:r>
            <a:r>
              <a:rPr lang="en-US" sz="2400" spc="-7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feature</a:t>
            </a:r>
            <a:r>
              <a:rPr lang="en-US" sz="2400" spc="-7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should</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not</a:t>
            </a:r>
            <a:r>
              <a:rPr lang="en-US" sz="2400" spc="-7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randomly</a:t>
            </a:r>
            <a:r>
              <a:rPr lang="en-US" sz="2400" spc="-7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assign</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values</a:t>
            </a:r>
            <a:r>
              <a:rPr lang="en-US" sz="2400" spc="-7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to</a:t>
            </a:r>
            <a:r>
              <a:rPr lang="en-US" sz="2400" spc="-7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data</a:t>
            </a:r>
            <a:r>
              <a:rPr lang="en-US" sz="2400" spc="-7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instances</a:t>
            </a:r>
            <a:endParaRPr lang="en-US" sz="2400" dirty="0" smtClean="0">
              <a:latin typeface="Times New Roman" pitchFamily="18" charset="0"/>
              <a:cs typeface="Times New Roman" pitchFamily="18" charset="0"/>
            </a:endParaRPr>
          </a:p>
          <a:p>
            <a:r>
              <a:rPr lang="en-US" sz="2400" spc="140" dirty="0" smtClean="0">
                <a:latin typeface="Times New Roman" pitchFamily="18" charset="0"/>
                <a:cs typeface="Times New Roman" pitchFamily="18" charset="0"/>
              </a:rPr>
              <a:t>A</a:t>
            </a:r>
            <a:r>
              <a:rPr lang="en-US" sz="2400" spc="-30" dirty="0" smtClean="0">
                <a:latin typeface="Times New Roman" pitchFamily="18" charset="0"/>
                <a:cs typeface="Times New Roman" pitchFamily="18" charset="0"/>
              </a:rPr>
              <a:t> </a:t>
            </a:r>
            <a:r>
              <a:rPr lang="en-US" sz="2400" spc="100" dirty="0" smtClean="0">
                <a:latin typeface="Times New Roman" pitchFamily="18" charset="0"/>
                <a:cs typeface="Times New Roman" pitchFamily="18" charset="0"/>
              </a:rPr>
              <a:t>good</a:t>
            </a:r>
            <a:r>
              <a:rPr lang="en-US" sz="2400" spc="-2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feature</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should</a:t>
            </a:r>
            <a:r>
              <a:rPr lang="en-US" sz="2400" spc="-2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assign</a:t>
            </a:r>
            <a:r>
              <a:rPr lang="en-US" sz="2400" spc="-2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similar</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values</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to</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instances</a:t>
            </a:r>
            <a:r>
              <a:rPr lang="en-US" sz="2400" spc="-30" dirty="0" smtClean="0">
                <a:latin typeface="Times New Roman" pitchFamily="18" charset="0"/>
                <a:cs typeface="Times New Roman" pitchFamily="18" charset="0"/>
              </a:rPr>
              <a:t> </a:t>
            </a:r>
            <a:r>
              <a:rPr lang="en-US" sz="2400" spc="-80" dirty="0" smtClean="0">
                <a:latin typeface="Times New Roman" pitchFamily="18" charset="0"/>
                <a:cs typeface="Times New Roman" pitchFamily="18" charset="0"/>
              </a:rPr>
              <a:t>that</a:t>
            </a:r>
            <a:r>
              <a:rPr lang="en-US" sz="2400" spc="-25" dirty="0" smtClean="0">
                <a:latin typeface="Times New Roman" pitchFamily="18" charset="0"/>
                <a:cs typeface="Times New Roman" pitchFamily="18" charset="0"/>
              </a:rPr>
              <a:t> </a:t>
            </a:r>
            <a:r>
              <a:rPr lang="en-US" sz="2400" spc="-45" dirty="0" smtClean="0">
                <a:latin typeface="Times New Roman" pitchFamily="18" charset="0"/>
                <a:cs typeface="Times New Roman" pitchFamily="18" charset="0"/>
              </a:rPr>
              <a:t>are</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close</a:t>
            </a:r>
            <a:r>
              <a:rPr lang="en-US" sz="2400" spc="-25" dirty="0" smtClean="0">
                <a:latin typeface="Times New Roman" pitchFamily="18" charset="0"/>
                <a:cs typeface="Times New Roman" pitchFamily="18" charset="0"/>
              </a:rPr>
              <a:t> to </a:t>
            </a:r>
            <a:r>
              <a:rPr lang="en-US" sz="2400" dirty="0" smtClean="0">
                <a:latin typeface="Times New Roman" pitchFamily="18" charset="0"/>
                <a:cs typeface="Times New Roman" pitchFamily="18" charset="0"/>
              </a:rPr>
              <a:t>each</a:t>
            </a:r>
            <a:r>
              <a:rPr lang="en-US" sz="2400" spc="-6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other</a:t>
            </a:r>
            <a:r>
              <a:rPr lang="en-US" sz="2400" spc="-60" dirty="0" smtClean="0">
                <a:latin typeface="Times New Roman" pitchFamily="18" charset="0"/>
                <a:cs typeface="Times New Roman" pitchFamily="18" charset="0"/>
              </a:rPr>
              <a:t> </a:t>
            </a:r>
            <a:r>
              <a:rPr lang="en-US" sz="2400" spc="310" dirty="0" smtClean="0">
                <a:latin typeface="Times New Roman" pitchFamily="18" charset="0"/>
                <a:cs typeface="Times New Roman" pitchFamily="18" charset="0"/>
              </a:rPr>
              <a:t>–</a:t>
            </a:r>
            <a:r>
              <a:rPr lang="en-US" sz="2400" spc="-60" dirty="0" smtClean="0">
                <a:latin typeface="Times New Roman" pitchFamily="18" charset="0"/>
                <a:cs typeface="Times New Roman" pitchFamily="18" charset="0"/>
              </a:rPr>
              <a:t> </a:t>
            </a:r>
            <a:r>
              <a:rPr lang="en-US" sz="2400" spc="-130" dirty="0" smtClean="0">
                <a:latin typeface="Times New Roman" pitchFamily="18" charset="0"/>
                <a:cs typeface="Times New Roman" pitchFamily="18" charset="0"/>
              </a:rPr>
              <a:t>(the</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“closeness”</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obtained</a:t>
            </a:r>
            <a:r>
              <a:rPr lang="en-US" sz="2400" spc="-60"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from</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data</a:t>
            </a:r>
            <a:r>
              <a:rPr lang="en-US" sz="2400" spc="-6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similarity </a:t>
            </a:r>
            <a:r>
              <a:rPr lang="en-US" sz="2400" spc="-10" dirty="0" smtClean="0">
                <a:latin typeface="Times New Roman" pitchFamily="18" charset="0"/>
                <a:cs typeface="Times New Roman" pitchFamily="18" charset="0"/>
              </a:rPr>
              <a:t>matrix)</a:t>
            </a:r>
          </a:p>
          <a:p>
            <a:endParaRPr lang="en-US" sz="2400"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4" name="object 8"/>
          <p:cNvPicPr/>
          <p:nvPr/>
        </p:nvPicPr>
        <p:blipFill>
          <a:blip r:embed="rId3" cstate="print"/>
          <a:stretch>
            <a:fillRect/>
          </a:stretch>
        </p:blipFill>
        <p:spPr>
          <a:xfrm>
            <a:off x="685801" y="4226109"/>
            <a:ext cx="4038600" cy="2250891"/>
          </a:xfrm>
          <a:prstGeom prst="rect">
            <a:avLst/>
          </a:prstGeom>
        </p:spPr>
      </p:pic>
      <p:sp>
        <p:nvSpPr>
          <p:cNvPr id="5" name="Rectangle 4"/>
          <p:cNvSpPr/>
          <p:nvPr/>
        </p:nvSpPr>
        <p:spPr>
          <a:xfrm>
            <a:off x="4953000" y="4724400"/>
            <a:ext cx="3962400" cy="646331"/>
          </a:xfrm>
          <a:prstGeom prst="rect">
            <a:avLst/>
          </a:prstGeom>
        </p:spPr>
        <p:txBody>
          <a:bodyPr wrap="square">
            <a:spAutoFit/>
          </a:bodyPr>
          <a:lstStyle/>
          <a:p>
            <a:pPr marL="342900" marR="5080" indent="-330200">
              <a:lnSpc>
                <a:spcPct val="100000"/>
              </a:lnSpc>
              <a:spcBef>
                <a:spcPts val="100"/>
              </a:spcBef>
            </a:pPr>
            <a:r>
              <a:rPr lang="en-US" b="1" dirty="0" smtClean="0">
                <a:latin typeface="Times New Roman"/>
                <a:cs typeface="Times New Roman"/>
              </a:rPr>
              <a:t>Different</a:t>
            </a:r>
            <a:r>
              <a:rPr lang="en-US" b="1" spc="-50" dirty="0" smtClean="0">
                <a:latin typeface="Times New Roman"/>
                <a:cs typeface="Times New Roman"/>
              </a:rPr>
              <a:t> </a:t>
            </a:r>
            <a:r>
              <a:rPr lang="en-US" b="1" dirty="0" smtClean="0">
                <a:latin typeface="Times New Roman"/>
                <a:cs typeface="Times New Roman"/>
              </a:rPr>
              <a:t>shapes</a:t>
            </a:r>
            <a:r>
              <a:rPr lang="en-US" b="1" spc="-50" dirty="0" smtClean="0">
                <a:latin typeface="Times New Roman"/>
                <a:cs typeface="Times New Roman"/>
              </a:rPr>
              <a:t> </a:t>
            </a:r>
            <a:r>
              <a:rPr lang="en-US" b="1" dirty="0" smtClean="0">
                <a:latin typeface="Times New Roman"/>
                <a:cs typeface="Times New Roman"/>
              </a:rPr>
              <a:t>denote</a:t>
            </a:r>
            <a:r>
              <a:rPr lang="en-US" b="1" spc="-50" dirty="0" smtClean="0">
                <a:latin typeface="Times New Roman"/>
                <a:cs typeface="Times New Roman"/>
              </a:rPr>
              <a:t> </a:t>
            </a:r>
            <a:r>
              <a:rPr lang="en-US" b="1" spc="-10" dirty="0" smtClean="0">
                <a:latin typeface="Times New Roman"/>
                <a:cs typeface="Times New Roman"/>
              </a:rPr>
              <a:t>different </a:t>
            </a:r>
            <a:r>
              <a:rPr lang="en-US" b="1" dirty="0" smtClean="0">
                <a:latin typeface="Times New Roman"/>
                <a:cs typeface="Times New Roman"/>
              </a:rPr>
              <a:t>values</a:t>
            </a:r>
            <a:r>
              <a:rPr lang="en-US" b="1" spc="-20" dirty="0" smtClean="0">
                <a:latin typeface="Times New Roman"/>
                <a:cs typeface="Times New Roman"/>
              </a:rPr>
              <a:t> </a:t>
            </a:r>
            <a:r>
              <a:rPr lang="en-US" b="1" dirty="0" smtClean="0">
                <a:latin typeface="Times New Roman"/>
                <a:cs typeface="Times New Roman"/>
              </a:rPr>
              <a:t>assigned</a:t>
            </a:r>
            <a:r>
              <a:rPr lang="en-US" b="1" spc="-20" dirty="0" smtClean="0">
                <a:latin typeface="Times New Roman"/>
                <a:cs typeface="Times New Roman"/>
              </a:rPr>
              <a:t> </a:t>
            </a:r>
            <a:r>
              <a:rPr lang="en-US" b="1" dirty="0" smtClean="0">
                <a:latin typeface="Times New Roman"/>
                <a:cs typeface="Times New Roman"/>
              </a:rPr>
              <a:t>by</a:t>
            </a:r>
            <a:r>
              <a:rPr lang="en-US" b="1" spc="-20" dirty="0" smtClean="0">
                <a:latin typeface="Times New Roman"/>
                <a:cs typeface="Times New Roman"/>
              </a:rPr>
              <a:t> </a:t>
            </a:r>
            <a:r>
              <a:rPr lang="en-US" b="1" dirty="0" smtClean="0">
                <a:latin typeface="Times New Roman"/>
                <a:cs typeface="Times New Roman"/>
              </a:rPr>
              <a:t>a</a:t>
            </a:r>
            <a:r>
              <a:rPr lang="en-US" b="1" spc="-20" dirty="0" smtClean="0">
                <a:latin typeface="Times New Roman"/>
                <a:cs typeface="Times New Roman"/>
              </a:rPr>
              <a:t> </a:t>
            </a:r>
            <a:r>
              <a:rPr lang="en-US" b="1" spc="-10" dirty="0" smtClean="0">
                <a:latin typeface="Times New Roman"/>
                <a:cs typeface="Times New Roman"/>
              </a:rPr>
              <a:t>feature</a:t>
            </a:r>
            <a:endParaRPr lang="en-US"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r>
              <a:rPr lang="en-US" b="1" spc="-290" dirty="0" smtClean="0">
                <a:latin typeface="Times New Roman" pitchFamily="18" charset="0"/>
                <a:cs typeface="Times New Roman" pitchFamily="18" charset="0"/>
              </a:rPr>
              <a:t>Similarity</a:t>
            </a:r>
            <a:r>
              <a:rPr lang="en-US" b="1" spc="-340" dirty="0" smtClean="0">
                <a:latin typeface="Times New Roman" pitchFamily="18" charset="0"/>
                <a:cs typeface="Times New Roman" pitchFamily="18" charset="0"/>
              </a:rPr>
              <a:t> </a:t>
            </a:r>
            <a:r>
              <a:rPr lang="en-US" b="1" spc="-125" dirty="0" smtClean="0">
                <a:latin typeface="Times New Roman" pitchFamily="18" charset="0"/>
                <a:cs typeface="Times New Roman" pitchFamily="18" charset="0"/>
              </a:rPr>
              <a:t>based</a:t>
            </a:r>
            <a:r>
              <a:rPr lang="en-US" b="1" spc="-335" dirty="0" smtClean="0">
                <a:latin typeface="Times New Roman" pitchFamily="18" charset="0"/>
                <a:cs typeface="Times New Roman" pitchFamily="18" charset="0"/>
              </a:rPr>
              <a:t> </a:t>
            </a:r>
            <a:r>
              <a:rPr lang="en-US" b="1" spc="-130" dirty="0" smtClean="0">
                <a:latin typeface="Times New Roman" pitchFamily="18" charset="0"/>
                <a:cs typeface="Times New Roman" pitchFamily="18" charset="0"/>
              </a:rPr>
              <a:t>Methods</a:t>
            </a:r>
            <a:r>
              <a:rPr lang="en-US" b="1" spc="-335" dirty="0" smtClean="0">
                <a:latin typeface="Times New Roman" pitchFamily="18" charset="0"/>
                <a:cs typeface="Times New Roman" pitchFamily="18" charset="0"/>
              </a:rPr>
              <a:t> </a:t>
            </a:r>
            <a:r>
              <a:rPr lang="en-US" b="1" spc="-700" dirty="0" smtClean="0">
                <a:latin typeface="Times New Roman" pitchFamily="18" charset="0"/>
                <a:cs typeface="Times New Roman" pitchFamily="18" charset="0"/>
              </a:rPr>
              <a:t>–</a:t>
            </a:r>
            <a:r>
              <a:rPr lang="en-US" b="1" spc="-335" dirty="0" smtClean="0">
                <a:latin typeface="Times New Roman" pitchFamily="18" charset="0"/>
                <a:cs typeface="Times New Roman" pitchFamily="18" charset="0"/>
              </a:rPr>
              <a:t> </a:t>
            </a:r>
            <a:r>
              <a:rPr lang="en-US" b="1" spc="-50" dirty="0" smtClean="0">
                <a:latin typeface="Times New Roman" pitchFamily="18" charset="0"/>
                <a:cs typeface="Times New Roman" pitchFamily="18" charset="0"/>
              </a:rPr>
              <a:t>A </a:t>
            </a:r>
            <a:r>
              <a:rPr lang="en-US" b="1" spc="-229" dirty="0" smtClean="0">
                <a:latin typeface="Times New Roman" pitchFamily="18" charset="0"/>
                <a:cs typeface="Times New Roman" pitchFamily="18" charset="0"/>
              </a:rPr>
              <a:t>General</a:t>
            </a:r>
            <a:r>
              <a:rPr lang="en-US" b="1" spc="-330" dirty="0" smtClean="0">
                <a:latin typeface="Times New Roman" pitchFamily="18" charset="0"/>
                <a:cs typeface="Times New Roman" pitchFamily="18" charset="0"/>
              </a:rPr>
              <a:t> </a:t>
            </a:r>
            <a:r>
              <a:rPr lang="en-US" b="1" spc="-135" dirty="0" smtClean="0">
                <a:latin typeface="Times New Roman" pitchFamily="18" charset="0"/>
                <a:cs typeface="Times New Roman" pitchFamily="18" charset="0"/>
              </a:rPr>
              <a:t>Framework</a:t>
            </a:r>
          </a:p>
          <a:p>
            <a:r>
              <a:rPr lang="en-US" spc="120" dirty="0" smtClean="0">
                <a:latin typeface="Times New Roman" pitchFamily="18" charset="0"/>
                <a:cs typeface="Times New Roman" pitchFamily="18" charset="0"/>
              </a:rPr>
              <a:t>Suppose</a:t>
            </a:r>
            <a:r>
              <a:rPr lang="en-US" spc="-9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data</a:t>
            </a:r>
            <a:r>
              <a:rPr lang="en-US" spc="-90" dirty="0" smtClean="0">
                <a:latin typeface="Times New Roman" pitchFamily="18" charset="0"/>
                <a:cs typeface="Times New Roman" pitchFamily="18" charset="0"/>
              </a:rPr>
              <a:t> </a:t>
            </a:r>
            <a:r>
              <a:rPr lang="en-US" spc="-65" dirty="0" smtClean="0">
                <a:latin typeface="Times New Roman" pitchFamily="18" charset="0"/>
                <a:cs typeface="Times New Roman" pitchFamily="18" charset="0"/>
              </a:rPr>
              <a:t>similarity</a:t>
            </a:r>
            <a:r>
              <a:rPr lang="en-US" spc="-90" dirty="0" smtClean="0">
                <a:latin typeface="Times New Roman" pitchFamily="18" charset="0"/>
                <a:cs typeface="Times New Roman" pitchFamily="18" charset="0"/>
              </a:rPr>
              <a:t> </a:t>
            </a:r>
            <a:r>
              <a:rPr lang="en-US" spc="-70" dirty="0" smtClean="0">
                <a:latin typeface="Times New Roman" pitchFamily="18" charset="0"/>
                <a:cs typeface="Times New Roman" pitchFamily="18" charset="0"/>
              </a:rPr>
              <a:t>matrix</a:t>
            </a:r>
            <a:r>
              <a:rPr lang="en-US" spc="-90" dirty="0" smtClean="0">
                <a:latin typeface="Times New Roman" pitchFamily="18" charset="0"/>
                <a:cs typeface="Times New Roman" pitchFamily="18" charset="0"/>
              </a:rPr>
              <a:t> </a:t>
            </a:r>
            <a:r>
              <a:rPr lang="en-US" spc="-25" dirty="0" smtClean="0">
                <a:latin typeface="Times New Roman" pitchFamily="18" charset="0"/>
                <a:cs typeface="Times New Roman" pitchFamily="18" charset="0"/>
              </a:rPr>
              <a:t>is</a:t>
            </a:r>
            <a:r>
              <a:rPr lang="en-US" dirty="0" smtClean="0">
                <a:latin typeface="Times New Roman" pitchFamily="18" charset="0"/>
                <a:cs typeface="Times New Roman" pitchFamily="18" charset="0"/>
              </a:rPr>
              <a:t>	           to</a:t>
            </a:r>
            <a:r>
              <a:rPr lang="en-US" spc="-105" dirty="0" smtClean="0">
                <a:latin typeface="Times New Roman" pitchFamily="18" charset="0"/>
                <a:cs typeface="Times New Roman" pitchFamily="18" charset="0"/>
              </a:rPr>
              <a:t> </a:t>
            </a:r>
            <a:r>
              <a:rPr lang="en-US" spc="-50" dirty="0" smtClean="0">
                <a:latin typeface="Times New Roman" pitchFamily="18" charset="0"/>
                <a:cs typeface="Times New Roman" pitchFamily="18" charset="0"/>
              </a:rPr>
              <a:t>find</a:t>
            </a:r>
            <a:r>
              <a:rPr lang="en-US" spc="-10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a:t>
            </a:r>
            <a:r>
              <a:rPr lang="en-US" spc="52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most</a:t>
            </a:r>
            <a:r>
              <a:rPr lang="en-US" spc="-105" dirty="0" smtClean="0">
                <a:latin typeface="Times New Roman" pitchFamily="18" charset="0"/>
                <a:cs typeface="Times New Roman" pitchFamily="18" charset="0"/>
              </a:rPr>
              <a:t> </a:t>
            </a:r>
            <a:r>
              <a:rPr lang="en-US" spc="-65" dirty="0" smtClean="0">
                <a:latin typeface="Times New Roman" pitchFamily="18" charset="0"/>
                <a:cs typeface="Times New Roman" pitchFamily="18" charset="0"/>
              </a:rPr>
              <a:t>relevant </a:t>
            </a:r>
            <a:r>
              <a:rPr lang="en-US" spc="-40" dirty="0" smtClean="0">
                <a:latin typeface="Times New Roman" pitchFamily="18" charset="0"/>
                <a:cs typeface="Times New Roman" pitchFamily="18" charset="0"/>
              </a:rPr>
              <a:t>features</a:t>
            </a:r>
            <a:r>
              <a:rPr lang="en-US" spc="-114" dirty="0" smtClean="0">
                <a:latin typeface="Times New Roman" pitchFamily="18" charset="0"/>
                <a:cs typeface="Times New Roman" pitchFamily="18" charset="0"/>
              </a:rPr>
              <a:t> </a:t>
            </a:r>
            <a:r>
              <a:rPr lang="en-US" spc="-229" dirty="0" smtClean="0">
                <a:latin typeface="Times New Roman" pitchFamily="18" charset="0"/>
                <a:cs typeface="Times New Roman" pitchFamily="18" charset="0"/>
              </a:rPr>
              <a:t>,</a:t>
            </a:r>
            <a:r>
              <a:rPr lang="en-US" spc="-6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we</a:t>
            </a:r>
            <a:r>
              <a:rPr lang="en-US" spc="-8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need</a:t>
            </a:r>
            <a:r>
              <a:rPr lang="en-US" spc="-85"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to</a:t>
            </a:r>
            <a:r>
              <a:rPr lang="en-US" spc="-85" dirty="0" smtClean="0">
                <a:latin typeface="Times New Roman" pitchFamily="18" charset="0"/>
                <a:cs typeface="Times New Roman" pitchFamily="18" charset="0"/>
              </a:rPr>
              <a:t> </a:t>
            </a:r>
            <a:r>
              <a:rPr lang="en-US" spc="-10" dirty="0" smtClean="0">
                <a:latin typeface="Times New Roman" pitchFamily="18" charset="0"/>
                <a:cs typeface="Times New Roman" pitchFamily="18" charset="0"/>
              </a:rPr>
              <a:t>maximize:</a:t>
            </a:r>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4" name="object 2"/>
          <p:cNvPicPr/>
          <p:nvPr/>
        </p:nvPicPr>
        <p:blipFill>
          <a:blip r:embed="rId3" cstate="print"/>
          <a:stretch>
            <a:fillRect/>
          </a:stretch>
        </p:blipFill>
        <p:spPr>
          <a:xfrm>
            <a:off x="3645818" y="8250324"/>
            <a:ext cx="146453" cy="308739"/>
          </a:xfrm>
          <a:prstGeom prst="rect">
            <a:avLst/>
          </a:prstGeom>
        </p:spPr>
      </p:pic>
      <p:sp>
        <p:nvSpPr>
          <p:cNvPr id="9" name="object 7"/>
          <p:cNvSpPr txBox="1"/>
          <p:nvPr/>
        </p:nvSpPr>
        <p:spPr>
          <a:xfrm>
            <a:off x="990600" y="7774940"/>
            <a:ext cx="180340" cy="556260"/>
          </a:xfrm>
          <a:prstGeom prst="rect">
            <a:avLst/>
          </a:prstGeom>
        </p:spPr>
        <p:txBody>
          <a:bodyPr vert="horz" wrap="square" lIns="0" tIns="16510" rIns="0" bIns="0" rtlCol="0">
            <a:spAutoFit/>
          </a:bodyPr>
          <a:lstStyle/>
          <a:p>
            <a:pPr marL="12700">
              <a:lnSpc>
                <a:spcPct val="100000"/>
              </a:lnSpc>
              <a:spcBef>
                <a:spcPts val="130"/>
              </a:spcBef>
            </a:pPr>
            <a:r>
              <a:rPr sz="3450" spc="-650" dirty="0">
                <a:latin typeface="Trebuchet MS"/>
                <a:cs typeface="Trebuchet MS"/>
              </a:rPr>
              <a:t>•</a:t>
            </a:r>
            <a:endParaRPr sz="3450">
              <a:latin typeface="Trebuchet MS"/>
              <a:cs typeface="Trebuchet MS"/>
            </a:endParaRPr>
          </a:p>
        </p:txBody>
      </p:sp>
      <p:sp>
        <p:nvSpPr>
          <p:cNvPr id="10" name="object 8"/>
          <p:cNvSpPr txBox="1"/>
          <p:nvPr/>
        </p:nvSpPr>
        <p:spPr>
          <a:xfrm>
            <a:off x="1435100" y="7861300"/>
            <a:ext cx="10476230" cy="759460"/>
          </a:xfrm>
          <a:prstGeom prst="rect">
            <a:avLst/>
          </a:prstGeom>
        </p:spPr>
        <p:txBody>
          <a:bodyPr vert="horz" wrap="square" lIns="0" tIns="10160" rIns="0" bIns="0" rtlCol="0">
            <a:spAutoFit/>
          </a:bodyPr>
          <a:lstStyle/>
          <a:p>
            <a:pPr marL="12700" marR="5080">
              <a:lnSpc>
                <a:spcPct val="100699"/>
              </a:lnSpc>
              <a:spcBef>
                <a:spcPts val="80"/>
              </a:spcBef>
              <a:tabLst>
                <a:tab pos="2615565" algn="l"/>
              </a:tabLst>
            </a:pPr>
            <a:r>
              <a:rPr sz="2400" spc="-90" dirty="0">
                <a:latin typeface="Trebuchet MS"/>
                <a:cs typeface="Trebuchet MS"/>
              </a:rPr>
              <a:t>Different</a:t>
            </a:r>
            <a:r>
              <a:rPr sz="2400" spc="-65" dirty="0">
                <a:latin typeface="Trebuchet MS"/>
                <a:cs typeface="Trebuchet MS"/>
              </a:rPr>
              <a:t> </a:t>
            </a:r>
            <a:r>
              <a:rPr sz="2400" dirty="0">
                <a:latin typeface="Trebuchet MS"/>
                <a:cs typeface="Trebuchet MS"/>
              </a:rPr>
              <a:t>methods</a:t>
            </a:r>
            <a:r>
              <a:rPr sz="2400" spc="-60" dirty="0">
                <a:latin typeface="Trebuchet MS"/>
                <a:cs typeface="Trebuchet MS"/>
              </a:rPr>
              <a:t> </a:t>
            </a:r>
            <a:r>
              <a:rPr sz="2400" dirty="0">
                <a:latin typeface="Trebuchet MS"/>
                <a:cs typeface="Trebuchet MS"/>
              </a:rPr>
              <a:t>vary</a:t>
            </a:r>
            <a:r>
              <a:rPr sz="2400" spc="-60" dirty="0">
                <a:latin typeface="Trebuchet MS"/>
                <a:cs typeface="Trebuchet MS"/>
              </a:rPr>
              <a:t> </a:t>
            </a:r>
            <a:r>
              <a:rPr sz="2400" spc="-20" dirty="0">
                <a:latin typeface="Trebuchet MS"/>
                <a:cs typeface="Trebuchet MS"/>
              </a:rPr>
              <a:t>in</a:t>
            </a:r>
            <a:r>
              <a:rPr sz="2400" spc="-65" dirty="0">
                <a:latin typeface="Trebuchet MS"/>
                <a:cs typeface="Trebuchet MS"/>
              </a:rPr>
              <a:t> </a:t>
            </a:r>
            <a:r>
              <a:rPr sz="2400" spc="-50" dirty="0">
                <a:latin typeface="Trebuchet MS"/>
                <a:cs typeface="Trebuchet MS"/>
              </a:rPr>
              <a:t>the</a:t>
            </a:r>
            <a:r>
              <a:rPr sz="2400" spc="-60" dirty="0">
                <a:latin typeface="Trebuchet MS"/>
                <a:cs typeface="Trebuchet MS"/>
              </a:rPr>
              <a:t> </a:t>
            </a:r>
            <a:r>
              <a:rPr sz="2400" dirty="0">
                <a:latin typeface="Trebuchet MS"/>
                <a:cs typeface="Trebuchet MS"/>
              </a:rPr>
              <a:t>way</a:t>
            </a:r>
            <a:r>
              <a:rPr sz="2400" spc="-60" dirty="0">
                <a:latin typeface="Trebuchet MS"/>
                <a:cs typeface="Trebuchet MS"/>
              </a:rPr>
              <a:t> </a:t>
            </a:r>
            <a:r>
              <a:rPr sz="2400" dirty="0">
                <a:latin typeface="Trebuchet MS"/>
                <a:cs typeface="Trebuchet MS"/>
              </a:rPr>
              <a:t>how</a:t>
            </a:r>
            <a:r>
              <a:rPr sz="2400" spc="-65" dirty="0">
                <a:latin typeface="Trebuchet MS"/>
                <a:cs typeface="Trebuchet MS"/>
              </a:rPr>
              <a:t> </a:t>
            </a:r>
            <a:r>
              <a:rPr sz="2400" spc="-50" dirty="0">
                <a:latin typeface="Trebuchet MS"/>
                <a:cs typeface="Trebuchet MS"/>
              </a:rPr>
              <a:t>the</a:t>
            </a:r>
            <a:r>
              <a:rPr sz="2400" spc="-60" dirty="0">
                <a:latin typeface="Trebuchet MS"/>
                <a:cs typeface="Trebuchet MS"/>
              </a:rPr>
              <a:t> </a:t>
            </a:r>
            <a:r>
              <a:rPr sz="2400" spc="-20" dirty="0">
                <a:latin typeface="Trebuchet MS"/>
                <a:cs typeface="Trebuchet MS"/>
              </a:rPr>
              <a:t>vector</a:t>
            </a:r>
            <a:r>
              <a:rPr sz="2400" spc="-60" dirty="0">
                <a:latin typeface="Trebuchet MS"/>
                <a:cs typeface="Trebuchet MS"/>
              </a:rPr>
              <a:t> </a:t>
            </a:r>
            <a:r>
              <a:rPr sz="2400" b="1" dirty="0">
                <a:latin typeface="Arial"/>
                <a:cs typeface="Arial"/>
              </a:rPr>
              <a:t>f </a:t>
            </a:r>
            <a:r>
              <a:rPr sz="2400" dirty="0">
                <a:latin typeface="Trebuchet MS"/>
                <a:cs typeface="Trebuchet MS"/>
              </a:rPr>
              <a:t>and</a:t>
            </a:r>
            <a:r>
              <a:rPr sz="2400" spc="-65" dirty="0">
                <a:latin typeface="Trebuchet MS"/>
                <a:cs typeface="Trebuchet MS"/>
              </a:rPr>
              <a:t> similarity</a:t>
            </a:r>
            <a:r>
              <a:rPr sz="2400" spc="-60" dirty="0">
                <a:latin typeface="Trebuchet MS"/>
                <a:cs typeface="Trebuchet MS"/>
              </a:rPr>
              <a:t> </a:t>
            </a:r>
            <a:r>
              <a:rPr sz="2400" spc="-70" dirty="0">
                <a:latin typeface="Trebuchet MS"/>
                <a:cs typeface="Trebuchet MS"/>
              </a:rPr>
              <a:t>matrix</a:t>
            </a:r>
            <a:r>
              <a:rPr sz="2400" spc="-60" dirty="0">
                <a:latin typeface="Trebuchet MS"/>
                <a:cs typeface="Trebuchet MS"/>
              </a:rPr>
              <a:t> </a:t>
            </a:r>
            <a:r>
              <a:rPr sz="2400" b="1" dirty="0">
                <a:latin typeface="Arial"/>
                <a:cs typeface="Arial"/>
              </a:rPr>
              <a:t>S</a:t>
            </a:r>
            <a:r>
              <a:rPr sz="2400" b="1" spc="-5" dirty="0">
                <a:latin typeface="Arial"/>
                <a:cs typeface="Arial"/>
              </a:rPr>
              <a:t> </a:t>
            </a:r>
            <a:r>
              <a:rPr sz="2400" spc="-25" dirty="0">
                <a:latin typeface="Trebuchet MS"/>
                <a:cs typeface="Trebuchet MS"/>
              </a:rPr>
              <a:t>are </a:t>
            </a:r>
            <a:r>
              <a:rPr sz="2400" spc="-20" dirty="0">
                <a:latin typeface="Trebuchet MS"/>
                <a:cs typeface="Trebuchet MS"/>
              </a:rPr>
              <a:t>transformed</a:t>
            </a:r>
            <a:r>
              <a:rPr sz="2400" spc="-105" dirty="0">
                <a:latin typeface="Trebuchet MS"/>
                <a:cs typeface="Trebuchet MS"/>
              </a:rPr>
              <a:t> </a:t>
            </a:r>
            <a:r>
              <a:rPr sz="2400" spc="-25" dirty="0">
                <a:latin typeface="Trebuchet MS"/>
                <a:cs typeface="Trebuchet MS"/>
              </a:rPr>
              <a:t>to</a:t>
            </a:r>
            <a:r>
              <a:rPr sz="2400" dirty="0">
                <a:latin typeface="Trebuchet MS"/>
                <a:cs typeface="Trebuchet MS"/>
              </a:rPr>
              <a:t>	</a:t>
            </a:r>
            <a:r>
              <a:rPr sz="2400" spc="-25" dirty="0">
                <a:latin typeface="Trebuchet MS"/>
                <a:cs typeface="Trebuchet MS"/>
              </a:rPr>
              <a:t>and</a:t>
            </a:r>
            <a:endParaRPr sz="2400">
              <a:latin typeface="Trebuchet MS"/>
              <a:cs typeface="Trebuchet MS"/>
            </a:endParaRPr>
          </a:p>
        </p:txBody>
      </p:sp>
      <p:grpSp>
        <p:nvGrpSpPr>
          <p:cNvPr id="12" name="object 10"/>
          <p:cNvGrpSpPr/>
          <p:nvPr/>
        </p:nvGrpSpPr>
        <p:grpSpPr>
          <a:xfrm>
            <a:off x="381001" y="2743200"/>
            <a:ext cx="8534399" cy="2362200"/>
            <a:chOff x="946727" y="3555931"/>
            <a:chExt cx="11889105" cy="2419350"/>
          </a:xfrm>
        </p:grpSpPr>
        <p:pic>
          <p:nvPicPr>
            <p:cNvPr id="13" name="object 11"/>
            <p:cNvPicPr/>
            <p:nvPr/>
          </p:nvPicPr>
          <p:blipFill>
            <a:blip r:embed="rId4" cstate="print"/>
            <a:stretch>
              <a:fillRect/>
            </a:stretch>
          </p:blipFill>
          <p:spPr>
            <a:xfrm>
              <a:off x="946727" y="3621182"/>
              <a:ext cx="11484006" cy="2288219"/>
            </a:xfrm>
            <a:prstGeom prst="rect">
              <a:avLst/>
            </a:prstGeom>
          </p:spPr>
        </p:pic>
        <p:sp>
          <p:nvSpPr>
            <p:cNvPr id="14" name="object 12"/>
            <p:cNvSpPr/>
            <p:nvPr/>
          </p:nvSpPr>
          <p:spPr>
            <a:xfrm>
              <a:off x="12386248" y="3555931"/>
              <a:ext cx="449580" cy="2419350"/>
            </a:xfrm>
            <a:custGeom>
              <a:avLst/>
              <a:gdLst/>
              <a:ahLst/>
              <a:cxnLst/>
              <a:rect l="l" t="t" r="r" b="b"/>
              <a:pathLst>
                <a:path w="449579" h="2419350">
                  <a:moveTo>
                    <a:pt x="0" y="0"/>
                  </a:moveTo>
                  <a:lnTo>
                    <a:pt x="448967" y="0"/>
                  </a:lnTo>
                  <a:lnTo>
                    <a:pt x="448967" y="2418722"/>
                  </a:lnTo>
                  <a:lnTo>
                    <a:pt x="0" y="2418722"/>
                  </a:lnTo>
                  <a:lnTo>
                    <a:pt x="0" y="0"/>
                  </a:lnTo>
                  <a:close/>
                </a:path>
              </a:pathLst>
            </a:custGeom>
            <a:solidFill>
              <a:srgbClr val="FFFFFF"/>
            </a:solidFill>
          </p:spPr>
          <p:txBody>
            <a:bodyPr wrap="square" lIns="0" tIns="0" rIns="0" bIns="0" rtlCol="0"/>
            <a:lstStyle/>
            <a:p>
              <a:endParaRPr/>
            </a:p>
          </p:txBody>
        </p:sp>
      </p:grpSp>
      <p:pic>
        <p:nvPicPr>
          <p:cNvPr id="15" name="object 13"/>
          <p:cNvPicPr/>
          <p:nvPr/>
        </p:nvPicPr>
        <p:blipFill>
          <a:blip r:embed="rId5" cstate="print"/>
          <a:stretch>
            <a:fillRect/>
          </a:stretch>
        </p:blipFill>
        <p:spPr>
          <a:xfrm>
            <a:off x="7086600" y="1066800"/>
            <a:ext cx="1295400" cy="304800"/>
          </a:xfrm>
          <a:prstGeom prst="rect">
            <a:avLst/>
          </a:prstGeom>
        </p:spPr>
      </p:pic>
      <p:pic>
        <p:nvPicPr>
          <p:cNvPr id="16" name="object 14"/>
          <p:cNvPicPr/>
          <p:nvPr/>
        </p:nvPicPr>
        <p:blipFill>
          <a:blip r:embed="rId6" cstate="print"/>
          <a:stretch>
            <a:fillRect/>
          </a:stretch>
        </p:blipFill>
        <p:spPr>
          <a:xfrm>
            <a:off x="2286000" y="5486400"/>
            <a:ext cx="609600" cy="228600"/>
          </a:xfrm>
          <a:prstGeom prst="rect">
            <a:avLst/>
          </a:prstGeom>
        </p:spPr>
      </p:pic>
      <p:pic>
        <p:nvPicPr>
          <p:cNvPr id="17" name="object 15"/>
          <p:cNvPicPr/>
          <p:nvPr/>
        </p:nvPicPr>
        <p:blipFill>
          <a:blip r:embed="rId7" cstate="print"/>
          <a:stretch>
            <a:fillRect/>
          </a:stretch>
        </p:blipFill>
        <p:spPr>
          <a:xfrm>
            <a:off x="4637534" y="8171160"/>
            <a:ext cx="345723" cy="514565"/>
          </a:xfrm>
          <a:prstGeom prst="rect">
            <a:avLst/>
          </a:prstGeom>
        </p:spPr>
      </p:pic>
      <p:sp>
        <p:nvSpPr>
          <p:cNvPr id="18" name="object 16"/>
          <p:cNvSpPr txBox="1">
            <a:spLocks noGrp="1"/>
          </p:cNvSpPr>
          <p:nvPr>
            <p:ph type="sldNum" sz="quarter" idx="4294967295"/>
          </p:nvPr>
        </p:nvSpPr>
        <p:spPr>
          <a:xfrm>
            <a:off x="6311900" y="9315805"/>
            <a:ext cx="364490" cy="265429"/>
          </a:xfrm>
          <a:prstGeom prst="rect">
            <a:avLst/>
          </a:prstGeom>
        </p:spPr>
        <p:txBody>
          <a:bodyPr vert="horz" wrap="square" lIns="0" tIns="5715" rIns="0" bIns="0" rtlCol="0">
            <a:spAutoFit/>
          </a:bodyPr>
          <a:lstStyle/>
          <a:p>
            <a:pPr marL="12700">
              <a:lnSpc>
                <a:spcPct val="100000"/>
              </a:lnSpc>
              <a:spcBef>
                <a:spcPts val="45"/>
              </a:spcBef>
            </a:pPr>
            <a:fld id="{81D60167-4931-47E6-BA6A-407CBD079E47}" type="slidenum">
              <a:rPr spc="-25" dirty="0"/>
              <a:pPr marL="12700">
                <a:lnSpc>
                  <a:spcPct val="100000"/>
                </a:lnSpc>
                <a:spcBef>
                  <a:spcPts val="45"/>
                </a:spcBef>
              </a:pPr>
              <a:t>21</a:t>
            </a:fld>
            <a:endParaRPr spc="-25" dirty="0"/>
          </a:p>
        </p:txBody>
      </p:sp>
      <p:sp>
        <p:nvSpPr>
          <p:cNvPr id="19" name="Rectangle 18"/>
          <p:cNvSpPr/>
          <p:nvPr/>
        </p:nvSpPr>
        <p:spPr>
          <a:xfrm>
            <a:off x="381000" y="5105400"/>
            <a:ext cx="8458200" cy="651845"/>
          </a:xfrm>
          <a:prstGeom prst="rect">
            <a:avLst/>
          </a:prstGeom>
        </p:spPr>
        <p:txBody>
          <a:bodyPr wrap="square">
            <a:spAutoFit/>
          </a:bodyPr>
          <a:lstStyle/>
          <a:p>
            <a:pPr marL="12700" marR="5080">
              <a:lnSpc>
                <a:spcPct val="100699"/>
              </a:lnSpc>
              <a:spcBef>
                <a:spcPts val="80"/>
              </a:spcBef>
            </a:pPr>
            <a:r>
              <a:rPr lang="en-US" spc="-125" dirty="0" smtClean="0">
                <a:latin typeface="Trebuchet MS"/>
                <a:cs typeface="Trebuchet MS"/>
              </a:rPr>
              <a:t>It</a:t>
            </a:r>
            <a:r>
              <a:rPr lang="en-US" spc="-60" dirty="0" smtClean="0">
                <a:latin typeface="Trebuchet MS"/>
                <a:cs typeface="Trebuchet MS"/>
              </a:rPr>
              <a:t> </a:t>
            </a:r>
            <a:r>
              <a:rPr lang="en-US" dirty="0" smtClean="0">
                <a:latin typeface="Trebuchet MS"/>
                <a:cs typeface="Trebuchet MS"/>
              </a:rPr>
              <a:t>is</a:t>
            </a:r>
            <a:r>
              <a:rPr lang="en-US" spc="-80" dirty="0" smtClean="0">
                <a:latin typeface="Trebuchet MS"/>
                <a:cs typeface="Trebuchet MS"/>
              </a:rPr>
              <a:t> </a:t>
            </a:r>
            <a:r>
              <a:rPr lang="en-US" spc="-50" dirty="0" smtClean="0">
                <a:latin typeface="Trebuchet MS"/>
                <a:cs typeface="Trebuchet MS"/>
              </a:rPr>
              <a:t>often</a:t>
            </a:r>
            <a:r>
              <a:rPr lang="en-US" spc="-70" dirty="0" smtClean="0">
                <a:latin typeface="Trebuchet MS"/>
                <a:cs typeface="Trebuchet MS"/>
              </a:rPr>
              <a:t> </a:t>
            </a:r>
            <a:r>
              <a:rPr lang="en-US" dirty="0" smtClean="0">
                <a:latin typeface="Trebuchet MS"/>
                <a:cs typeface="Trebuchet MS"/>
              </a:rPr>
              <a:t>solved</a:t>
            </a:r>
            <a:r>
              <a:rPr lang="en-US" spc="-70" dirty="0" smtClean="0">
                <a:latin typeface="Trebuchet MS"/>
                <a:cs typeface="Trebuchet MS"/>
              </a:rPr>
              <a:t> </a:t>
            </a:r>
            <a:r>
              <a:rPr lang="en-US" dirty="0" smtClean="0">
                <a:latin typeface="Trebuchet MS"/>
                <a:cs typeface="Trebuchet MS"/>
              </a:rPr>
              <a:t>by</a:t>
            </a:r>
            <a:r>
              <a:rPr lang="en-US" spc="-70" dirty="0" smtClean="0">
                <a:latin typeface="Trebuchet MS"/>
                <a:cs typeface="Trebuchet MS"/>
              </a:rPr>
              <a:t> </a:t>
            </a:r>
            <a:r>
              <a:rPr lang="en-US" spc="-35" dirty="0" smtClean="0">
                <a:latin typeface="Trebuchet MS"/>
                <a:cs typeface="Trebuchet MS"/>
              </a:rPr>
              <a:t>greedily</a:t>
            </a:r>
            <a:r>
              <a:rPr lang="en-US" spc="-65" dirty="0" smtClean="0">
                <a:latin typeface="Trebuchet MS"/>
                <a:cs typeface="Trebuchet MS"/>
              </a:rPr>
              <a:t> </a:t>
            </a:r>
            <a:r>
              <a:rPr lang="en-US" dirty="0" smtClean="0">
                <a:latin typeface="Trebuchet MS"/>
                <a:cs typeface="Trebuchet MS"/>
              </a:rPr>
              <a:t>selecting</a:t>
            </a:r>
            <a:r>
              <a:rPr lang="en-US" spc="-70" dirty="0" smtClean="0">
                <a:latin typeface="Trebuchet MS"/>
                <a:cs typeface="Trebuchet MS"/>
              </a:rPr>
              <a:t> </a:t>
            </a:r>
            <a:r>
              <a:rPr lang="en-US" spc="-50" dirty="0" smtClean="0">
                <a:latin typeface="Trebuchet MS"/>
                <a:cs typeface="Trebuchet MS"/>
              </a:rPr>
              <a:t>the</a:t>
            </a:r>
            <a:r>
              <a:rPr lang="en-US" spc="-70" dirty="0" smtClean="0">
                <a:latin typeface="Trebuchet MS"/>
                <a:cs typeface="Trebuchet MS"/>
              </a:rPr>
              <a:t> </a:t>
            </a:r>
            <a:r>
              <a:rPr lang="en-US" dirty="0" smtClean="0">
                <a:latin typeface="Trebuchet MS"/>
                <a:cs typeface="Trebuchet MS"/>
              </a:rPr>
              <a:t>top</a:t>
            </a:r>
            <a:r>
              <a:rPr lang="en-US" spc="-70" dirty="0" smtClean="0">
                <a:latin typeface="Trebuchet MS"/>
                <a:cs typeface="Trebuchet MS"/>
              </a:rPr>
              <a:t> </a:t>
            </a:r>
            <a:r>
              <a:rPr lang="en-US" spc="-40" dirty="0" smtClean="0">
                <a:latin typeface="Trebuchet MS"/>
                <a:cs typeface="Trebuchet MS"/>
              </a:rPr>
              <a:t>features</a:t>
            </a:r>
            <a:r>
              <a:rPr lang="en-US" spc="-70" dirty="0" smtClean="0">
                <a:latin typeface="Trebuchet MS"/>
                <a:cs typeface="Trebuchet MS"/>
              </a:rPr>
              <a:t> </a:t>
            </a:r>
            <a:r>
              <a:rPr lang="en-US" spc="-80" dirty="0" smtClean="0">
                <a:latin typeface="Trebuchet MS"/>
                <a:cs typeface="Trebuchet MS"/>
              </a:rPr>
              <a:t>that</a:t>
            </a:r>
            <a:r>
              <a:rPr lang="en-US" spc="-70" dirty="0" smtClean="0">
                <a:latin typeface="Trebuchet MS"/>
                <a:cs typeface="Trebuchet MS"/>
              </a:rPr>
              <a:t> </a:t>
            </a:r>
            <a:r>
              <a:rPr lang="en-US" spc="-20" dirty="0" smtClean="0">
                <a:latin typeface="Trebuchet MS"/>
                <a:cs typeface="Trebuchet MS"/>
              </a:rPr>
              <a:t>maximize</a:t>
            </a:r>
            <a:r>
              <a:rPr lang="en-US" spc="-65" dirty="0" smtClean="0">
                <a:latin typeface="Trebuchet MS"/>
                <a:cs typeface="Trebuchet MS"/>
              </a:rPr>
              <a:t> </a:t>
            </a:r>
            <a:r>
              <a:rPr lang="en-US" spc="-35" dirty="0" smtClean="0">
                <a:latin typeface="Trebuchet MS"/>
                <a:cs typeface="Trebuchet MS"/>
              </a:rPr>
              <a:t>their individual</a:t>
            </a:r>
            <a:r>
              <a:rPr lang="en-US" spc="-135" dirty="0" smtClean="0">
                <a:latin typeface="Trebuchet MS"/>
                <a:cs typeface="Trebuchet MS"/>
              </a:rPr>
              <a:t> </a:t>
            </a:r>
            <a:r>
              <a:rPr lang="en-US" spc="-10" dirty="0" smtClean="0">
                <a:latin typeface="Trebuchet MS"/>
                <a:cs typeface="Trebuchet MS"/>
              </a:rPr>
              <a:t>utility</a:t>
            </a:r>
            <a:endParaRPr lang="en-US" dirty="0">
              <a:latin typeface="Trebuchet MS"/>
              <a:cs typeface="Trebuchet M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300" dirty="0" smtClean="0"/>
              <a:t>Information</a:t>
            </a:r>
            <a:r>
              <a:rPr lang="en-US" spc="-335" dirty="0" smtClean="0"/>
              <a:t> </a:t>
            </a:r>
            <a:r>
              <a:rPr lang="en-US" spc="-200" dirty="0" smtClean="0"/>
              <a:t>Theoretical</a:t>
            </a:r>
            <a:r>
              <a:rPr lang="en-US" spc="-335" dirty="0" smtClean="0"/>
              <a:t> </a:t>
            </a:r>
            <a:r>
              <a:rPr lang="en-US" spc="-85" dirty="0" smtClean="0"/>
              <a:t>based </a:t>
            </a:r>
            <a:r>
              <a:rPr lang="en-US" spc="-10" dirty="0" smtClean="0"/>
              <a:t>Methods</a:t>
            </a:r>
            <a:endParaRPr lang="en-US" dirty="0"/>
          </a:p>
        </p:txBody>
      </p:sp>
      <p:sp>
        <p:nvSpPr>
          <p:cNvPr id="3" name="Content Placeholder 2"/>
          <p:cNvSpPr>
            <a:spLocks noGrp="1"/>
          </p:cNvSpPr>
          <p:nvPr>
            <p:ph idx="1"/>
          </p:nvPr>
        </p:nvSpPr>
        <p:spPr/>
        <p:txBody>
          <a:bodyPr/>
          <a:lstStyle/>
          <a:p>
            <a:r>
              <a:rPr lang="en-US" spc="-10" dirty="0" smtClean="0">
                <a:latin typeface="Trebuchet MS"/>
                <a:cs typeface="Trebuchet MS"/>
              </a:rPr>
              <a:t>Exploit</a:t>
            </a:r>
            <a:r>
              <a:rPr lang="en-US" spc="-130" dirty="0" smtClean="0">
                <a:latin typeface="Trebuchet MS"/>
                <a:cs typeface="Trebuchet MS"/>
              </a:rPr>
              <a:t> </a:t>
            </a:r>
            <a:r>
              <a:rPr lang="en-US" spc="-105" dirty="0" smtClean="0">
                <a:latin typeface="Trebuchet MS"/>
                <a:cs typeface="Trebuchet MS"/>
              </a:rPr>
              <a:t>different</a:t>
            </a:r>
            <a:r>
              <a:rPr lang="en-US" spc="-75" dirty="0" smtClean="0">
                <a:latin typeface="Trebuchet MS"/>
                <a:cs typeface="Trebuchet MS"/>
              </a:rPr>
              <a:t> </a:t>
            </a:r>
            <a:r>
              <a:rPr lang="en-US" spc="-35" dirty="0" smtClean="0">
                <a:latin typeface="Trebuchet MS"/>
                <a:cs typeface="Trebuchet MS"/>
              </a:rPr>
              <a:t>heuristic</a:t>
            </a:r>
            <a:r>
              <a:rPr lang="en-US" spc="-85" dirty="0" smtClean="0">
                <a:latin typeface="Trebuchet MS"/>
                <a:cs typeface="Trebuchet MS"/>
              </a:rPr>
              <a:t> </a:t>
            </a:r>
            <a:r>
              <a:rPr lang="en-US" spc="-155" dirty="0" smtClean="0">
                <a:latin typeface="Trebuchet MS"/>
                <a:cs typeface="Trebuchet MS"/>
              </a:rPr>
              <a:t>filter</a:t>
            </a:r>
            <a:r>
              <a:rPr lang="en-US" spc="-60" dirty="0" smtClean="0">
                <a:latin typeface="Trebuchet MS"/>
                <a:cs typeface="Trebuchet MS"/>
              </a:rPr>
              <a:t> </a:t>
            </a:r>
            <a:r>
              <a:rPr lang="en-US" spc="-90" dirty="0" smtClean="0">
                <a:latin typeface="Trebuchet MS"/>
                <a:cs typeface="Trebuchet MS"/>
              </a:rPr>
              <a:t>criteria </a:t>
            </a:r>
            <a:r>
              <a:rPr lang="en-US" dirty="0" smtClean="0">
                <a:latin typeface="Trebuchet MS"/>
                <a:cs typeface="Trebuchet MS"/>
              </a:rPr>
              <a:t>to</a:t>
            </a:r>
            <a:r>
              <a:rPr lang="en-US" spc="-85" dirty="0" smtClean="0">
                <a:latin typeface="Trebuchet MS"/>
                <a:cs typeface="Trebuchet MS"/>
              </a:rPr>
              <a:t> </a:t>
            </a:r>
            <a:r>
              <a:rPr lang="en-US" dirty="0" smtClean="0">
                <a:latin typeface="Trebuchet MS"/>
                <a:cs typeface="Trebuchet MS"/>
              </a:rPr>
              <a:t>measure</a:t>
            </a:r>
            <a:r>
              <a:rPr lang="en-US" spc="-90" dirty="0" smtClean="0">
                <a:latin typeface="Trebuchet MS"/>
                <a:cs typeface="Trebuchet MS"/>
              </a:rPr>
              <a:t> </a:t>
            </a:r>
            <a:r>
              <a:rPr lang="en-US" spc="-50" dirty="0" smtClean="0">
                <a:latin typeface="Trebuchet MS"/>
                <a:cs typeface="Trebuchet MS"/>
              </a:rPr>
              <a:t>the</a:t>
            </a:r>
            <a:r>
              <a:rPr lang="en-US" spc="-85" dirty="0" smtClean="0">
                <a:latin typeface="Trebuchet MS"/>
                <a:cs typeface="Trebuchet MS"/>
              </a:rPr>
              <a:t> </a:t>
            </a:r>
            <a:r>
              <a:rPr lang="en-US" spc="-20" dirty="0" smtClean="0">
                <a:latin typeface="Trebuchet MS"/>
                <a:cs typeface="Trebuchet MS"/>
              </a:rPr>
              <a:t>importance</a:t>
            </a:r>
            <a:r>
              <a:rPr lang="en-US" spc="-90" dirty="0" smtClean="0">
                <a:latin typeface="Trebuchet MS"/>
                <a:cs typeface="Trebuchet MS"/>
              </a:rPr>
              <a:t> </a:t>
            </a:r>
            <a:r>
              <a:rPr lang="en-US" dirty="0" smtClean="0">
                <a:latin typeface="Trebuchet MS"/>
                <a:cs typeface="Trebuchet MS"/>
              </a:rPr>
              <a:t>of</a:t>
            </a:r>
            <a:r>
              <a:rPr lang="en-US" spc="-85" dirty="0" smtClean="0">
                <a:latin typeface="Trebuchet MS"/>
                <a:cs typeface="Trebuchet MS"/>
              </a:rPr>
              <a:t> </a:t>
            </a:r>
            <a:r>
              <a:rPr lang="en-US" spc="-10" dirty="0" smtClean="0">
                <a:latin typeface="Trebuchet MS"/>
                <a:cs typeface="Trebuchet MS"/>
              </a:rPr>
              <a:t>features</a:t>
            </a:r>
            <a:endParaRPr lang="en-US" dirty="0" smtClean="0">
              <a:latin typeface="Trebuchet MS"/>
              <a:cs typeface="Trebuchet MS"/>
            </a:endParaRPr>
          </a:p>
          <a:p>
            <a:endParaRPr lang="en-US" dirty="0"/>
          </a:p>
        </p:txBody>
      </p:sp>
      <p:pic>
        <p:nvPicPr>
          <p:cNvPr id="4" name="object 7"/>
          <p:cNvPicPr/>
          <p:nvPr/>
        </p:nvPicPr>
        <p:blipFill>
          <a:blip r:embed="rId3" cstate="print"/>
          <a:stretch>
            <a:fillRect/>
          </a:stretch>
        </p:blipFill>
        <p:spPr>
          <a:xfrm>
            <a:off x="685800" y="2895600"/>
            <a:ext cx="8152240" cy="2365921"/>
          </a:xfrm>
          <a:prstGeom prst="rect">
            <a:avLst/>
          </a:prstGeom>
        </p:spPr>
      </p:pic>
      <p:sp>
        <p:nvSpPr>
          <p:cNvPr id="5" name="Rectangle 4"/>
          <p:cNvSpPr/>
          <p:nvPr/>
        </p:nvSpPr>
        <p:spPr>
          <a:xfrm>
            <a:off x="685800" y="5486400"/>
            <a:ext cx="8077200" cy="369332"/>
          </a:xfrm>
          <a:prstGeom prst="rect">
            <a:avLst/>
          </a:prstGeom>
        </p:spPr>
        <p:txBody>
          <a:bodyPr wrap="square">
            <a:spAutoFit/>
          </a:bodyPr>
          <a:lstStyle/>
          <a:p>
            <a:pPr marL="12700">
              <a:lnSpc>
                <a:spcPct val="100000"/>
              </a:lnSpc>
              <a:spcBef>
                <a:spcPts val="100"/>
              </a:spcBef>
            </a:pPr>
            <a:r>
              <a:rPr lang="en-US" dirty="0" smtClean="0">
                <a:latin typeface="Trebuchet MS"/>
                <a:cs typeface="Trebuchet MS"/>
              </a:rPr>
              <a:t>Our</a:t>
            </a:r>
            <a:r>
              <a:rPr lang="en-US" spc="-70" dirty="0" smtClean="0">
                <a:latin typeface="Trebuchet MS"/>
                <a:cs typeface="Trebuchet MS"/>
              </a:rPr>
              <a:t> </a:t>
            </a:r>
            <a:r>
              <a:rPr lang="en-US" spc="-75" dirty="0" smtClean="0">
                <a:latin typeface="Trebuchet MS"/>
                <a:cs typeface="Trebuchet MS"/>
              </a:rPr>
              <a:t>target</a:t>
            </a:r>
            <a:r>
              <a:rPr lang="en-US" spc="-70" dirty="0" smtClean="0">
                <a:latin typeface="Trebuchet MS"/>
                <a:cs typeface="Trebuchet MS"/>
              </a:rPr>
              <a:t> </a:t>
            </a:r>
            <a:r>
              <a:rPr lang="en-US" dirty="0" smtClean="0">
                <a:latin typeface="Trebuchet MS"/>
                <a:cs typeface="Trebuchet MS"/>
              </a:rPr>
              <a:t>is</a:t>
            </a:r>
            <a:r>
              <a:rPr lang="en-US" spc="-65" dirty="0" smtClean="0">
                <a:latin typeface="Trebuchet MS"/>
                <a:cs typeface="Trebuchet MS"/>
              </a:rPr>
              <a:t> </a:t>
            </a:r>
            <a:r>
              <a:rPr lang="en-US" dirty="0" smtClean="0">
                <a:latin typeface="Trebuchet MS"/>
                <a:cs typeface="Trebuchet MS"/>
              </a:rPr>
              <a:t>to</a:t>
            </a:r>
            <a:r>
              <a:rPr lang="en-US" spc="-70" dirty="0" smtClean="0">
                <a:latin typeface="Trebuchet MS"/>
                <a:cs typeface="Trebuchet MS"/>
              </a:rPr>
              <a:t> </a:t>
            </a:r>
            <a:r>
              <a:rPr lang="en-US" spc="-50" dirty="0" smtClean="0">
                <a:latin typeface="Trebuchet MS"/>
                <a:cs typeface="Trebuchet MS"/>
              </a:rPr>
              <a:t>find</a:t>
            </a:r>
            <a:r>
              <a:rPr lang="en-US" spc="-70" dirty="0" smtClean="0">
                <a:latin typeface="Trebuchet MS"/>
                <a:cs typeface="Trebuchet MS"/>
              </a:rPr>
              <a:t> </a:t>
            </a:r>
            <a:r>
              <a:rPr lang="en-US" dirty="0" smtClean="0">
                <a:latin typeface="Trebuchet MS"/>
                <a:cs typeface="Trebuchet MS"/>
              </a:rPr>
              <a:t>these</a:t>
            </a:r>
            <a:r>
              <a:rPr lang="en-US" spc="-65" dirty="0" smtClean="0">
                <a:latin typeface="Trebuchet MS"/>
                <a:cs typeface="Trebuchet MS"/>
              </a:rPr>
              <a:t> </a:t>
            </a:r>
            <a:r>
              <a:rPr lang="en-US" spc="-80" dirty="0" smtClean="0">
                <a:latin typeface="Trebuchet MS"/>
                <a:cs typeface="Trebuchet MS"/>
              </a:rPr>
              <a:t>“optimal”</a:t>
            </a:r>
            <a:r>
              <a:rPr lang="en-US" spc="-70" dirty="0" smtClean="0">
                <a:latin typeface="Trebuchet MS"/>
                <a:cs typeface="Trebuchet MS"/>
              </a:rPr>
              <a:t> </a:t>
            </a:r>
            <a:r>
              <a:rPr lang="en-US" spc="-25" dirty="0" smtClean="0">
                <a:latin typeface="Trebuchet MS"/>
                <a:cs typeface="Trebuchet MS"/>
              </a:rPr>
              <a:t>features</a:t>
            </a:r>
            <a:endParaRPr lang="en-US" dirty="0">
              <a:latin typeface="Trebuchet MS"/>
              <a:cs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300" dirty="0" smtClean="0"/>
              <a:t>Information</a:t>
            </a:r>
            <a:r>
              <a:rPr lang="en-US" spc="-315" dirty="0" smtClean="0"/>
              <a:t> </a:t>
            </a:r>
            <a:r>
              <a:rPr lang="en-US" spc="-204" dirty="0" smtClean="0"/>
              <a:t>Theoretic</a:t>
            </a:r>
            <a:r>
              <a:rPr lang="en-US" spc="-315" dirty="0" smtClean="0"/>
              <a:t> </a:t>
            </a:r>
            <a:r>
              <a:rPr lang="en-US" spc="-10" dirty="0" smtClean="0"/>
              <a:t>based </a:t>
            </a:r>
            <a:r>
              <a:rPr lang="en-US" spc="-130" dirty="0" smtClean="0"/>
              <a:t>Methods</a:t>
            </a:r>
            <a:r>
              <a:rPr lang="en-US" spc="-340" dirty="0" smtClean="0"/>
              <a:t> </a:t>
            </a:r>
            <a:r>
              <a:rPr lang="en-US" spc="-345" dirty="0" smtClean="0"/>
              <a:t>-</a:t>
            </a:r>
            <a:r>
              <a:rPr lang="en-US" spc="-340" dirty="0" smtClean="0"/>
              <a:t> </a:t>
            </a:r>
            <a:r>
              <a:rPr lang="en-US" spc="-110" dirty="0" smtClean="0"/>
              <a:t>A</a:t>
            </a:r>
            <a:r>
              <a:rPr lang="en-US" spc="-335" dirty="0" smtClean="0"/>
              <a:t> </a:t>
            </a:r>
            <a:r>
              <a:rPr lang="en-US" spc="-229" dirty="0" smtClean="0"/>
              <a:t>General</a:t>
            </a:r>
            <a:r>
              <a:rPr lang="en-US" spc="-340" dirty="0" smtClean="0"/>
              <a:t> </a:t>
            </a:r>
            <a:r>
              <a:rPr lang="en-US" spc="-270" dirty="0" smtClean="0"/>
              <a:t>Framework</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sz="2400" dirty="0" smtClean="0">
                <a:latin typeface="Times New Roman" pitchFamily="18" charset="0"/>
                <a:cs typeface="Times New Roman" pitchFamily="18" charset="0"/>
              </a:rPr>
              <a:t>Searching</a:t>
            </a:r>
            <a:r>
              <a:rPr lang="en-US" sz="2400" spc="3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for</a:t>
            </a:r>
            <a:r>
              <a:rPr lang="en-US" sz="2400" spc="3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3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best</a:t>
            </a:r>
            <a:r>
              <a:rPr lang="en-US" sz="2400" spc="35"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feature</a:t>
            </a:r>
            <a:r>
              <a:rPr lang="en-US" sz="2400" spc="3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subset</a:t>
            </a:r>
            <a:r>
              <a:rPr lang="en-US" sz="2400" spc="3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a:t>
            </a:r>
            <a:r>
              <a:rPr lang="en-US" sz="2400" spc="35" dirty="0" smtClean="0">
                <a:latin typeface="Times New Roman" pitchFamily="18" charset="0"/>
                <a:cs typeface="Times New Roman" pitchFamily="18" charset="0"/>
              </a:rPr>
              <a:t> </a:t>
            </a:r>
            <a:r>
              <a:rPr lang="en-US" sz="2400" spc="60" dirty="0" smtClean="0">
                <a:latin typeface="Times New Roman" pitchFamily="18" charset="0"/>
                <a:cs typeface="Times New Roman" pitchFamily="18" charset="0"/>
              </a:rPr>
              <a:t>NP-</a:t>
            </a:r>
            <a:r>
              <a:rPr lang="en-US" sz="2400" dirty="0" smtClean="0">
                <a:latin typeface="Times New Roman" pitchFamily="18" charset="0"/>
                <a:cs typeface="Times New Roman" pitchFamily="18" charset="0"/>
              </a:rPr>
              <a:t>hard,</a:t>
            </a:r>
            <a:r>
              <a:rPr lang="en-US" sz="2400" spc="3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most</a:t>
            </a:r>
            <a:r>
              <a:rPr lang="en-US" sz="2400" spc="3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methods</a:t>
            </a:r>
            <a:r>
              <a:rPr lang="en-US" sz="2400" spc="3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employ </a:t>
            </a:r>
            <a:r>
              <a:rPr lang="en-US" sz="2400" spc="-35" dirty="0" smtClean="0">
                <a:latin typeface="Times New Roman" pitchFamily="18" charset="0"/>
                <a:cs typeface="Times New Roman" pitchFamily="18" charset="0"/>
              </a:rPr>
              <a:t>forward/backward</a:t>
            </a:r>
            <a:r>
              <a:rPr lang="en-US" sz="2400" spc="-5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sequential</a:t>
            </a:r>
            <a:r>
              <a:rPr lang="en-US" sz="2400" spc="-4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search</a:t>
            </a:r>
            <a:r>
              <a:rPr lang="en-US" sz="2400" spc="-5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heuristics</a:t>
            </a:r>
            <a:endParaRPr lang="en-US" sz="2400" dirty="0" smtClean="0">
              <a:latin typeface="Times New Roman" pitchFamily="18" charset="0"/>
              <a:cs typeface="Times New Roman" pitchFamily="18" charset="0"/>
            </a:endParaRPr>
          </a:p>
          <a:p>
            <a:r>
              <a:rPr lang="en-US" sz="2400" spc="-55" dirty="0" smtClean="0">
                <a:latin typeface="Times New Roman" pitchFamily="18" charset="0"/>
                <a:cs typeface="Times New Roman" pitchFamily="18" charset="0"/>
              </a:rPr>
              <a:t>E.g.,</a:t>
            </a:r>
            <a:r>
              <a:rPr lang="en-US" sz="2400" spc="-8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for</a:t>
            </a:r>
            <a:r>
              <a:rPr lang="en-US" sz="2400" spc="-80" dirty="0" smtClean="0">
                <a:latin typeface="Times New Roman" pitchFamily="18" charset="0"/>
                <a:cs typeface="Times New Roman" pitchFamily="18" charset="0"/>
              </a:rPr>
              <a:t> </a:t>
            </a:r>
            <a:r>
              <a:rPr lang="en-US" sz="2400" spc="-35" dirty="0" smtClean="0">
                <a:latin typeface="Times New Roman" pitchFamily="18" charset="0"/>
                <a:cs typeface="Times New Roman" pitchFamily="18" charset="0"/>
              </a:rPr>
              <a:t>forward</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search,</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given</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selected</a:t>
            </a:r>
            <a:r>
              <a:rPr lang="en-US" sz="2400" spc="-7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a:t>
            </a:r>
            <a:r>
              <a:rPr lang="en-US" sz="2400" spc="-80" dirty="0" smtClean="0">
                <a:latin typeface="Times New Roman" pitchFamily="18" charset="0"/>
                <a:cs typeface="Times New Roman" pitchFamily="18" charset="0"/>
              </a:rPr>
              <a:t> </a:t>
            </a:r>
            <a:r>
              <a:rPr lang="en-US" sz="2400" spc="90" dirty="0" smtClean="0">
                <a:latin typeface="Times New Roman" pitchFamily="18" charset="0"/>
                <a:cs typeface="Times New Roman" pitchFamily="18" charset="0"/>
              </a:rPr>
              <a:t>S,</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we</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should</a:t>
            </a:r>
            <a:r>
              <a:rPr lang="en-US" sz="2400" spc="-80" dirty="0" smtClean="0">
                <a:latin typeface="Times New Roman" pitchFamily="18" charset="0"/>
                <a:cs typeface="Times New Roman" pitchFamily="18" charset="0"/>
              </a:rPr>
              <a:t> </a:t>
            </a:r>
            <a:r>
              <a:rPr lang="en-US" sz="2400" spc="75" dirty="0" smtClean="0">
                <a:latin typeface="Times New Roman" pitchFamily="18" charset="0"/>
                <a:cs typeface="Times New Roman" pitchFamily="18" charset="0"/>
              </a:rPr>
              <a:t>do</a:t>
            </a:r>
            <a:r>
              <a:rPr lang="en-US" sz="2400" spc="-7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the following</a:t>
            </a:r>
            <a:r>
              <a:rPr lang="en-US" sz="2400" spc="-16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for</a:t>
            </a:r>
            <a:r>
              <a:rPr lang="en-US" sz="2400" spc="-114"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130"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next</a:t>
            </a:r>
            <a:r>
              <a:rPr lang="en-US" sz="2400" spc="-13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selected</a:t>
            </a:r>
            <a:r>
              <a:rPr lang="en-US" sz="2400" spc="-13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feature</a:t>
            </a:r>
            <a:endParaRPr lang="en-US" sz="2400" dirty="0" smtClean="0">
              <a:latin typeface="Times New Roman" pitchFamily="18" charset="0"/>
              <a:cs typeface="Times New Roman" pitchFamily="18" charset="0"/>
            </a:endParaRPr>
          </a:p>
          <a:p>
            <a:r>
              <a:rPr lang="en-US" sz="2400" spc="310" dirty="0" smtClean="0">
                <a:latin typeface="Times New Roman" pitchFamily="18" charset="0"/>
                <a:cs typeface="Times New Roman" pitchFamily="18" charset="0"/>
              </a:rPr>
              <a:t>–</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Maximize</a:t>
            </a:r>
            <a:r>
              <a:rPr lang="en-US" sz="2400" spc="-6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its</a:t>
            </a:r>
            <a:r>
              <a:rPr lang="en-US" sz="2400" spc="-60"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correlation</a:t>
            </a:r>
            <a:r>
              <a:rPr lang="en-US" sz="2400" spc="-65" dirty="0" smtClean="0">
                <a:latin typeface="Times New Roman" pitchFamily="18" charset="0"/>
                <a:cs typeface="Times New Roman" pitchFamily="18" charset="0"/>
              </a:rPr>
              <a:t> </a:t>
            </a:r>
            <a:r>
              <a:rPr lang="en-US" sz="2400" spc="-75" dirty="0" smtClean="0">
                <a:latin typeface="Times New Roman" pitchFamily="18" charset="0"/>
                <a:cs typeface="Times New Roman" pitchFamily="18" charset="0"/>
              </a:rPr>
              <a:t>with</a:t>
            </a:r>
            <a:r>
              <a:rPr lang="en-US" sz="2400" spc="-60" dirty="0" smtClean="0">
                <a:latin typeface="Times New Roman" pitchFamily="18" charset="0"/>
                <a:cs typeface="Times New Roman" pitchFamily="18" charset="0"/>
              </a:rPr>
              <a:t> </a:t>
            </a:r>
            <a:r>
              <a:rPr lang="en-US" sz="2400" spc="70" dirty="0" smtClean="0">
                <a:latin typeface="Times New Roman" pitchFamily="18" charset="0"/>
                <a:cs typeface="Times New Roman" pitchFamily="18" charset="0"/>
              </a:rPr>
              <a:t>class</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labels</a:t>
            </a:r>
            <a:r>
              <a:rPr lang="en-US" sz="2400" spc="-6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Y: </a:t>
            </a:r>
          </a:p>
          <a:p>
            <a:endParaRPr lang="en-US" sz="2400" dirty="0" smtClean="0">
              <a:latin typeface="Times New Roman" pitchFamily="18" charset="0"/>
              <a:cs typeface="Times New Roman" pitchFamily="18" charset="0"/>
            </a:endParaRPr>
          </a:p>
          <a:p>
            <a:r>
              <a:rPr lang="en-US" sz="2400" spc="310" dirty="0" smtClean="0">
                <a:latin typeface="Times New Roman" pitchFamily="18" charset="0"/>
                <a:cs typeface="Times New Roman" pitchFamily="18" charset="0"/>
              </a:rPr>
              <a:t>–</a:t>
            </a:r>
            <a:r>
              <a:rPr lang="en-US" sz="2400" spc="-12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Minimize</a:t>
            </a:r>
            <a:r>
              <a:rPr lang="en-US" sz="2400" spc="-90"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9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redundancy</a:t>
            </a:r>
            <a:r>
              <a:rPr lang="en-US" sz="2400" spc="-90" dirty="0" smtClean="0">
                <a:latin typeface="Times New Roman" pitchFamily="18" charset="0"/>
                <a:cs typeface="Times New Roman" pitchFamily="18" charset="0"/>
              </a:rPr>
              <a:t> </a:t>
            </a:r>
            <a:r>
              <a:rPr lang="en-US" sz="2400" spc="-229" dirty="0" err="1" smtClean="0">
                <a:latin typeface="Times New Roman" pitchFamily="18" charset="0"/>
                <a:cs typeface="Times New Roman" pitchFamily="18" charset="0"/>
              </a:rPr>
              <a:t>w.r.t</a:t>
            </a:r>
            <a:r>
              <a:rPr lang="en-US" sz="2400" spc="-229" dirty="0" smtClean="0">
                <a:latin typeface="Times New Roman" pitchFamily="18" charset="0"/>
                <a:cs typeface="Times New Roman" pitchFamily="18" charset="0"/>
              </a:rPr>
              <a:t>.</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selected</a:t>
            </a:r>
            <a:r>
              <a:rPr lang="en-US" sz="2400" spc="-8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a:t>
            </a:r>
            <a:r>
              <a:rPr lang="en-US" sz="2400" spc="-9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in</a:t>
            </a:r>
            <a:r>
              <a:rPr lang="en-US" sz="2400" spc="-90"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S:</a:t>
            </a:r>
          </a:p>
          <a:p>
            <a:endParaRPr lang="en-US" sz="2400" spc="65"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spc="310" dirty="0" smtClean="0">
                <a:latin typeface="Times New Roman" pitchFamily="18" charset="0"/>
                <a:cs typeface="Times New Roman" pitchFamily="18" charset="0"/>
              </a:rPr>
              <a:t>–</a:t>
            </a:r>
            <a:r>
              <a:rPr lang="en-US" sz="2400" spc="-11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Maximize</a:t>
            </a:r>
            <a:r>
              <a:rPr lang="en-US" sz="2400" spc="-8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its</a:t>
            </a:r>
            <a:r>
              <a:rPr lang="en-US" sz="2400" spc="-8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complementary</a:t>
            </a:r>
            <a:r>
              <a:rPr lang="en-US" sz="2400" spc="-8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info</a:t>
            </a:r>
            <a:r>
              <a:rPr lang="en-US" sz="2400" spc="-85" dirty="0" smtClean="0">
                <a:latin typeface="Times New Roman" pitchFamily="18" charset="0"/>
                <a:cs typeface="Times New Roman" pitchFamily="18" charset="0"/>
              </a:rPr>
              <a:t> </a:t>
            </a:r>
            <a:r>
              <a:rPr lang="en-US" sz="2400" spc="-229" dirty="0" err="1" smtClean="0">
                <a:latin typeface="Times New Roman" pitchFamily="18" charset="0"/>
                <a:cs typeface="Times New Roman" pitchFamily="18" charset="0"/>
              </a:rPr>
              <a:t>w.r.t</a:t>
            </a:r>
            <a:r>
              <a:rPr lang="en-US" sz="2400" spc="-229" dirty="0" smtClean="0">
                <a:latin typeface="Times New Roman" pitchFamily="18" charset="0"/>
                <a:cs typeface="Times New Roman" pitchFamily="18" charset="0"/>
              </a:rPr>
              <a:t>.</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selected</a:t>
            </a:r>
            <a:r>
              <a:rPr lang="en-US" sz="2400" spc="-85" dirty="0" smtClean="0">
                <a:latin typeface="Times New Roman" pitchFamily="18" charset="0"/>
                <a:cs typeface="Times New Roman" pitchFamily="18" charset="0"/>
              </a:rPr>
              <a:t> </a:t>
            </a:r>
            <a:r>
              <a:rPr lang="en-US" sz="2400" spc="-40" dirty="0" smtClean="0">
                <a:latin typeface="Times New Roman" pitchFamily="18" charset="0"/>
                <a:cs typeface="Times New Roman" pitchFamily="18" charset="0"/>
              </a:rPr>
              <a:t>features</a:t>
            </a:r>
            <a:r>
              <a:rPr lang="en-US" sz="2400" spc="-8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in</a:t>
            </a:r>
            <a:r>
              <a:rPr lang="en-US" sz="2400" spc="-85" dirty="0" smtClean="0">
                <a:latin typeface="Times New Roman" pitchFamily="18" charset="0"/>
                <a:cs typeface="Times New Roman" pitchFamily="18" charset="0"/>
              </a:rPr>
              <a:t> </a:t>
            </a:r>
            <a:r>
              <a:rPr lang="en-US" sz="2400" spc="65" dirty="0" smtClean="0">
                <a:latin typeface="Times New Roman" pitchFamily="18" charset="0"/>
                <a:cs typeface="Times New Roman" pitchFamily="18" charset="0"/>
              </a:rPr>
              <a:t>S:</a:t>
            </a:r>
            <a:endParaRPr lang="en-US" sz="2400" dirty="0" smtClean="0">
              <a:latin typeface="Times New Roman" pitchFamily="18" charset="0"/>
              <a:cs typeface="Times New Roman" pitchFamily="18" charset="0"/>
            </a:endParaRPr>
          </a:p>
          <a:p>
            <a:endParaRPr lang="en-US" dirty="0"/>
          </a:p>
        </p:txBody>
      </p:sp>
      <p:pic>
        <p:nvPicPr>
          <p:cNvPr id="4" name="object 11"/>
          <p:cNvPicPr/>
          <p:nvPr/>
        </p:nvPicPr>
        <p:blipFill>
          <a:blip r:embed="rId3" cstate="print"/>
          <a:stretch>
            <a:fillRect/>
          </a:stretch>
        </p:blipFill>
        <p:spPr>
          <a:xfrm>
            <a:off x="3276600" y="3657600"/>
            <a:ext cx="1447800" cy="457200"/>
          </a:xfrm>
          <a:prstGeom prst="rect">
            <a:avLst/>
          </a:prstGeom>
        </p:spPr>
      </p:pic>
      <p:grpSp>
        <p:nvGrpSpPr>
          <p:cNvPr id="5" name="object 13"/>
          <p:cNvGrpSpPr/>
          <p:nvPr/>
        </p:nvGrpSpPr>
        <p:grpSpPr>
          <a:xfrm>
            <a:off x="2971800" y="4724400"/>
            <a:ext cx="3003550" cy="673322"/>
            <a:chOff x="4895850" y="6832823"/>
            <a:chExt cx="3136900" cy="927100"/>
          </a:xfrm>
        </p:grpSpPr>
        <p:pic>
          <p:nvPicPr>
            <p:cNvPr id="6" name="object 14"/>
            <p:cNvPicPr/>
            <p:nvPr/>
          </p:nvPicPr>
          <p:blipFill>
            <a:blip r:embed="rId4" cstate="print"/>
            <a:stretch>
              <a:fillRect/>
            </a:stretch>
          </p:blipFill>
          <p:spPr>
            <a:xfrm>
              <a:off x="4895850" y="7004273"/>
              <a:ext cx="3136900" cy="755650"/>
            </a:xfrm>
            <a:prstGeom prst="rect">
              <a:avLst/>
            </a:prstGeom>
          </p:spPr>
        </p:pic>
        <p:sp>
          <p:nvSpPr>
            <p:cNvPr id="7" name="object 15"/>
            <p:cNvSpPr/>
            <p:nvPr/>
          </p:nvSpPr>
          <p:spPr>
            <a:xfrm>
              <a:off x="5156200" y="6832823"/>
              <a:ext cx="1270000" cy="324485"/>
            </a:xfrm>
            <a:custGeom>
              <a:avLst/>
              <a:gdLst/>
              <a:ahLst/>
              <a:cxnLst/>
              <a:rect l="l" t="t" r="r" b="b"/>
              <a:pathLst>
                <a:path w="1270000" h="324484">
                  <a:moveTo>
                    <a:pt x="0" y="0"/>
                  </a:moveTo>
                  <a:lnTo>
                    <a:pt x="1270000" y="0"/>
                  </a:lnTo>
                  <a:lnTo>
                    <a:pt x="1270000" y="324305"/>
                  </a:lnTo>
                  <a:lnTo>
                    <a:pt x="0" y="324305"/>
                  </a:lnTo>
                  <a:lnTo>
                    <a:pt x="0" y="0"/>
                  </a:lnTo>
                  <a:close/>
                </a:path>
              </a:pathLst>
            </a:custGeom>
            <a:solidFill>
              <a:srgbClr val="FFFFFF"/>
            </a:solidFill>
          </p:spPr>
          <p:txBody>
            <a:bodyPr wrap="square" lIns="0" tIns="0" rIns="0" bIns="0" rtlCol="0"/>
            <a:lstStyle/>
            <a:p>
              <a:endParaRPr/>
            </a:p>
          </p:txBody>
        </p:sp>
      </p:grpSp>
      <p:pic>
        <p:nvPicPr>
          <p:cNvPr id="8" name="object 12"/>
          <p:cNvPicPr/>
          <p:nvPr/>
        </p:nvPicPr>
        <p:blipFill>
          <a:blip r:embed="rId5" cstate="print"/>
          <a:stretch>
            <a:fillRect/>
          </a:stretch>
        </p:blipFill>
        <p:spPr>
          <a:xfrm>
            <a:off x="2895600" y="6096000"/>
            <a:ext cx="3765550" cy="457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Sparse learning based methods</a:t>
            </a:r>
            <a:endParaRPr lang="en-US" dirty="0"/>
          </a:p>
        </p:txBody>
      </p:sp>
      <p:sp>
        <p:nvSpPr>
          <p:cNvPr id="3" name="Content Placeholder 2"/>
          <p:cNvSpPr>
            <a:spLocks noGrp="1"/>
          </p:cNvSpPr>
          <p:nvPr>
            <p:ph idx="1"/>
          </p:nvPr>
        </p:nvSpPr>
        <p:spPr>
          <a:xfrm>
            <a:off x="457200" y="1295400"/>
            <a:ext cx="8229600" cy="5181600"/>
          </a:xfrm>
        </p:spPr>
        <p:txBody>
          <a:bodyPr/>
          <a:lstStyle/>
          <a:p>
            <a:r>
              <a:rPr lang="en-US" sz="2800" spc="-295" dirty="0" smtClean="0">
                <a:latin typeface="Times New Roman" pitchFamily="18" charset="0"/>
                <a:cs typeface="Times New Roman" pitchFamily="18" charset="0"/>
              </a:rPr>
              <a:t>What</a:t>
            </a:r>
            <a:r>
              <a:rPr lang="en-US" sz="2800" spc="-360" dirty="0" smtClean="0">
                <a:latin typeface="Times New Roman" pitchFamily="18" charset="0"/>
                <a:cs typeface="Times New Roman" pitchFamily="18" charset="0"/>
              </a:rPr>
              <a:t> </a:t>
            </a:r>
            <a:r>
              <a:rPr lang="en-US" sz="2800" spc="-100" dirty="0" smtClean="0">
                <a:latin typeface="Times New Roman" pitchFamily="18" charset="0"/>
                <a:cs typeface="Times New Roman" pitchFamily="18" charset="0"/>
              </a:rPr>
              <a:t>is</a:t>
            </a:r>
            <a:r>
              <a:rPr lang="en-US" sz="2800" spc="-355" dirty="0" smtClean="0">
                <a:latin typeface="Times New Roman" pitchFamily="18" charset="0"/>
                <a:cs typeface="Times New Roman" pitchFamily="18" charset="0"/>
              </a:rPr>
              <a:t> </a:t>
            </a:r>
            <a:r>
              <a:rPr lang="en-US" sz="2800" spc="-254" dirty="0" smtClean="0">
                <a:latin typeface="Times New Roman" pitchFamily="18" charset="0"/>
                <a:cs typeface="Times New Roman" pitchFamily="18" charset="0"/>
              </a:rPr>
              <a:t>Feature</a:t>
            </a:r>
            <a:r>
              <a:rPr lang="en-US" sz="2800" spc="-360" dirty="0" smtClean="0">
                <a:latin typeface="Times New Roman" pitchFamily="18" charset="0"/>
                <a:cs typeface="Times New Roman" pitchFamily="18" charset="0"/>
              </a:rPr>
              <a:t>  </a:t>
            </a:r>
            <a:r>
              <a:rPr lang="en-US" sz="2800" spc="-150" dirty="0" err="1" smtClean="0">
                <a:latin typeface="Times New Roman" pitchFamily="18" charset="0"/>
                <a:cs typeface="Times New Roman" pitchFamily="18" charset="0"/>
              </a:rPr>
              <a:t>Sparsity</a:t>
            </a:r>
            <a:r>
              <a:rPr lang="en-US" sz="2800" spc="-15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The</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model</a:t>
            </a:r>
            <a:r>
              <a:rPr lang="en-US" sz="2400" spc="-6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parameters</a:t>
            </a:r>
            <a:r>
              <a:rPr lang="en-US" sz="2400" spc="-7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in</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many</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data</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mining</a:t>
            </a:r>
            <a:r>
              <a:rPr lang="en-US" sz="2400" spc="-70"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tasks</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can</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be</a:t>
            </a:r>
            <a:r>
              <a:rPr lang="en-US" sz="2400" spc="-6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represented</a:t>
            </a:r>
            <a:r>
              <a:rPr lang="en-US" sz="2400" spc="-70" dirty="0" smtClean="0">
                <a:latin typeface="Times New Roman" pitchFamily="18" charset="0"/>
                <a:cs typeface="Times New Roman" pitchFamily="18" charset="0"/>
              </a:rPr>
              <a:t> </a:t>
            </a:r>
            <a:r>
              <a:rPr lang="en-US" sz="2400" spc="120" dirty="0" smtClean="0">
                <a:latin typeface="Times New Roman" pitchFamily="18" charset="0"/>
                <a:cs typeface="Times New Roman" pitchFamily="18" charset="0"/>
              </a:rPr>
              <a:t>as</a:t>
            </a:r>
            <a:r>
              <a:rPr lang="en-US" sz="2400" spc="-6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a </a:t>
            </a:r>
            <a:r>
              <a:rPr lang="en-US" sz="2400" dirty="0" smtClean="0">
                <a:latin typeface="Times New Roman" pitchFamily="18" charset="0"/>
                <a:cs typeface="Times New Roman" pitchFamily="18" charset="0"/>
              </a:rPr>
              <a:t>vector</a:t>
            </a:r>
            <a:r>
              <a:rPr lang="en-US" sz="2400" spc="525" dirty="0" smtClean="0">
                <a:latin typeface="Times New Roman" pitchFamily="18" charset="0"/>
                <a:cs typeface="Times New Roman" pitchFamily="18" charset="0"/>
              </a:rPr>
              <a:t> </a:t>
            </a:r>
            <a:r>
              <a:rPr lang="en-US" sz="2400" b="1" spc="70" dirty="0" smtClean="0">
                <a:latin typeface="Times New Roman" pitchFamily="18" charset="0"/>
                <a:cs typeface="Times New Roman" pitchFamily="18" charset="0"/>
              </a:rPr>
              <a:t>w</a:t>
            </a:r>
            <a:r>
              <a:rPr lang="en-US" sz="2400" b="1" spc="-4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a:t>
            </a:r>
            <a:r>
              <a:rPr lang="en-US" sz="2400" spc="-1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a:t>
            </a:r>
            <a:r>
              <a:rPr lang="en-US" sz="2400" spc="-100" dirty="0" smtClean="0">
                <a:latin typeface="Times New Roman" pitchFamily="18" charset="0"/>
                <a:cs typeface="Times New Roman" pitchFamily="18" charset="0"/>
              </a:rPr>
              <a:t> </a:t>
            </a:r>
            <a:r>
              <a:rPr lang="en-US" sz="2400" spc="-70" dirty="0" smtClean="0">
                <a:latin typeface="Times New Roman" pitchFamily="18" charset="0"/>
                <a:cs typeface="Times New Roman" pitchFamily="18" charset="0"/>
              </a:rPr>
              <a:t>matrix</a:t>
            </a:r>
            <a:r>
              <a:rPr lang="en-US" sz="2400" spc="-100" dirty="0" smtClean="0">
                <a:latin typeface="Times New Roman" pitchFamily="18" charset="0"/>
                <a:cs typeface="Times New Roman" pitchFamily="18" charset="0"/>
              </a:rPr>
              <a:t> </a:t>
            </a:r>
            <a:r>
              <a:rPr lang="en-US" sz="2400" b="1" spc="-50" dirty="0" smtClean="0">
                <a:latin typeface="Times New Roman" pitchFamily="18" charset="0"/>
                <a:cs typeface="Times New Roman" pitchFamily="18" charset="0"/>
              </a:rPr>
              <a:t>W</a:t>
            </a:r>
            <a:endParaRPr lang="en-US" sz="2400" dirty="0" smtClean="0">
              <a:latin typeface="Times New Roman" pitchFamily="18" charset="0"/>
              <a:cs typeface="Times New Roman" pitchFamily="18" charset="0"/>
            </a:endParaRPr>
          </a:p>
          <a:p>
            <a:r>
              <a:rPr lang="en-US" sz="2400" dirty="0" err="1" smtClean="0">
                <a:latin typeface="Times New Roman" pitchFamily="18" charset="0"/>
                <a:cs typeface="Times New Roman" pitchFamily="18" charset="0"/>
              </a:rPr>
              <a:t>Sparsity</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indicates</a:t>
            </a:r>
            <a:r>
              <a:rPr lang="en-US" sz="2400" spc="-60" dirty="0" smtClean="0">
                <a:latin typeface="Times New Roman" pitchFamily="18" charset="0"/>
                <a:cs typeface="Times New Roman" pitchFamily="18" charset="0"/>
              </a:rPr>
              <a:t> </a:t>
            </a:r>
            <a:r>
              <a:rPr lang="en-US" sz="2400" spc="-80" dirty="0" smtClean="0">
                <a:latin typeface="Times New Roman" pitchFamily="18" charset="0"/>
                <a:cs typeface="Times New Roman" pitchFamily="18" charset="0"/>
              </a:rPr>
              <a:t>that</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many</a:t>
            </a:r>
            <a:r>
              <a:rPr lang="en-US" sz="2400" spc="-6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elements</a:t>
            </a:r>
            <a:r>
              <a:rPr lang="en-US" sz="2400" spc="-6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in</a:t>
            </a:r>
            <a:r>
              <a:rPr lang="en-US" sz="2400" spc="-60" dirty="0" smtClean="0">
                <a:latin typeface="Times New Roman" pitchFamily="18" charset="0"/>
                <a:cs typeface="Times New Roman" pitchFamily="18" charset="0"/>
              </a:rPr>
              <a:t> </a:t>
            </a:r>
            <a:r>
              <a:rPr lang="en-US" sz="2400" b="1" spc="70" dirty="0" smtClean="0">
                <a:latin typeface="Times New Roman" pitchFamily="18" charset="0"/>
                <a:cs typeface="Times New Roman" pitchFamily="18" charset="0"/>
              </a:rPr>
              <a:t>w</a:t>
            </a:r>
            <a:r>
              <a:rPr lang="en-US" sz="2400" b="1" spc="-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a:t>
            </a:r>
            <a:r>
              <a:rPr lang="en-US" sz="2400" spc="-6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W</a:t>
            </a:r>
            <a:r>
              <a:rPr lang="en-US" sz="2400" b="1" spc="-5" dirty="0" smtClean="0">
                <a:latin typeface="Times New Roman" pitchFamily="18" charset="0"/>
                <a:cs typeface="Times New Roman" pitchFamily="18" charset="0"/>
              </a:rPr>
              <a:t> </a:t>
            </a:r>
            <a:r>
              <a:rPr lang="en-US" sz="2400" spc="-45" dirty="0" smtClean="0">
                <a:latin typeface="Times New Roman" pitchFamily="18" charset="0"/>
                <a:cs typeface="Times New Roman" pitchFamily="18" charset="0"/>
              </a:rPr>
              <a:t>are</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small</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a:t>
            </a:r>
            <a:r>
              <a:rPr lang="en-US" sz="2400" spc="-60"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exactly</a:t>
            </a:r>
            <a:r>
              <a:rPr lang="en-US" sz="2400" spc="-6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zero</a:t>
            </a:r>
            <a:endParaRPr lang="en-US" sz="2400" dirty="0" smtClean="0">
              <a:latin typeface="Times New Roman" pitchFamily="18" charset="0"/>
              <a:cs typeface="Times New Roman" pitchFamily="18" charset="0"/>
            </a:endParaRPr>
          </a:p>
          <a:p>
            <a:endParaRPr lang="en-US" dirty="0"/>
          </a:p>
        </p:txBody>
      </p:sp>
      <p:grpSp>
        <p:nvGrpSpPr>
          <p:cNvPr id="4" name="object 7"/>
          <p:cNvGrpSpPr/>
          <p:nvPr/>
        </p:nvGrpSpPr>
        <p:grpSpPr>
          <a:xfrm>
            <a:off x="685800" y="3746739"/>
            <a:ext cx="7800340" cy="3111261"/>
            <a:chOff x="812800" y="4553346"/>
            <a:chExt cx="11102340" cy="4349115"/>
          </a:xfrm>
        </p:grpSpPr>
        <p:pic>
          <p:nvPicPr>
            <p:cNvPr id="5" name="object 8"/>
            <p:cNvPicPr/>
            <p:nvPr/>
          </p:nvPicPr>
          <p:blipFill>
            <a:blip r:embed="rId3" cstate="print"/>
            <a:stretch>
              <a:fillRect/>
            </a:stretch>
          </p:blipFill>
          <p:spPr>
            <a:xfrm>
              <a:off x="2054373" y="4738857"/>
              <a:ext cx="9838354" cy="3638600"/>
            </a:xfrm>
            <a:prstGeom prst="rect">
              <a:avLst/>
            </a:prstGeom>
          </p:spPr>
        </p:pic>
        <p:sp>
          <p:nvSpPr>
            <p:cNvPr id="6" name="object 9"/>
            <p:cNvSpPr/>
            <p:nvPr/>
          </p:nvSpPr>
          <p:spPr>
            <a:xfrm>
              <a:off x="812800" y="4553356"/>
              <a:ext cx="11102340" cy="4349115"/>
            </a:xfrm>
            <a:custGeom>
              <a:avLst/>
              <a:gdLst/>
              <a:ahLst/>
              <a:cxnLst/>
              <a:rect l="l" t="t" r="r" b="b"/>
              <a:pathLst>
                <a:path w="11102340" h="4349115">
                  <a:moveTo>
                    <a:pt x="3209290" y="0"/>
                  </a:moveTo>
                  <a:lnTo>
                    <a:pt x="0" y="0"/>
                  </a:lnTo>
                  <a:lnTo>
                    <a:pt x="0" y="919162"/>
                  </a:lnTo>
                  <a:lnTo>
                    <a:pt x="3209290" y="919162"/>
                  </a:lnTo>
                  <a:lnTo>
                    <a:pt x="3209290" y="0"/>
                  </a:lnTo>
                  <a:close/>
                </a:path>
                <a:path w="11102340" h="4349115">
                  <a:moveTo>
                    <a:pt x="11102302" y="3803243"/>
                  </a:moveTo>
                  <a:lnTo>
                    <a:pt x="1219200" y="3803243"/>
                  </a:lnTo>
                  <a:lnTo>
                    <a:pt x="1219200" y="4348556"/>
                  </a:lnTo>
                  <a:lnTo>
                    <a:pt x="11102302" y="4348556"/>
                  </a:lnTo>
                  <a:lnTo>
                    <a:pt x="11102302" y="3803243"/>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180" dirty="0" smtClean="0"/>
              <a:t>Sparse</a:t>
            </a:r>
            <a:r>
              <a:rPr lang="en-US" spc="-325" dirty="0" smtClean="0"/>
              <a:t> </a:t>
            </a:r>
            <a:r>
              <a:rPr lang="en-US" spc="-215" dirty="0" smtClean="0"/>
              <a:t>Learning</a:t>
            </a:r>
            <a:r>
              <a:rPr lang="en-US" spc="-320" dirty="0" smtClean="0"/>
              <a:t> </a:t>
            </a:r>
            <a:r>
              <a:rPr lang="en-US" spc="-130" dirty="0" smtClean="0"/>
              <a:t>Methods</a:t>
            </a:r>
            <a:r>
              <a:rPr lang="en-US" spc="-325" dirty="0" smtClean="0"/>
              <a:t> </a:t>
            </a:r>
            <a:r>
              <a:rPr lang="en-US" spc="-345" dirty="0" smtClean="0"/>
              <a:t>-</a:t>
            </a:r>
            <a:r>
              <a:rPr lang="en-US" spc="-320" dirty="0" smtClean="0"/>
              <a:t> </a:t>
            </a:r>
            <a:r>
              <a:rPr lang="en-US" spc="-50" dirty="0" smtClean="0"/>
              <a:t>A </a:t>
            </a:r>
            <a:r>
              <a:rPr lang="en-US" spc="-229" dirty="0" smtClean="0"/>
              <a:t>General</a:t>
            </a:r>
            <a:r>
              <a:rPr lang="en-US" spc="-330" dirty="0" smtClean="0"/>
              <a:t> </a:t>
            </a:r>
            <a:r>
              <a:rPr lang="en-US" spc="-135" dirty="0" smtClean="0"/>
              <a:t>Framework</a:t>
            </a:r>
            <a:endParaRPr lang="en-US" dirty="0"/>
          </a:p>
        </p:txBody>
      </p:sp>
      <p:sp>
        <p:nvSpPr>
          <p:cNvPr id="3" name="Content Placeholder 2"/>
          <p:cNvSpPr>
            <a:spLocks noGrp="1"/>
          </p:cNvSpPr>
          <p:nvPr>
            <p:ph idx="1"/>
          </p:nvPr>
        </p:nvSpPr>
        <p:spPr/>
        <p:txBody>
          <a:bodyPr/>
          <a:lstStyle/>
          <a:p>
            <a:r>
              <a:rPr lang="en-US" sz="2400" dirty="0" smtClean="0">
                <a:latin typeface="Times New Roman" pitchFamily="18" charset="0"/>
                <a:cs typeface="Times New Roman" pitchFamily="18" charset="0"/>
              </a:rPr>
              <a:t>Let</a:t>
            </a:r>
            <a:r>
              <a:rPr lang="en-US" sz="2400" spc="-100" dirty="0" smtClean="0">
                <a:latin typeface="Times New Roman" pitchFamily="18" charset="0"/>
                <a:cs typeface="Times New Roman" pitchFamily="18" charset="0"/>
              </a:rPr>
              <a:t> </a:t>
            </a:r>
            <a:r>
              <a:rPr lang="en-US" sz="2400" spc="110" dirty="0" smtClean="0">
                <a:latin typeface="Times New Roman" pitchFamily="18" charset="0"/>
                <a:cs typeface="Times New Roman" pitchFamily="18" charset="0"/>
              </a:rPr>
              <a:t>us</a:t>
            </a:r>
            <a:r>
              <a:rPr lang="en-US" sz="2400" spc="-95" dirty="0" smtClean="0">
                <a:latin typeface="Times New Roman" pitchFamily="18" charset="0"/>
                <a:cs typeface="Times New Roman" pitchFamily="18" charset="0"/>
              </a:rPr>
              <a:t> </a:t>
            </a:r>
            <a:r>
              <a:rPr lang="en-US" sz="2400" spc="-55" dirty="0" smtClean="0">
                <a:latin typeface="Times New Roman" pitchFamily="18" charset="0"/>
                <a:cs typeface="Times New Roman" pitchFamily="18" charset="0"/>
              </a:rPr>
              <a:t>start</a:t>
            </a:r>
            <a:r>
              <a:rPr lang="en-US" sz="2400" spc="-9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from</a:t>
            </a:r>
            <a:r>
              <a:rPr lang="en-US" sz="2400" spc="-9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95"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binary</a:t>
            </a:r>
            <a:r>
              <a:rPr lang="en-US" sz="2400" spc="-100" dirty="0" smtClean="0">
                <a:latin typeface="Times New Roman" pitchFamily="18" charset="0"/>
                <a:cs typeface="Times New Roman" pitchFamily="18" charset="0"/>
              </a:rPr>
              <a:t> </a:t>
            </a:r>
            <a:r>
              <a:rPr lang="en-US" sz="2400" spc="-20" dirty="0" smtClean="0">
                <a:latin typeface="Times New Roman" pitchFamily="18" charset="0"/>
                <a:cs typeface="Times New Roman" pitchFamily="18" charset="0"/>
              </a:rPr>
              <a:t>classification</a:t>
            </a:r>
            <a:r>
              <a:rPr lang="en-US" sz="2400" spc="-9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a:t>
            </a:r>
            <a:r>
              <a:rPr lang="en-US" sz="2400" spc="-9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95" dirty="0" smtClean="0">
                <a:latin typeface="Times New Roman" pitchFamily="18" charset="0"/>
                <a:cs typeface="Times New Roman" pitchFamily="18" charset="0"/>
              </a:rPr>
              <a:t> </a:t>
            </a:r>
            <a:r>
              <a:rPr lang="en-US" sz="2400" spc="-50" dirty="0" err="1" smtClean="0">
                <a:latin typeface="Times New Roman" pitchFamily="18" charset="0"/>
                <a:cs typeface="Times New Roman" pitchFamily="18" charset="0"/>
              </a:rPr>
              <a:t>univariate</a:t>
            </a:r>
            <a:r>
              <a:rPr lang="en-US" sz="2400" spc="-9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regression</a:t>
            </a:r>
            <a:r>
              <a:rPr lang="en-US" sz="2400" spc="-95"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problem</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Let</a:t>
            </a:r>
            <a:r>
              <a:rPr lang="en-US" sz="2400" spc="-80" dirty="0" smtClean="0">
                <a:latin typeface="Times New Roman" pitchFamily="18" charset="0"/>
                <a:cs typeface="Times New Roman" pitchFamily="18" charset="0"/>
              </a:rPr>
              <a:t> </a:t>
            </a:r>
            <a:r>
              <a:rPr lang="en-US" sz="2400" b="1" spc="70" dirty="0" smtClean="0">
                <a:latin typeface="Times New Roman" pitchFamily="18" charset="0"/>
                <a:cs typeface="Times New Roman" pitchFamily="18" charset="0"/>
              </a:rPr>
              <a:t>w</a:t>
            </a:r>
            <a:r>
              <a:rPr lang="en-US" sz="2400" b="1" spc="-1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denote</a:t>
            </a:r>
            <a:r>
              <a:rPr lang="en-US" sz="2400" spc="-65" dirty="0" smtClean="0">
                <a:latin typeface="Times New Roman" pitchFamily="18" charset="0"/>
                <a:cs typeface="Times New Roman" pitchFamily="18" charset="0"/>
              </a:rPr>
              <a:t> </a:t>
            </a:r>
            <a:r>
              <a:rPr lang="en-US" sz="2400" spc="-50" dirty="0" smtClean="0">
                <a:latin typeface="Times New Roman" pitchFamily="18" charset="0"/>
                <a:cs typeface="Times New Roman" pitchFamily="18" charset="0"/>
              </a:rPr>
              <a:t>the</a:t>
            </a:r>
            <a:r>
              <a:rPr lang="en-US" sz="2400" spc="-6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model</a:t>
            </a:r>
            <a:r>
              <a:rPr lang="en-US" sz="2400" spc="-65" dirty="0" smtClean="0">
                <a:latin typeface="Times New Roman" pitchFamily="18" charset="0"/>
                <a:cs typeface="Times New Roman" pitchFamily="18" charset="0"/>
              </a:rPr>
              <a:t> </a:t>
            </a:r>
            <a:r>
              <a:rPr lang="en-US" sz="2400" spc="-30" dirty="0" smtClean="0">
                <a:latin typeface="Times New Roman" pitchFamily="18" charset="0"/>
                <a:cs typeface="Times New Roman" pitchFamily="18" charset="0"/>
              </a:rPr>
              <a:t>parameter</a:t>
            </a:r>
            <a:r>
              <a:rPr lang="en-US" sz="2400" spc="-70" dirty="0" smtClean="0">
                <a:latin typeface="Times New Roman" pitchFamily="18" charset="0"/>
                <a:cs typeface="Times New Roman" pitchFamily="18" charset="0"/>
              </a:rPr>
              <a:t> </a:t>
            </a:r>
            <a:r>
              <a:rPr lang="en-US" sz="2400" spc="-130" dirty="0" smtClean="0">
                <a:latin typeface="Times New Roman" pitchFamily="18" charset="0"/>
                <a:cs typeface="Times New Roman" pitchFamily="18" charset="0"/>
              </a:rPr>
              <a:t>(a.k.a.</a:t>
            </a:r>
            <a:r>
              <a:rPr lang="en-US" sz="2400" spc="-60" dirty="0" smtClean="0">
                <a:latin typeface="Times New Roman" pitchFamily="18" charset="0"/>
                <a:cs typeface="Times New Roman" pitchFamily="18" charset="0"/>
              </a:rPr>
              <a:t> </a:t>
            </a:r>
            <a:r>
              <a:rPr lang="en-US" sz="2400" spc="-85" dirty="0" smtClean="0">
                <a:latin typeface="Times New Roman" pitchFamily="18" charset="0"/>
                <a:cs typeface="Times New Roman" pitchFamily="18" charset="0"/>
              </a:rPr>
              <a:t>feature</a:t>
            </a:r>
            <a:r>
              <a:rPr lang="en-US" sz="2400" spc="-65" dirty="0" smtClean="0">
                <a:latin typeface="Times New Roman" pitchFamily="18" charset="0"/>
                <a:cs typeface="Times New Roman" pitchFamily="18" charset="0"/>
              </a:rPr>
              <a:t> </a:t>
            </a:r>
            <a:r>
              <a:rPr lang="en-US" sz="2400" spc="-100" dirty="0" smtClean="0">
                <a:latin typeface="Times New Roman" pitchFamily="18" charset="0"/>
                <a:cs typeface="Times New Roman" pitchFamily="18" charset="0"/>
              </a:rPr>
              <a:t>coefficient),</a:t>
            </a:r>
            <a:r>
              <a:rPr lang="en-US" sz="2400" spc="-65" dirty="0" smtClean="0">
                <a:latin typeface="Times New Roman" pitchFamily="18" charset="0"/>
                <a:cs typeface="Times New Roman" pitchFamily="18" charset="0"/>
              </a:rPr>
              <a:t> </a:t>
            </a:r>
            <a:r>
              <a:rPr lang="en-US" sz="2400" spc="-185" dirty="0" smtClean="0">
                <a:latin typeface="Times New Roman" pitchFamily="18" charset="0"/>
                <a:cs typeface="Times New Roman" pitchFamily="18" charset="0"/>
              </a:rPr>
              <a:t>it</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can</a:t>
            </a:r>
            <a:r>
              <a:rPr lang="en-US" sz="2400" spc="-6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be </a:t>
            </a:r>
            <a:r>
              <a:rPr lang="en-US" sz="2400" dirty="0" smtClean="0">
                <a:latin typeface="Times New Roman" pitchFamily="18" charset="0"/>
                <a:cs typeface="Times New Roman" pitchFamily="18" charset="0"/>
              </a:rPr>
              <a:t>obtained</a:t>
            </a:r>
            <a:r>
              <a:rPr lang="en-US" sz="2400" spc="-7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by</a:t>
            </a:r>
            <a:r>
              <a:rPr lang="en-US" sz="2400" spc="-7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solving</a:t>
            </a:r>
          </a:p>
          <a:p>
            <a:endParaRPr lang="en-US" sz="2400" dirty="0" smtClean="0">
              <a:latin typeface="Times New Roman" pitchFamily="18" charset="0"/>
              <a:cs typeface="Times New Roman" pitchFamily="18" charset="0"/>
            </a:endParaRPr>
          </a:p>
          <a:p>
            <a:endParaRPr lang="en-US" dirty="0"/>
          </a:p>
        </p:txBody>
      </p:sp>
      <p:grpSp>
        <p:nvGrpSpPr>
          <p:cNvPr id="4" name="object 6"/>
          <p:cNvGrpSpPr/>
          <p:nvPr/>
        </p:nvGrpSpPr>
        <p:grpSpPr>
          <a:xfrm>
            <a:off x="228599" y="3352800"/>
            <a:ext cx="8915401" cy="3320295"/>
            <a:chOff x="1058763" y="4619505"/>
            <a:chExt cx="11099800" cy="4263390"/>
          </a:xfrm>
        </p:grpSpPr>
        <p:pic>
          <p:nvPicPr>
            <p:cNvPr id="5" name="object 7"/>
            <p:cNvPicPr/>
            <p:nvPr/>
          </p:nvPicPr>
          <p:blipFill>
            <a:blip r:embed="rId3" cstate="print"/>
            <a:stretch>
              <a:fillRect/>
            </a:stretch>
          </p:blipFill>
          <p:spPr>
            <a:xfrm>
              <a:off x="1058763" y="5012740"/>
              <a:ext cx="11099800" cy="3869566"/>
            </a:xfrm>
            <a:prstGeom prst="rect">
              <a:avLst/>
            </a:prstGeom>
          </p:spPr>
        </p:pic>
        <p:sp>
          <p:nvSpPr>
            <p:cNvPr id="6" name="object 8"/>
            <p:cNvSpPr/>
            <p:nvPr/>
          </p:nvSpPr>
          <p:spPr>
            <a:xfrm>
              <a:off x="1066799" y="4619505"/>
              <a:ext cx="5198745" cy="969010"/>
            </a:xfrm>
            <a:custGeom>
              <a:avLst/>
              <a:gdLst/>
              <a:ahLst/>
              <a:cxnLst/>
              <a:rect l="l" t="t" r="r" b="b"/>
              <a:pathLst>
                <a:path w="5198745" h="969010">
                  <a:moveTo>
                    <a:pt x="0" y="0"/>
                  </a:moveTo>
                  <a:lnTo>
                    <a:pt x="5198367" y="0"/>
                  </a:lnTo>
                  <a:lnTo>
                    <a:pt x="5198367" y="968494"/>
                  </a:lnTo>
                  <a:lnTo>
                    <a:pt x="0" y="968494"/>
                  </a:lnTo>
                  <a:lnTo>
                    <a:pt x="0" y="0"/>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80" dirty="0" smtClean="0"/>
              <a:t>Statistical</a:t>
            </a:r>
            <a:r>
              <a:rPr lang="en-US" spc="-350" dirty="0" smtClean="0"/>
              <a:t> </a:t>
            </a:r>
            <a:r>
              <a:rPr lang="en-US" spc="-125" dirty="0" smtClean="0"/>
              <a:t>based</a:t>
            </a:r>
            <a:r>
              <a:rPr lang="en-US" spc="-350" dirty="0" smtClean="0"/>
              <a:t> </a:t>
            </a:r>
            <a:r>
              <a:rPr lang="en-US" spc="-80" dirty="0" smtClean="0"/>
              <a:t>Methods</a:t>
            </a:r>
            <a:endParaRPr lang="en-US" dirty="0"/>
          </a:p>
        </p:txBody>
      </p:sp>
      <p:sp>
        <p:nvSpPr>
          <p:cNvPr id="3" name="Content Placeholder 2"/>
          <p:cNvSpPr>
            <a:spLocks noGrp="1"/>
          </p:cNvSpPr>
          <p:nvPr>
            <p:ph idx="1"/>
          </p:nvPr>
        </p:nvSpPr>
        <p:spPr/>
        <p:txBody>
          <a:bodyPr>
            <a:normAutofit/>
          </a:bodyPr>
          <a:lstStyle/>
          <a:p>
            <a:pPr algn="just"/>
            <a:r>
              <a:rPr lang="en-US" sz="2800" dirty="0" smtClean="0">
                <a:latin typeface="Times New Roman" pitchFamily="18" charset="0"/>
                <a:cs typeface="Times New Roman" pitchFamily="18" charset="0"/>
              </a:rPr>
              <a:t>This</a:t>
            </a:r>
            <a:r>
              <a:rPr lang="en-US" sz="2800" spc="-55" dirty="0" smtClean="0">
                <a:latin typeface="Times New Roman" pitchFamily="18" charset="0"/>
                <a:cs typeface="Times New Roman" pitchFamily="18" charset="0"/>
              </a:rPr>
              <a:t> </a:t>
            </a:r>
            <a:r>
              <a:rPr lang="en-US" sz="2800" spc="-75" dirty="0" smtClean="0">
                <a:latin typeface="Times New Roman" pitchFamily="18" charset="0"/>
                <a:cs typeface="Times New Roman" pitchFamily="18" charset="0"/>
              </a:rPr>
              <a:t>family</a:t>
            </a:r>
            <a:r>
              <a:rPr lang="en-US" sz="2800" spc="-5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of</a:t>
            </a:r>
            <a:r>
              <a:rPr lang="en-US" sz="2800" spc="-5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algorithms</a:t>
            </a:r>
            <a:r>
              <a:rPr lang="en-US" sz="2800" spc="-55" dirty="0" smtClean="0">
                <a:latin typeface="Times New Roman" pitchFamily="18" charset="0"/>
                <a:cs typeface="Times New Roman" pitchFamily="18" charset="0"/>
              </a:rPr>
              <a:t> </a:t>
            </a:r>
            <a:r>
              <a:rPr lang="en-US" sz="2800" spc="-45" dirty="0" smtClean="0">
                <a:latin typeface="Times New Roman" pitchFamily="18" charset="0"/>
                <a:cs typeface="Times New Roman" pitchFamily="18" charset="0"/>
              </a:rPr>
              <a:t>are</a:t>
            </a:r>
            <a:r>
              <a:rPr lang="en-US" sz="2800" spc="-50" dirty="0" smtClean="0">
                <a:latin typeface="Times New Roman" pitchFamily="18" charset="0"/>
                <a:cs typeface="Times New Roman" pitchFamily="18" charset="0"/>
              </a:rPr>
              <a:t> </a:t>
            </a:r>
            <a:r>
              <a:rPr lang="en-US" sz="2800" spc="70" dirty="0" smtClean="0">
                <a:latin typeface="Times New Roman" pitchFamily="18" charset="0"/>
                <a:cs typeface="Times New Roman" pitchFamily="18" charset="0"/>
              </a:rPr>
              <a:t>based</a:t>
            </a:r>
            <a:r>
              <a:rPr lang="en-US" sz="2800" spc="-55"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on</a:t>
            </a:r>
            <a:r>
              <a:rPr lang="en-US" sz="2800" spc="-50" dirty="0" smtClean="0">
                <a:latin typeface="Times New Roman" pitchFamily="18" charset="0"/>
                <a:cs typeface="Times New Roman" pitchFamily="18" charset="0"/>
              </a:rPr>
              <a:t> </a:t>
            </a:r>
            <a:r>
              <a:rPr lang="en-US" sz="2800" spc="-105" dirty="0" smtClean="0">
                <a:latin typeface="Times New Roman" pitchFamily="18" charset="0"/>
                <a:cs typeface="Times New Roman" pitchFamily="18" charset="0"/>
              </a:rPr>
              <a:t>different</a:t>
            </a:r>
            <a:r>
              <a:rPr lang="en-US" sz="2800" spc="-55" dirty="0" smtClean="0">
                <a:latin typeface="Times New Roman" pitchFamily="18" charset="0"/>
                <a:cs typeface="Times New Roman" pitchFamily="18" charset="0"/>
              </a:rPr>
              <a:t> </a:t>
            </a:r>
            <a:r>
              <a:rPr lang="en-US" sz="2800" spc="-45" dirty="0" smtClean="0">
                <a:latin typeface="Times New Roman" pitchFamily="18" charset="0"/>
                <a:cs typeface="Times New Roman" pitchFamily="18" charset="0"/>
              </a:rPr>
              <a:t>statistical</a:t>
            </a:r>
            <a:r>
              <a:rPr lang="en-US" sz="2800" spc="-5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measures</a:t>
            </a:r>
            <a:r>
              <a:rPr lang="en-US" sz="2800" spc="-55"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to </a:t>
            </a:r>
            <a:r>
              <a:rPr lang="en-US" sz="2800" dirty="0" smtClean="0">
                <a:latin typeface="Times New Roman" pitchFamily="18" charset="0"/>
                <a:cs typeface="Times New Roman" pitchFamily="18" charset="0"/>
              </a:rPr>
              <a:t>measure</a:t>
            </a:r>
            <a:r>
              <a:rPr lang="en-US" sz="2800" spc="-25" dirty="0" smtClean="0">
                <a:latin typeface="Times New Roman" pitchFamily="18" charset="0"/>
                <a:cs typeface="Times New Roman" pitchFamily="18" charset="0"/>
              </a:rPr>
              <a:t> </a:t>
            </a:r>
            <a:r>
              <a:rPr lang="en-US" sz="2800" spc="-85" dirty="0" smtClean="0">
                <a:latin typeface="Times New Roman" pitchFamily="18" charset="0"/>
                <a:cs typeface="Times New Roman" pitchFamily="18" charset="0"/>
              </a:rPr>
              <a:t>feature</a:t>
            </a:r>
            <a:r>
              <a:rPr lang="en-US" sz="2800" spc="-2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importance</a:t>
            </a:r>
            <a:endParaRPr lang="en-US" sz="2800" dirty="0" smtClean="0">
              <a:latin typeface="Times New Roman" pitchFamily="18" charset="0"/>
              <a:cs typeface="Times New Roman" pitchFamily="18" charset="0"/>
            </a:endParaRPr>
          </a:p>
          <a:p>
            <a:pPr algn="just"/>
            <a:r>
              <a:rPr lang="en-US" sz="2800" spc="120" dirty="0" smtClean="0">
                <a:latin typeface="Times New Roman" pitchFamily="18" charset="0"/>
                <a:cs typeface="Times New Roman" pitchFamily="18" charset="0"/>
              </a:rPr>
              <a:t>Most</a:t>
            </a:r>
            <a:r>
              <a:rPr lang="en-US" sz="2800" spc="-15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of</a:t>
            </a:r>
            <a:r>
              <a:rPr lang="en-US" sz="2800" spc="-10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them</a:t>
            </a:r>
            <a:r>
              <a:rPr lang="en-US" sz="2800" spc="-100" dirty="0" smtClean="0">
                <a:latin typeface="Times New Roman" pitchFamily="18" charset="0"/>
                <a:cs typeface="Times New Roman" pitchFamily="18" charset="0"/>
              </a:rPr>
              <a:t> </a:t>
            </a:r>
            <a:r>
              <a:rPr lang="en-US" sz="2800" spc="-45" dirty="0" smtClean="0">
                <a:latin typeface="Times New Roman" pitchFamily="18" charset="0"/>
                <a:cs typeface="Times New Roman" pitchFamily="18" charset="0"/>
              </a:rPr>
              <a:t>are</a:t>
            </a:r>
            <a:r>
              <a:rPr lang="en-US" sz="2800" spc="-100" dirty="0" smtClean="0">
                <a:latin typeface="Times New Roman" pitchFamily="18" charset="0"/>
                <a:cs typeface="Times New Roman" pitchFamily="18" charset="0"/>
              </a:rPr>
              <a:t> </a:t>
            </a:r>
            <a:r>
              <a:rPr lang="en-US" sz="2800" spc="-155" dirty="0" smtClean="0">
                <a:latin typeface="Times New Roman" pitchFamily="18" charset="0"/>
                <a:cs typeface="Times New Roman" pitchFamily="18" charset="0"/>
              </a:rPr>
              <a:t>filter</a:t>
            </a:r>
            <a:r>
              <a:rPr lang="en-US" sz="2800" spc="-60" dirty="0" smtClean="0">
                <a:latin typeface="Times New Roman" pitchFamily="18" charset="0"/>
                <a:cs typeface="Times New Roman" pitchFamily="18" charset="0"/>
              </a:rPr>
              <a:t> </a:t>
            </a:r>
            <a:r>
              <a:rPr lang="en-US" sz="2800" spc="-85" dirty="0" smtClean="0">
                <a:latin typeface="Times New Roman" pitchFamily="18" charset="0"/>
                <a:cs typeface="Times New Roman" pitchFamily="18" charset="0"/>
              </a:rPr>
              <a:t>feature</a:t>
            </a:r>
            <a:r>
              <a:rPr lang="en-US" sz="2800" spc="-10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selection</a:t>
            </a:r>
            <a:r>
              <a:rPr lang="en-US" sz="2800" spc="-10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methods</a:t>
            </a:r>
            <a:endParaRPr lang="en-US" sz="2800" dirty="0" smtClean="0">
              <a:latin typeface="Times New Roman" pitchFamily="18" charset="0"/>
              <a:cs typeface="Times New Roman" pitchFamily="18" charset="0"/>
            </a:endParaRPr>
          </a:p>
          <a:p>
            <a:pPr algn="just"/>
            <a:r>
              <a:rPr lang="en-US" sz="2800" spc="120" dirty="0" smtClean="0">
                <a:latin typeface="Times New Roman" pitchFamily="18" charset="0"/>
                <a:cs typeface="Times New Roman" pitchFamily="18" charset="0"/>
              </a:rPr>
              <a:t>Most</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algorithms</a:t>
            </a:r>
            <a:r>
              <a:rPr lang="en-US" sz="2800" spc="-80" dirty="0" smtClean="0">
                <a:latin typeface="Times New Roman" pitchFamily="18" charset="0"/>
                <a:cs typeface="Times New Roman" pitchFamily="18" charset="0"/>
              </a:rPr>
              <a:t> </a:t>
            </a:r>
            <a:r>
              <a:rPr lang="en-US" sz="2800" spc="-40" dirty="0" smtClean="0">
                <a:latin typeface="Times New Roman" pitchFamily="18" charset="0"/>
                <a:cs typeface="Times New Roman" pitchFamily="18" charset="0"/>
              </a:rPr>
              <a:t>evaluate</a:t>
            </a:r>
            <a:r>
              <a:rPr lang="en-US" sz="2800" spc="-80" dirty="0" smtClean="0">
                <a:latin typeface="Times New Roman" pitchFamily="18" charset="0"/>
                <a:cs typeface="Times New Roman" pitchFamily="18" charset="0"/>
              </a:rPr>
              <a:t> </a:t>
            </a:r>
            <a:r>
              <a:rPr lang="en-US" sz="2800" spc="-40" dirty="0" smtClean="0">
                <a:latin typeface="Times New Roman" pitchFamily="18" charset="0"/>
                <a:cs typeface="Times New Roman" pitchFamily="18" charset="0"/>
              </a:rPr>
              <a:t>features</a:t>
            </a:r>
            <a:r>
              <a:rPr lang="en-US" sz="2800" spc="-80" dirty="0" smtClean="0">
                <a:latin typeface="Times New Roman" pitchFamily="18" charset="0"/>
                <a:cs typeface="Times New Roman" pitchFamily="18" charset="0"/>
              </a:rPr>
              <a:t> </a:t>
            </a:r>
            <a:r>
              <a:rPr lang="en-US" sz="2800" spc="-70" dirty="0" smtClean="0">
                <a:latin typeface="Times New Roman" pitchFamily="18" charset="0"/>
                <a:cs typeface="Times New Roman" pitchFamily="18" charset="0"/>
              </a:rPr>
              <a:t>individually,</a:t>
            </a:r>
            <a:r>
              <a:rPr lang="en-US" sz="2800" spc="-80" dirty="0" smtClean="0">
                <a:latin typeface="Times New Roman" pitchFamily="18" charset="0"/>
                <a:cs typeface="Times New Roman" pitchFamily="18" charset="0"/>
              </a:rPr>
              <a:t> </a:t>
            </a:r>
            <a:r>
              <a:rPr lang="en-US" sz="2800" spc="145" dirty="0" smtClean="0">
                <a:latin typeface="Times New Roman" pitchFamily="18" charset="0"/>
                <a:cs typeface="Times New Roman" pitchFamily="18" charset="0"/>
              </a:rPr>
              <a:t>so</a:t>
            </a:r>
            <a:r>
              <a:rPr lang="en-US" sz="2800" spc="-80"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the</a:t>
            </a:r>
            <a:r>
              <a:rPr lang="en-US" sz="2800" spc="-80" dirty="0" smtClean="0">
                <a:latin typeface="Times New Roman" pitchFamily="18" charset="0"/>
                <a:cs typeface="Times New Roman" pitchFamily="18" charset="0"/>
              </a:rPr>
              <a:t> </a:t>
            </a:r>
            <a:r>
              <a:rPr lang="en-US" sz="2800" spc="-85" dirty="0" smtClean="0">
                <a:latin typeface="Times New Roman" pitchFamily="18" charset="0"/>
                <a:cs typeface="Times New Roman" pitchFamily="18" charset="0"/>
              </a:rPr>
              <a:t>feature</a:t>
            </a:r>
            <a:r>
              <a:rPr lang="en-US" sz="2800" spc="-8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redundancy</a:t>
            </a:r>
            <a:r>
              <a:rPr lang="en-US" sz="2800" spc="-80"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is </a:t>
            </a:r>
            <a:r>
              <a:rPr lang="en-US" sz="2800" spc="-60" dirty="0" smtClean="0">
                <a:latin typeface="Times New Roman" pitchFamily="18" charset="0"/>
                <a:cs typeface="Times New Roman" pitchFamily="18" charset="0"/>
              </a:rPr>
              <a:t>inevitably</a:t>
            </a:r>
            <a:r>
              <a:rPr lang="en-US" sz="2800" spc="-10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ignored</a:t>
            </a:r>
            <a:endParaRPr lang="en-US" sz="2800" dirty="0" smtClean="0">
              <a:latin typeface="Times New Roman" pitchFamily="18" charset="0"/>
              <a:cs typeface="Times New Roman" pitchFamily="18" charset="0"/>
            </a:endParaRPr>
          </a:p>
          <a:p>
            <a:pPr algn="just"/>
            <a:r>
              <a:rPr lang="en-US" sz="2800" spc="120" dirty="0" smtClean="0">
                <a:latin typeface="Times New Roman" pitchFamily="18" charset="0"/>
                <a:cs typeface="Times New Roman" pitchFamily="18" charset="0"/>
              </a:rPr>
              <a:t>Most</a:t>
            </a:r>
            <a:r>
              <a:rPr lang="en-US" sz="2800" spc="-105"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algorithms</a:t>
            </a:r>
            <a:r>
              <a:rPr lang="en-US" sz="2800" spc="-1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can</a:t>
            </a:r>
            <a:r>
              <a:rPr lang="en-US" sz="2800" spc="-1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only</a:t>
            </a:r>
            <a:r>
              <a:rPr lang="en-US" sz="2800" spc="-1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handle</a:t>
            </a:r>
            <a:r>
              <a:rPr lang="en-US" sz="2800" spc="-10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discrete</a:t>
            </a:r>
            <a:r>
              <a:rPr lang="en-US" sz="2800" spc="-100"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data,</a:t>
            </a:r>
            <a:r>
              <a:rPr lang="en-US" sz="2800" spc="-100" dirty="0" smtClean="0">
                <a:latin typeface="Times New Roman" pitchFamily="18" charset="0"/>
                <a:cs typeface="Times New Roman" pitchFamily="18" charset="0"/>
              </a:rPr>
              <a:t> </a:t>
            </a:r>
            <a:r>
              <a:rPr lang="en-US" sz="2800" spc="-50" dirty="0" smtClean="0">
                <a:latin typeface="Times New Roman" pitchFamily="18" charset="0"/>
                <a:cs typeface="Times New Roman" pitchFamily="18" charset="0"/>
              </a:rPr>
              <a:t>the</a:t>
            </a:r>
            <a:r>
              <a:rPr lang="en-US" sz="2800" spc="-100" dirty="0" smtClean="0">
                <a:latin typeface="Times New Roman" pitchFamily="18" charset="0"/>
                <a:cs typeface="Times New Roman" pitchFamily="18" charset="0"/>
              </a:rPr>
              <a:t> </a:t>
            </a:r>
            <a:r>
              <a:rPr lang="en-US" sz="2800" spc="-30" dirty="0" smtClean="0">
                <a:latin typeface="Times New Roman" pitchFamily="18" charset="0"/>
                <a:cs typeface="Times New Roman" pitchFamily="18" charset="0"/>
              </a:rPr>
              <a:t>numerical</a:t>
            </a:r>
            <a:r>
              <a:rPr lang="en-US" sz="2800" spc="-100" dirty="0" smtClean="0">
                <a:latin typeface="Times New Roman" pitchFamily="18" charset="0"/>
                <a:cs typeface="Times New Roman" pitchFamily="18" charset="0"/>
              </a:rPr>
              <a:t> </a:t>
            </a:r>
            <a:r>
              <a:rPr lang="en-US" sz="2800" spc="-40" dirty="0" smtClean="0">
                <a:latin typeface="Times New Roman" pitchFamily="18" charset="0"/>
                <a:cs typeface="Times New Roman" pitchFamily="18" charset="0"/>
              </a:rPr>
              <a:t>features</a:t>
            </a:r>
            <a:r>
              <a:rPr lang="en-US" sz="2800" spc="-10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have </a:t>
            </a:r>
            <a:r>
              <a:rPr lang="en-US" sz="2800" dirty="0" smtClean="0">
                <a:latin typeface="Times New Roman" pitchFamily="18" charset="0"/>
                <a:cs typeface="Times New Roman" pitchFamily="18" charset="0"/>
              </a:rPr>
              <a:t>to</a:t>
            </a:r>
            <a:r>
              <a:rPr lang="en-US" sz="2800" spc="-1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be</a:t>
            </a:r>
            <a:r>
              <a:rPr lang="en-US" sz="2800" spc="-100" dirty="0" smtClean="0">
                <a:latin typeface="Times New Roman" pitchFamily="18" charset="0"/>
                <a:cs typeface="Times New Roman" pitchFamily="18" charset="0"/>
              </a:rPr>
              <a:t> </a:t>
            </a:r>
            <a:r>
              <a:rPr lang="en-US" sz="2800" spc="-20" dirty="0" err="1" smtClean="0">
                <a:latin typeface="Times New Roman" pitchFamily="18" charset="0"/>
                <a:cs typeface="Times New Roman" pitchFamily="18" charset="0"/>
              </a:rPr>
              <a:t>discretized</a:t>
            </a:r>
            <a:r>
              <a:rPr lang="en-US" sz="2800" spc="-100"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first.</a:t>
            </a:r>
            <a:endParaRPr lang="en-US" sz="2800" dirty="0" smtClean="0">
              <a:latin typeface="Times New Roman" pitchFamily="18" charset="0"/>
              <a:cs typeface="Times New Roman" pitchFamily="18" charset="0"/>
            </a:endParaRPr>
          </a:p>
          <a:p>
            <a:endParaRPr lang="en-US" dirty="0"/>
          </a:p>
        </p:txBody>
      </p:sp>
      <p:pic>
        <p:nvPicPr>
          <p:cNvPr id="4" name="object 10"/>
          <p:cNvPicPr/>
          <p:nvPr/>
        </p:nvPicPr>
        <p:blipFill>
          <a:blip r:embed="rId3" cstate="print"/>
          <a:stretch>
            <a:fillRect/>
          </a:stretch>
        </p:blipFill>
        <p:spPr>
          <a:xfrm>
            <a:off x="1219200" y="5007050"/>
            <a:ext cx="6858000" cy="18509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254" dirty="0" smtClean="0"/>
              <a:t>Feature</a:t>
            </a:r>
            <a:r>
              <a:rPr lang="en-US" spc="-345" dirty="0" smtClean="0"/>
              <a:t> </a:t>
            </a:r>
            <a:r>
              <a:rPr lang="en-US" spc="-180" dirty="0" smtClean="0"/>
              <a:t>Selection</a:t>
            </a:r>
            <a:r>
              <a:rPr lang="en-US" spc="-345" dirty="0" smtClean="0"/>
              <a:t> </a:t>
            </a:r>
            <a:r>
              <a:rPr lang="en-US" spc="-140" dirty="0" smtClean="0"/>
              <a:t>Issues</a:t>
            </a:r>
            <a:endParaRPr lang="en-US" dirty="0"/>
          </a:p>
        </p:txBody>
      </p:sp>
      <p:sp>
        <p:nvSpPr>
          <p:cNvPr id="3" name="Content Placeholder 2"/>
          <p:cNvSpPr>
            <a:spLocks noGrp="1"/>
          </p:cNvSpPr>
          <p:nvPr>
            <p:ph idx="1"/>
          </p:nvPr>
        </p:nvSpPr>
        <p:spPr/>
        <p:txBody>
          <a:bodyPr/>
          <a:lstStyle/>
          <a:p>
            <a:pPr marL="12700">
              <a:lnSpc>
                <a:spcPct val="100000"/>
              </a:lnSpc>
              <a:spcBef>
                <a:spcPts val="100"/>
              </a:spcBef>
            </a:pPr>
            <a:r>
              <a:rPr lang="en-US" sz="2400" dirty="0" smtClean="0">
                <a:latin typeface="Trebuchet MS"/>
                <a:cs typeface="Trebuchet MS"/>
              </a:rPr>
              <a:t>Recent</a:t>
            </a:r>
            <a:r>
              <a:rPr lang="en-US" sz="2400" spc="-60" dirty="0" smtClean="0">
                <a:latin typeface="Trebuchet MS"/>
                <a:cs typeface="Trebuchet MS"/>
              </a:rPr>
              <a:t> </a:t>
            </a:r>
            <a:r>
              <a:rPr lang="en-US" sz="2400" spc="-40" dirty="0" smtClean="0">
                <a:latin typeface="Trebuchet MS"/>
                <a:cs typeface="Trebuchet MS"/>
              </a:rPr>
              <a:t>popularity</a:t>
            </a:r>
            <a:r>
              <a:rPr lang="en-US" sz="2400" spc="-60" dirty="0" smtClean="0">
                <a:latin typeface="Trebuchet MS"/>
                <a:cs typeface="Trebuchet MS"/>
              </a:rPr>
              <a:t> </a:t>
            </a:r>
            <a:r>
              <a:rPr lang="en-US" sz="2400" dirty="0" smtClean="0">
                <a:latin typeface="Trebuchet MS"/>
                <a:cs typeface="Trebuchet MS"/>
              </a:rPr>
              <a:t>of</a:t>
            </a:r>
            <a:r>
              <a:rPr lang="en-US" sz="2400" spc="-60" dirty="0" smtClean="0">
                <a:latin typeface="Trebuchet MS"/>
                <a:cs typeface="Trebuchet MS"/>
              </a:rPr>
              <a:t> </a:t>
            </a:r>
            <a:r>
              <a:rPr lang="en-US" sz="2400" dirty="0" smtClean="0">
                <a:latin typeface="Trebuchet MS"/>
                <a:cs typeface="Trebuchet MS"/>
              </a:rPr>
              <a:t>big</a:t>
            </a:r>
            <a:r>
              <a:rPr lang="en-US" sz="2400" spc="-60" dirty="0" smtClean="0">
                <a:latin typeface="Trebuchet MS"/>
                <a:cs typeface="Trebuchet MS"/>
              </a:rPr>
              <a:t> </a:t>
            </a:r>
            <a:r>
              <a:rPr lang="en-US" sz="2400" dirty="0" smtClean="0">
                <a:latin typeface="Trebuchet MS"/>
                <a:cs typeface="Trebuchet MS"/>
              </a:rPr>
              <a:t>data</a:t>
            </a:r>
            <a:r>
              <a:rPr lang="en-US" sz="2400" spc="-60" dirty="0" smtClean="0">
                <a:latin typeface="Trebuchet MS"/>
                <a:cs typeface="Trebuchet MS"/>
              </a:rPr>
              <a:t> </a:t>
            </a:r>
            <a:r>
              <a:rPr lang="en-US" sz="2400" dirty="0" smtClean="0">
                <a:latin typeface="Trebuchet MS"/>
                <a:cs typeface="Trebuchet MS"/>
              </a:rPr>
              <a:t>presents</a:t>
            </a:r>
            <a:r>
              <a:rPr lang="en-US" sz="2400" spc="-60" dirty="0" smtClean="0">
                <a:latin typeface="Trebuchet MS"/>
                <a:cs typeface="Trebuchet MS"/>
              </a:rPr>
              <a:t> </a:t>
            </a:r>
            <a:r>
              <a:rPr lang="en-US" sz="2400" dirty="0" smtClean="0">
                <a:latin typeface="Trebuchet MS"/>
                <a:cs typeface="Trebuchet MS"/>
              </a:rPr>
              <a:t>challenges</a:t>
            </a:r>
            <a:r>
              <a:rPr lang="en-US" sz="2400" spc="-60" dirty="0" smtClean="0">
                <a:latin typeface="Trebuchet MS"/>
                <a:cs typeface="Trebuchet MS"/>
              </a:rPr>
              <a:t> </a:t>
            </a:r>
            <a:r>
              <a:rPr lang="en-US" sz="2400" dirty="0" smtClean="0">
                <a:latin typeface="Trebuchet MS"/>
                <a:cs typeface="Trebuchet MS"/>
              </a:rPr>
              <a:t>to</a:t>
            </a:r>
            <a:r>
              <a:rPr lang="en-US" sz="2400" spc="-60" dirty="0" smtClean="0">
                <a:latin typeface="Trebuchet MS"/>
                <a:cs typeface="Trebuchet MS"/>
              </a:rPr>
              <a:t> </a:t>
            </a:r>
            <a:r>
              <a:rPr lang="en-US" sz="2400" spc="-20" dirty="0" smtClean="0">
                <a:latin typeface="Trebuchet MS"/>
                <a:cs typeface="Trebuchet MS"/>
              </a:rPr>
              <a:t>conventional</a:t>
            </a:r>
            <a:r>
              <a:rPr lang="en-US" sz="2400" spc="-60" dirty="0" smtClean="0">
                <a:latin typeface="Trebuchet MS"/>
                <a:cs typeface="Trebuchet MS"/>
              </a:rPr>
              <a:t> </a:t>
            </a:r>
            <a:r>
              <a:rPr lang="en-US" sz="2400" spc="225" dirty="0" smtClean="0">
                <a:latin typeface="Trebuchet MS"/>
                <a:cs typeface="Trebuchet MS"/>
              </a:rPr>
              <a:t>FS</a:t>
            </a:r>
            <a:endParaRPr lang="en-US" sz="2400" dirty="0" smtClean="0">
              <a:latin typeface="Trebuchet MS"/>
              <a:cs typeface="Trebuchet MS"/>
            </a:endParaRPr>
          </a:p>
          <a:p>
            <a:pPr marL="249554" indent="-236854">
              <a:lnSpc>
                <a:spcPct val="100000"/>
              </a:lnSpc>
              <a:spcBef>
                <a:spcPts val="20"/>
              </a:spcBef>
              <a:buChar char="–"/>
              <a:tabLst>
                <a:tab pos="249554" algn="l"/>
              </a:tabLst>
            </a:pPr>
            <a:r>
              <a:rPr lang="en-US" sz="2400" dirty="0" smtClean="0">
                <a:latin typeface="Trebuchet MS"/>
                <a:cs typeface="Trebuchet MS"/>
              </a:rPr>
              <a:t>Streaming</a:t>
            </a:r>
            <a:r>
              <a:rPr lang="en-US" sz="2400" spc="-25" dirty="0" smtClean="0">
                <a:latin typeface="Trebuchet MS"/>
                <a:cs typeface="Trebuchet MS"/>
              </a:rPr>
              <a:t> </a:t>
            </a:r>
            <a:r>
              <a:rPr lang="en-US" sz="2400" dirty="0" smtClean="0">
                <a:latin typeface="Trebuchet MS"/>
                <a:cs typeface="Trebuchet MS"/>
              </a:rPr>
              <a:t>data</a:t>
            </a:r>
            <a:r>
              <a:rPr lang="en-US" sz="2400" spc="-20" dirty="0" smtClean="0">
                <a:latin typeface="Trebuchet MS"/>
                <a:cs typeface="Trebuchet MS"/>
              </a:rPr>
              <a:t> </a:t>
            </a:r>
            <a:r>
              <a:rPr lang="en-US" sz="2400" dirty="0" smtClean="0">
                <a:latin typeface="Trebuchet MS"/>
                <a:cs typeface="Trebuchet MS"/>
              </a:rPr>
              <a:t>and</a:t>
            </a:r>
            <a:r>
              <a:rPr lang="en-US" sz="2400" spc="-25" dirty="0" smtClean="0">
                <a:latin typeface="Trebuchet MS"/>
                <a:cs typeface="Trebuchet MS"/>
              </a:rPr>
              <a:t> </a:t>
            </a:r>
            <a:r>
              <a:rPr lang="en-US" sz="2400" spc="-10" dirty="0" smtClean="0">
                <a:latin typeface="Trebuchet MS"/>
                <a:cs typeface="Trebuchet MS"/>
              </a:rPr>
              <a:t>features</a:t>
            </a:r>
            <a:endParaRPr lang="en-US" sz="2400" dirty="0" smtClean="0">
              <a:latin typeface="Trebuchet MS"/>
              <a:cs typeface="Trebuchet MS"/>
            </a:endParaRPr>
          </a:p>
          <a:p>
            <a:pPr marL="249554" indent="-236854">
              <a:lnSpc>
                <a:spcPct val="100000"/>
              </a:lnSpc>
              <a:spcBef>
                <a:spcPts val="20"/>
              </a:spcBef>
              <a:buChar char="–"/>
              <a:tabLst>
                <a:tab pos="249554" algn="l"/>
              </a:tabLst>
            </a:pPr>
            <a:r>
              <a:rPr lang="en-US" sz="2400" dirty="0" smtClean="0">
                <a:latin typeface="Trebuchet MS"/>
                <a:cs typeface="Trebuchet MS"/>
              </a:rPr>
              <a:t>Heterogeneous</a:t>
            </a:r>
            <a:r>
              <a:rPr lang="en-US" sz="2400" spc="150" dirty="0" smtClean="0">
                <a:latin typeface="Trebuchet MS"/>
                <a:cs typeface="Trebuchet MS"/>
              </a:rPr>
              <a:t> </a:t>
            </a:r>
            <a:r>
              <a:rPr lang="en-US" sz="2400" spc="-20" dirty="0" smtClean="0">
                <a:latin typeface="Trebuchet MS"/>
                <a:cs typeface="Trebuchet MS"/>
              </a:rPr>
              <a:t>data</a:t>
            </a:r>
            <a:endParaRPr lang="en-US" sz="2400" dirty="0" smtClean="0">
              <a:latin typeface="Trebuchet MS"/>
              <a:cs typeface="Trebuchet MS"/>
            </a:endParaRPr>
          </a:p>
          <a:p>
            <a:pPr marL="249554" indent="-236854">
              <a:lnSpc>
                <a:spcPct val="100000"/>
              </a:lnSpc>
              <a:spcBef>
                <a:spcPts val="20"/>
              </a:spcBef>
              <a:buChar char="–"/>
              <a:tabLst>
                <a:tab pos="249554" algn="l"/>
              </a:tabLst>
            </a:pPr>
            <a:r>
              <a:rPr lang="en-US" sz="2400" dirty="0" smtClean="0">
                <a:latin typeface="Trebuchet MS"/>
                <a:cs typeface="Trebuchet MS"/>
              </a:rPr>
              <a:t>Structures</a:t>
            </a:r>
            <a:r>
              <a:rPr lang="en-US" sz="2400" spc="-105" dirty="0" smtClean="0">
                <a:latin typeface="Trebuchet MS"/>
                <a:cs typeface="Trebuchet MS"/>
              </a:rPr>
              <a:t> </a:t>
            </a:r>
            <a:r>
              <a:rPr lang="en-US" sz="2400" spc="-20" dirty="0" smtClean="0">
                <a:latin typeface="Trebuchet MS"/>
                <a:cs typeface="Trebuchet MS"/>
              </a:rPr>
              <a:t>between</a:t>
            </a:r>
            <a:r>
              <a:rPr lang="en-US" sz="2400" spc="-100" dirty="0" smtClean="0">
                <a:latin typeface="Trebuchet MS"/>
                <a:cs typeface="Trebuchet MS"/>
              </a:rPr>
              <a:t> </a:t>
            </a:r>
            <a:r>
              <a:rPr lang="en-US" sz="2400" spc="-10" dirty="0" smtClean="0">
                <a:latin typeface="Trebuchet MS"/>
                <a:cs typeface="Trebuchet MS"/>
              </a:rPr>
              <a:t>features</a:t>
            </a:r>
            <a:endParaRPr lang="en-US" sz="2400" dirty="0" smtClean="0">
              <a:latin typeface="Trebuchet MS"/>
              <a:cs typeface="Trebuchet MS"/>
            </a:endParaRPr>
          </a:p>
          <a:p>
            <a:pPr marL="249554" indent="-236854">
              <a:lnSpc>
                <a:spcPct val="100000"/>
              </a:lnSpc>
              <a:spcBef>
                <a:spcPts val="20"/>
              </a:spcBef>
              <a:buChar char="–"/>
              <a:tabLst>
                <a:tab pos="249554" algn="l"/>
              </a:tabLst>
            </a:pPr>
            <a:r>
              <a:rPr lang="en-US" sz="2400" spc="-20" dirty="0" smtClean="0">
                <a:latin typeface="Trebuchet MS"/>
                <a:cs typeface="Trebuchet MS"/>
              </a:rPr>
              <a:t>Volume</a:t>
            </a:r>
            <a:r>
              <a:rPr lang="en-US" sz="2400" spc="-135" dirty="0" smtClean="0">
                <a:latin typeface="Trebuchet MS"/>
                <a:cs typeface="Trebuchet MS"/>
              </a:rPr>
              <a:t> </a:t>
            </a:r>
            <a:r>
              <a:rPr lang="en-US" sz="2400" dirty="0" smtClean="0">
                <a:latin typeface="Trebuchet MS"/>
                <a:cs typeface="Trebuchet MS"/>
              </a:rPr>
              <a:t>of</a:t>
            </a:r>
            <a:r>
              <a:rPr lang="en-US" sz="2400" spc="-130" dirty="0" smtClean="0">
                <a:latin typeface="Trebuchet MS"/>
                <a:cs typeface="Trebuchet MS"/>
              </a:rPr>
              <a:t> </a:t>
            </a:r>
            <a:r>
              <a:rPr lang="en-US" sz="2400" spc="-25" dirty="0" smtClean="0">
                <a:latin typeface="Trebuchet MS"/>
                <a:cs typeface="Trebuchet MS"/>
              </a:rPr>
              <a:t>collected</a:t>
            </a:r>
            <a:r>
              <a:rPr lang="en-US" sz="2400" spc="-135" dirty="0" smtClean="0">
                <a:latin typeface="Trebuchet MS"/>
                <a:cs typeface="Trebuchet MS"/>
              </a:rPr>
              <a:t> </a:t>
            </a:r>
            <a:r>
              <a:rPr lang="en-US" sz="2400" spc="-20" dirty="0" smtClean="0">
                <a:latin typeface="Trebuchet MS"/>
                <a:cs typeface="Trebuchet MS"/>
              </a:rPr>
              <a:t>data</a:t>
            </a:r>
            <a:endParaRPr lang="en-US" sz="2400" dirty="0" smtClean="0">
              <a:latin typeface="Trebuchet MS"/>
              <a:cs typeface="Trebuchet MS"/>
            </a:endParaRPr>
          </a:p>
          <a:p>
            <a:endParaRPr lang="en-US" dirty="0"/>
          </a:p>
        </p:txBody>
      </p:sp>
      <p:pic>
        <p:nvPicPr>
          <p:cNvPr id="4" name="object 5"/>
          <p:cNvPicPr/>
          <p:nvPr/>
        </p:nvPicPr>
        <p:blipFill>
          <a:blip r:embed="rId3" cstate="print"/>
          <a:stretch>
            <a:fillRect/>
          </a:stretch>
        </p:blipFill>
        <p:spPr>
          <a:xfrm>
            <a:off x="4724400" y="3048000"/>
            <a:ext cx="4092315" cy="3429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Dimensionality Reduction?</a:t>
            </a:r>
            <a:endParaRPr lang="en-US"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r>
              <a:rPr lang="en-US" b="1" dirty="0" smtClean="0"/>
              <a:t>Definition: </a:t>
            </a:r>
            <a:r>
              <a:rPr lang="en-US" dirty="0" smtClean="0"/>
              <a:t>Dimensionality Reduction is the process of reducing the number of input features (variables) while preserving as much useful information as possible.</a:t>
            </a:r>
          </a:p>
          <a:p>
            <a:r>
              <a:rPr lang="en-US" b="1" dirty="0" smtClean="0"/>
              <a:t>Why is it Needed?</a:t>
            </a:r>
          </a:p>
          <a:p>
            <a:r>
              <a:rPr lang="en-US" dirty="0" smtClean="0"/>
              <a:t>When the number of features increases:</a:t>
            </a:r>
          </a:p>
          <a:p>
            <a:r>
              <a:rPr lang="en-US" dirty="0" smtClean="0"/>
              <a:t>Data becomes sparse </a:t>
            </a:r>
          </a:p>
          <a:p>
            <a:r>
              <a:rPr lang="en-US" dirty="0" smtClean="0"/>
              <a:t>Distance between data points increases </a:t>
            </a:r>
          </a:p>
          <a:p>
            <a:r>
              <a:rPr lang="en-US" dirty="0" smtClean="0"/>
              <a:t>Similarity calculations become less meaningful </a:t>
            </a:r>
          </a:p>
          <a:p>
            <a:r>
              <a:rPr lang="en-US" dirty="0" smtClean="0"/>
              <a:t>Models require more training data </a:t>
            </a:r>
          </a:p>
          <a:p>
            <a:r>
              <a:rPr lang="en-US" dirty="0" smtClean="0"/>
              <a:t>Training becomes slower </a:t>
            </a:r>
          </a:p>
          <a:p>
            <a:r>
              <a:rPr lang="en-US" dirty="0" smtClean="0"/>
              <a:t>Risk of </a:t>
            </a:r>
            <a:r>
              <a:rPr lang="en-US" dirty="0" err="1" smtClean="0"/>
              <a:t>overfitting</a:t>
            </a:r>
            <a:r>
              <a:rPr lang="en-US" dirty="0" smtClean="0"/>
              <a:t> increases</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a:buNone/>
            </a:pPr>
            <a:r>
              <a:rPr lang="en-US" b="1" dirty="0" smtClean="0"/>
              <a:t>Example - </a:t>
            </a:r>
            <a:r>
              <a:rPr lang="en-US" dirty="0" smtClean="0"/>
              <a:t>Suppose a student dataset contains:</a:t>
            </a:r>
          </a:p>
          <a:p>
            <a:pPr>
              <a:buNone/>
            </a:pPr>
            <a:r>
              <a:rPr lang="en-US" dirty="0" smtClean="0"/>
              <a:t>	Age</a:t>
            </a:r>
            <a:br>
              <a:rPr lang="en-US" dirty="0" smtClean="0"/>
            </a:br>
            <a:r>
              <a:rPr lang="en-US" dirty="0" smtClean="0"/>
              <a:t>Gender</a:t>
            </a:r>
            <a:br>
              <a:rPr lang="en-US" dirty="0" smtClean="0"/>
            </a:br>
            <a:r>
              <a:rPr lang="en-US" dirty="0" smtClean="0"/>
              <a:t>Attendance</a:t>
            </a:r>
            <a:br>
              <a:rPr lang="en-US" dirty="0" smtClean="0"/>
            </a:br>
            <a:r>
              <a:rPr lang="en-US" dirty="0" smtClean="0"/>
              <a:t>Marks</a:t>
            </a:r>
            <a:br>
              <a:rPr lang="en-US" dirty="0" smtClean="0"/>
            </a:br>
            <a:r>
              <a:rPr lang="en-US" dirty="0" smtClean="0"/>
              <a:t>Sports</a:t>
            </a:r>
            <a:br>
              <a:rPr lang="en-US" dirty="0" smtClean="0"/>
            </a:br>
            <a:r>
              <a:rPr lang="en-US" dirty="0" smtClean="0"/>
              <a:t>Family Income</a:t>
            </a:r>
            <a:br>
              <a:rPr lang="en-US" dirty="0" smtClean="0"/>
            </a:br>
            <a:r>
              <a:rPr lang="en-US" dirty="0" smtClean="0"/>
              <a:t>Internet Usage</a:t>
            </a:r>
            <a:br>
              <a:rPr lang="en-US" dirty="0" smtClean="0"/>
            </a:br>
            <a:r>
              <a:rPr lang="en-US" dirty="0" smtClean="0"/>
              <a:t>Travel Distance</a:t>
            </a:r>
            <a:br>
              <a:rPr lang="en-US" dirty="0" smtClean="0"/>
            </a:br>
            <a:r>
              <a:rPr lang="en-US" dirty="0" smtClean="0"/>
              <a:t>...</a:t>
            </a:r>
          </a:p>
          <a:p>
            <a:pPr>
              <a:buNone/>
            </a:pPr>
            <a:r>
              <a:rPr lang="en-US" dirty="0" smtClean="0"/>
              <a:t>	Instead of using 100 features, we may reduce them to 10–20 important features.</a:t>
            </a:r>
          </a:p>
          <a:p>
            <a:r>
              <a:rPr lang="en-US" dirty="0" smtClean="0"/>
              <a:t>This phenomenon is called the </a:t>
            </a:r>
            <a:r>
              <a:rPr lang="en-US" b="1" dirty="0" smtClean="0"/>
              <a:t>Curse of Dimensionality</a:t>
            </a:r>
            <a:r>
              <a:rPr lang="en-US" dirty="0" smtClean="0"/>
              <a:t>.</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Feature Selection</a:t>
            </a:r>
            <a:endParaRPr lang="en-US" dirty="0"/>
          </a:p>
        </p:txBody>
      </p:sp>
      <p:sp>
        <p:nvSpPr>
          <p:cNvPr id="3" name="Content Placeholder 2"/>
          <p:cNvSpPr>
            <a:spLocks noGrp="1"/>
          </p:cNvSpPr>
          <p:nvPr>
            <p:ph idx="1"/>
          </p:nvPr>
        </p:nvSpPr>
        <p:spPr>
          <a:xfrm>
            <a:off x="457200" y="990600"/>
            <a:ext cx="8534400" cy="5105400"/>
          </a:xfrm>
        </p:spPr>
        <p:txBody>
          <a:bodyPr>
            <a:normAutofit fontScale="32500" lnSpcReduction="20000"/>
          </a:bodyPr>
          <a:lstStyle/>
          <a:p>
            <a:pPr>
              <a:buNone/>
            </a:pPr>
            <a:r>
              <a:rPr lang="en-US" sz="5500" b="1" dirty="0" smtClean="0"/>
              <a:t>Definition: </a:t>
            </a:r>
            <a:r>
              <a:rPr lang="en-US" sz="5500" dirty="0" smtClean="0"/>
              <a:t>Feature Selection is the process of selecting the most relevant features from the original dataset and removing irrelevant or redundant features.</a:t>
            </a:r>
          </a:p>
          <a:p>
            <a:pPr>
              <a:buNone/>
            </a:pPr>
            <a:r>
              <a:rPr lang="en-US" sz="5500" b="1" dirty="0" smtClean="0"/>
              <a:t>Key Idea</a:t>
            </a:r>
          </a:p>
          <a:p>
            <a:r>
              <a:rPr lang="en-US" sz="5500" dirty="0" smtClean="0"/>
              <a:t>The original features remain unchanged. We simply choose the most useful ones.</a:t>
            </a:r>
          </a:p>
          <a:p>
            <a:pPr>
              <a:buNone/>
            </a:pPr>
            <a:r>
              <a:rPr lang="en-US" sz="5500" b="1" dirty="0" smtClean="0"/>
              <a:t>Example</a:t>
            </a:r>
          </a:p>
          <a:p>
            <a:pPr>
              <a:buNone/>
            </a:pPr>
            <a:r>
              <a:rPr lang="en-US" sz="5500" dirty="0" smtClean="0"/>
              <a:t>Original Features:</a:t>
            </a:r>
          </a:p>
          <a:p>
            <a:pPr>
              <a:buNone/>
            </a:pPr>
            <a:r>
              <a:rPr lang="en-US" sz="5500" dirty="0" smtClean="0"/>
              <a:t>	Age</a:t>
            </a:r>
            <a:br>
              <a:rPr lang="en-US" sz="5500" dirty="0" smtClean="0"/>
            </a:br>
            <a:r>
              <a:rPr lang="en-US" sz="5500" dirty="0" smtClean="0"/>
              <a:t>Gender</a:t>
            </a:r>
            <a:br>
              <a:rPr lang="en-US" sz="5500" dirty="0" smtClean="0"/>
            </a:br>
            <a:r>
              <a:rPr lang="en-US" sz="5500" dirty="0" smtClean="0"/>
              <a:t>Height</a:t>
            </a:r>
            <a:br>
              <a:rPr lang="en-US" sz="5500" dirty="0" smtClean="0"/>
            </a:br>
            <a:r>
              <a:rPr lang="en-US" sz="5500" dirty="0" smtClean="0"/>
              <a:t>Weight</a:t>
            </a:r>
            <a:br>
              <a:rPr lang="en-US" sz="5500" dirty="0" smtClean="0"/>
            </a:br>
            <a:r>
              <a:rPr lang="en-US" sz="5500" dirty="0" smtClean="0"/>
              <a:t>Student ID</a:t>
            </a:r>
            <a:br>
              <a:rPr lang="en-US" sz="5500" dirty="0" smtClean="0"/>
            </a:br>
            <a:r>
              <a:rPr lang="en-US" sz="5500" dirty="0" smtClean="0"/>
              <a:t>Phone Number</a:t>
            </a:r>
          </a:p>
          <a:p>
            <a:pPr>
              <a:buNone/>
            </a:pPr>
            <a:r>
              <a:rPr lang="en-US" sz="5500" dirty="0" smtClean="0"/>
              <a:t>Selected Features: Age, Height, Weight</a:t>
            </a:r>
          </a:p>
          <a:p>
            <a:pPr>
              <a:buNone/>
            </a:pPr>
            <a:r>
              <a:rPr lang="en-US" sz="5500" dirty="0" smtClean="0"/>
              <a:t>Student ID and Phone Number may not help prediction.</a:t>
            </a:r>
          </a:p>
          <a:p>
            <a:pPr>
              <a:buNone/>
            </a:pPr>
            <a:r>
              <a:rPr lang="en-US" sz="5500" b="1" dirty="0" smtClean="0"/>
              <a:t>Advantages</a:t>
            </a:r>
          </a:p>
          <a:p>
            <a:r>
              <a:rPr lang="en-US" sz="5500" dirty="0" smtClean="0"/>
              <a:t>Simpler models </a:t>
            </a:r>
          </a:p>
          <a:p>
            <a:r>
              <a:rPr lang="en-US" sz="5500" dirty="0" smtClean="0"/>
              <a:t>Faster training </a:t>
            </a:r>
          </a:p>
          <a:p>
            <a:r>
              <a:rPr lang="en-US" sz="5500" dirty="0" smtClean="0"/>
              <a:t>Reduced </a:t>
            </a:r>
            <a:r>
              <a:rPr lang="en-US" sz="5500" dirty="0" err="1" smtClean="0"/>
              <a:t>overfitting</a:t>
            </a:r>
            <a:r>
              <a:rPr lang="en-US" sz="5500" dirty="0" smtClean="0"/>
              <a:t> </a:t>
            </a:r>
          </a:p>
          <a:p>
            <a:r>
              <a:rPr lang="en-US" sz="5500" dirty="0" smtClean="0"/>
              <a:t>Better interpretability</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Extraction</a:t>
            </a:r>
            <a:endParaRPr lang="en-US" dirty="0"/>
          </a:p>
        </p:txBody>
      </p:sp>
      <p:sp>
        <p:nvSpPr>
          <p:cNvPr id="3" name="Content Placeholder 2"/>
          <p:cNvSpPr>
            <a:spLocks noGrp="1"/>
          </p:cNvSpPr>
          <p:nvPr>
            <p:ph idx="1"/>
          </p:nvPr>
        </p:nvSpPr>
        <p:spPr>
          <a:xfrm>
            <a:off x="457200" y="1295400"/>
            <a:ext cx="8229600" cy="4830763"/>
          </a:xfrm>
        </p:spPr>
        <p:txBody>
          <a:bodyPr>
            <a:normAutofit fontScale="85000" lnSpcReduction="20000"/>
          </a:bodyPr>
          <a:lstStyle/>
          <a:p>
            <a:pPr>
              <a:buNone/>
            </a:pPr>
            <a:r>
              <a:rPr lang="en-US" b="1" dirty="0" smtClean="0"/>
              <a:t>Definition: </a:t>
            </a:r>
            <a:r>
              <a:rPr lang="en-US" dirty="0" smtClean="0"/>
              <a:t>Feature Extraction creates new features by combining information from the original features.</a:t>
            </a:r>
          </a:p>
          <a:p>
            <a:pPr>
              <a:buNone/>
            </a:pPr>
            <a:r>
              <a:rPr lang="en-US" b="1" dirty="0" smtClean="0"/>
              <a:t>Key Idea</a:t>
            </a:r>
          </a:p>
          <a:p>
            <a:r>
              <a:rPr lang="en-US" dirty="0" smtClean="0"/>
              <a:t>Instead of removing features, we transform them into a new lower-dimensional representation.</a:t>
            </a:r>
          </a:p>
          <a:p>
            <a:pPr>
              <a:buNone/>
            </a:pPr>
            <a:r>
              <a:rPr lang="en-US" b="1" dirty="0" smtClean="0"/>
              <a:t>Example</a:t>
            </a:r>
          </a:p>
          <a:p>
            <a:r>
              <a:rPr lang="en-US" b="1" dirty="0" smtClean="0"/>
              <a:t>Original Features: </a:t>
            </a:r>
            <a:r>
              <a:rPr lang="en-US" dirty="0" smtClean="0"/>
              <a:t>Math Score, Reading Score, Writing Score</a:t>
            </a:r>
          </a:p>
          <a:p>
            <a:r>
              <a:rPr lang="en-US" b="1" dirty="0" smtClean="0"/>
              <a:t>After PCA: </a:t>
            </a:r>
            <a:r>
              <a:rPr lang="en-US" dirty="0" smtClean="0"/>
              <a:t>Principal Component 1, Principal Component 2</a:t>
            </a:r>
          </a:p>
          <a:p>
            <a:r>
              <a:rPr lang="en-US" dirty="0" smtClean="0"/>
              <a:t>These components summarize most of the information.</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Dimensionality Reduction</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1. Faster Training - </a:t>
            </a:r>
            <a:r>
              <a:rPr lang="en-US" dirty="0" smtClean="0"/>
              <a:t>Fewer features mean less computation.</a:t>
            </a:r>
          </a:p>
          <a:p>
            <a:pPr>
              <a:buNone/>
            </a:pPr>
            <a:r>
              <a:rPr lang="en-US" b="1" dirty="0" smtClean="0"/>
              <a:t>2. Reduced Storage - </a:t>
            </a:r>
            <a:r>
              <a:rPr lang="en-US" dirty="0" smtClean="0"/>
              <a:t>Smaller datasets require less memory.</a:t>
            </a:r>
          </a:p>
          <a:p>
            <a:pPr>
              <a:buNone/>
            </a:pPr>
            <a:r>
              <a:rPr lang="en-US" b="1" dirty="0" smtClean="0"/>
              <a:t>3. Better Generalization - </a:t>
            </a:r>
            <a:r>
              <a:rPr lang="en-US" dirty="0" smtClean="0"/>
              <a:t>Removes irrelevant features and reduces </a:t>
            </a:r>
            <a:r>
              <a:rPr lang="en-US" dirty="0" err="1" smtClean="0"/>
              <a:t>overfitting</a:t>
            </a:r>
            <a:r>
              <a:rPr lang="en-US" dirty="0" smtClean="0"/>
              <a:t>.</a:t>
            </a:r>
          </a:p>
          <a:p>
            <a:pPr>
              <a:buNone/>
            </a:pPr>
            <a:r>
              <a:rPr lang="en-US" b="1" dirty="0" smtClean="0"/>
              <a:t>4. Improved Visualization - </a:t>
            </a:r>
            <a:r>
              <a:rPr lang="en-US" dirty="0" smtClean="0"/>
              <a:t>High-dimensional data can be projected into 2D or 3D for visualization.</a:t>
            </a:r>
          </a:p>
          <a:p>
            <a:pPr>
              <a:buNone/>
            </a:pPr>
            <a:r>
              <a:rPr lang="en-US" b="1" dirty="0" smtClean="0"/>
              <a:t>5. Noise Reduction - </a:t>
            </a:r>
            <a:r>
              <a:rPr lang="en-US" dirty="0" smtClean="0"/>
              <a:t>Removes noisy and redundant information.</a:t>
            </a:r>
          </a:p>
          <a:p>
            <a:pPr>
              <a:buNone/>
            </a:pPr>
            <a:r>
              <a:rPr lang="en-US" b="1" dirty="0" smtClean="0"/>
              <a:t>6. Better Model Performance - </a:t>
            </a:r>
            <a:r>
              <a:rPr lang="en-US" dirty="0" smtClean="0"/>
              <a:t>Models focus on the most informative features.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Major Dimensionality Reduction Techniques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PCA </a:t>
            </a:r>
          </a:p>
          <a:p>
            <a:r>
              <a:rPr lang="en-US" dirty="0" smtClean="0"/>
              <a:t>Backward Feature Elimination </a:t>
            </a:r>
          </a:p>
          <a:p>
            <a:r>
              <a:rPr lang="en-US" dirty="0" smtClean="0"/>
              <a:t>Forward Feature Selection </a:t>
            </a:r>
          </a:p>
          <a:p>
            <a:r>
              <a:rPr lang="en-US" dirty="0" smtClean="0"/>
              <a:t>Low Variance Filter </a:t>
            </a:r>
          </a:p>
          <a:p>
            <a:r>
              <a:rPr lang="en-US" dirty="0" smtClean="0"/>
              <a:t>High Correlation Filter </a:t>
            </a:r>
          </a:p>
          <a:p>
            <a:r>
              <a:rPr lang="en-US" dirty="0" smtClean="0"/>
              <a:t>Decision Trees </a:t>
            </a:r>
          </a:p>
          <a:p>
            <a:r>
              <a:rPr lang="en-US" dirty="0" smtClean="0"/>
              <a:t>Random Forest </a:t>
            </a:r>
          </a:p>
          <a:p>
            <a:r>
              <a:rPr lang="en-US" dirty="0" smtClean="0"/>
              <a:t>Factor Analysis</a:t>
            </a:r>
          </a:p>
          <a:p>
            <a:r>
              <a:rPr lang="en-US" b="1" dirty="0" smtClean="0"/>
              <a:t>Most Popular Technique - PCA (Principal Component Analysis) </a:t>
            </a:r>
            <a:r>
              <a:rPr lang="en-US" dirty="0" smtClean="0"/>
              <a:t>is the most widely used dimensionality reduction technique for reducing features while preserving maximum variance.</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you do a PCA?</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Steps of PCA</a:t>
            </a:r>
          </a:p>
          <a:p>
            <a:r>
              <a:rPr lang="en-US" dirty="0" smtClean="0"/>
              <a:t>Standardize the range of continuous initial variables. </a:t>
            </a:r>
          </a:p>
          <a:p>
            <a:r>
              <a:rPr lang="en-US" dirty="0" smtClean="0"/>
              <a:t>Compute the covariance matrix to identify correlations. </a:t>
            </a:r>
          </a:p>
          <a:p>
            <a:r>
              <a:rPr lang="en-US" dirty="0" smtClean="0"/>
              <a:t>Compute the eigenvectors and </a:t>
            </a:r>
            <a:r>
              <a:rPr lang="en-US" dirty="0" err="1" smtClean="0"/>
              <a:t>eigenvalues</a:t>
            </a:r>
            <a:r>
              <a:rPr lang="en-US" dirty="0" smtClean="0"/>
              <a:t> of the covariance matrix to identify the principal components. </a:t>
            </a:r>
          </a:p>
          <a:p>
            <a:r>
              <a:rPr lang="en-US" dirty="0" smtClean="0"/>
              <a:t>Create a feature vector to decide which principal components to keep. </a:t>
            </a:r>
          </a:p>
          <a:p>
            <a:r>
              <a:rPr lang="en-US" dirty="0" smtClean="0"/>
              <a:t>Recast the data along the principal component axes.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normAutofit fontScale="92500"/>
          </a:bodyPr>
          <a:lstStyle/>
          <a:p>
            <a:pPr>
              <a:buNone/>
            </a:pPr>
            <a:r>
              <a:rPr lang="en-US" b="1" dirty="0" smtClean="0"/>
              <a:t>Consider the following two-dimensional patterns</a:t>
            </a:r>
          </a:p>
          <a:p>
            <a:pPr>
              <a:buNone/>
            </a:pPr>
            <a:r>
              <a:rPr lang="en-US" dirty="0" smtClean="0"/>
              <a:t>	(2,1)</a:t>
            </a:r>
            <a:br>
              <a:rPr lang="en-US" dirty="0" smtClean="0"/>
            </a:br>
            <a:r>
              <a:rPr lang="en-US" dirty="0" smtClean="0"/>
              <a:t>(3,5)</a:t>
            </a:r>
            <a:br>
              <a:rPr lang="en-US" dirty="0" smtClean="0"/>
            </a:br>
            <a:r>
              <a:rPr lang="en-US" dirty="0" smtClean="0"/>
              <a:t>(4,3)</a:t>
            </a:r>
            <a:br>
              <a:rPr lang="en-US" dirty="0" smtClean="0"/>
            </a:br>
            <a:r>
              <a:rPr lang="en-US" dirty="0" smtClean="0"/>
              <a:t>(5,6)</a:t>
            </a:r>
            <a:br>
              <a:rPr lang="en-US" dirty="0" smtClean="0"/>
            </a:br>
            <a:r>
              <a:rPr lang="en-US" dirty="0" smtClean="0"/>
              <a:t>(6,7)</a:t>
            </a:r>
            <a:br>
              <a:rPr lang="en-US" dirty="0" smtClean="0"/>
            </a:br>
            <a:r>
              <a:rPr lang="en-US" dirty="0" smtClean="0"/>
              <a:t>(7,8)</a:t>
            </a:r>
            <a:endParaRPr lang="en-US" b="1" dirty="0" smtClean="0"/>
          </a:p>
          <a:p>
            <a:r>
              <a:rPr lang="en-US" dirty="0" smtClean="0"/>
              <a:t>Compute the principal component using the PCA algorithm.</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Get Data</a:t>
            </a:r>
            <a:endParaRPr lang="en-US" dirty="0"/>
          </a:p>
        </p:txBody>
      </p:sp>
      <p:sp>
        <p:nvSpPr>
          <p:cNvPr id="3" name="Content Placeholder 2"/>
          <p:cNvSpPr>
            <a:spLocks noGrp="1"/>
          </p:cNvSpPr>
          <p:nvPr>
            <p:ph idx="1"/>
          </p:nvPr>
        </p:nvSpPr>
        <p:spPr>
          <a:xfrm>
            <a:off x="457200" y="1066800"/>
            <a:ext cx="8229600" cy="5562600"/>
          </a:xfrm>
        </p:spPr>
        <p:txBody>
          <a:bodyPr>
            <a:normAutofit fontScale="62500" lnSpcReduction="20000"/>
          </a:bodyPr>
          <a:lstStyle/>
          <a:p>
            <a:pPr>
              <a:buNone/>
            </a:pPr>
            <a:r>
              <a:rPr lang="en-US" b="1" dirty="0" smtClean="0"/>
              <a:t>Given Feature Vectors - </a:t>
            </a:r>
            <a:r>
              <a:rPr lang="en-US" dirty="0" smtClean="0"/>
              <a:t>x1 = (2,1) x2 = (3,5) x3 = (4,3) x4 = (5,6) x5 = (6,7) </a:t>
            </a:r>
          </a:p>
          <a:p>
            <a:pPr>
              <a:buNone/>
            </a:pPr>
            <a:r>
              <a:rPr lang="en-US" dirty="0" smtClean="0"/>
              <a:t>x6 = (7,8)</a:t>
            </a:r>
          </a:p>
          <a:p>
            <a:pPr>
              <a:buNone/>
            </a:pPr>
            <a:r>
              <a:rPr lang="en-US" dirty="0" smtClean="0"/>
              <a:t>Data Matrix:</a:t>
            </a:r>
          </a:p>
          <a:p>
            <a:pPr>
              <a:buNone/>
            </a:pPr>
            <a:r>
              <a:rPr lang="en-US" dirty="0" smtClean="0"/>
              <a:t>	[2]</a:t>
            </a:r>
            <a:br>
              <a:rPr lang="en-US" dirty="0" smtClean="0"/>
            </a:br>
            <a:r>
              <a:rPr lang="en-US" dirty="0" smtClean="0"/>
              <a:t>[1]</a:t>
            </a:r>
            <a:br>
              <a:rPr lang="en-US" dirty="0" smtClean="0"/>
            </a:br>
            <a:r>
              <a:rPr lang="en-US" dirty="0" smtClean="0"/>
              <a:t/>
            </a:r>
            <a:br>
              <a:rPr lang="en-US" dirty="0" smtClean="0"/>
            </a:br>
            <a:r>
              <a:rPr lang="en-US" dirty="0" smtClean="0"/>
              <a:t>[3]</a:t>
            </a:r>
            <a:br>
              <a:rPr lang="en-US" dirty="0" smtClean="0"/>
            </a:br>
            <a:r>
              <a:rPr lang="en-US" dirty="0" smtClean="0"/>
              <a:t>[5]</a:t>
            </a:r>
            <a:br>
              <a:rPr lang="en-US" dirty="0" smtClean="0"/>
            </a:br>
            <a:r>
              <a:rPr lang="en-US" dirty="0" smtClean="0"/>
              <a:t/>
            </a:r>
            <a:br>
              <a:rPr lang="en-US" dirty="0" smtClean="0"/>
            </a:br>
            <a:r>
              <a:rPr lang="en-US" dirty="0" smtClean="0"/>
              <a:t>[4]</a:t>
            </a:r>
            <a:br>
              <a:rPr lang="en-US" dirty="0" smtClean="0"/>
            </a:br>
            <a:r>
              <a:rPr lang="en-US" dirty="0" smtClean="0"/>
              <a:t>[3]</a:t>
            </a:r>
            <a:br>
              <a:rPr lang="en-US" dirty="0" smtClean="0"/>
            </a:br>
            <a:r>
              <a:rPr lang="en-US" dirty="0" smtClean="0"/>
              <a:t/>
            </a:r>
            <a:br>
              <a:rPr lang="en-US" dirty="0" smtClean="0"/>
            </a:br>
            <a:r>
              <a:rPr lang="en-US" dirty="0" smtClean="0"/>
              <a:t>[5]</a:t>
            </a:r>
            <a:br>
              <a:rPr lang="en-US" dirty="0" smtClean="0"/>
            </a:br>
            <a:r>
              <a:rPr lang="en-US" dirty="0" smtClean="0"/>
              <a:t>[6]</a:t>
            </a:r>
            <a:br>
              <a:rPr lang="en-US" dirty="0" smtClean="0"/>
            </a:br>
            <a:r>
              <a:rPr lang="en-US" dirty="0" smtClean="0"/>
              <a:t/>
            </a:r>
            <a:br>
              <a:rPr lang="en-US" dirty="0" smtClean="0"/>
            </a:br>
            <a:r>
              <a:rPr lang="en-US" dirty="0" smtClean="0"/>
              <a:t>[6]</a:t>
            </a:r>
            <a:br>
              <a:rPr lang="en-US" dirty="0" smtClean="0"/>
            </a:br>
            <a:r>
              <a:rPr lang="en-US" dirty="0" smtClean="0"/>
              <a:t>[7]</a:t>
            </a:r>
            <a:br>
              <a:rPr lang="en-US" dirty="0" smtClean="0"/>
            </a:br>
            <a:r>
              <a:rPr lang="en-US" dirty="0" smtClean="0"/>
              <a:t/>
            </a:r>
            <a:br>
              <a:rPr lang="en-US" dirty="0" smtClean="0"/>
            </a:br>
            <a:r>
              <a:rPr lang="en-US" dirty="0" smtClean="0"/>
              <a:t>[7]</a:t>
            </a:r>
            <a:br>
              <a:rPr lang="en-US" dirty="0" smtClean="0"/>
            </a:br>
            <a:r>
              <a:rPr lang="en-US" dirty="0" smtClean="0"/>
              <a:t>[8]</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Mean Vector</a:t>
            </a:r>
            <a:endParaRPr lang="en-US" dirty="0"/>
          </a:p>
        </p:txBody>
      </p:sp>
      <p:pic>
        <p:nvPicPr>
          <p:cNvPr id="3074" name="Picture 2"/>
          <p:cNvPicPr>
            <a:picLocks noGrp="1" noChangeAspect="1" noChangeArrowheads="1"/>
          </p:cNvPicPr>
          <p:nvPr>
            <p:ph idx="1"/>
          </p:nvPr>
        </p:nvPicPr>
        <p:blipFill>
          <a:blip r:embed="rId3"/>
          <a:srcRect/>
          <a:stretch>
            <a:fillRect/>
          </a:stretch>
        </p:blipFill>
        <p:spPr bwMode="auto">
          <a:xfrm>
            <a:off x="609600" y="1905000"/>
            <a:ext cx="7917810" cy="35052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Subtract Mean Vector</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Centered Data</a:t>
            </a:r>
          </a:p>
          <a:p>
            <a:pPr>
              <a:buNone/>
            </a:pPr>
            <a:r>
              <a:rPr lang="en-US" dirty="0" smtClean="0"/>
              <a:t>x1−</a:t>
            </a:r>
            <a:r>
              <a:rPr lang="el-GR" dirty="0" smtClean="0"/>
              <a:t>μ=(2−4.5,  1−5)=(−2.5,−4)</a:t>
            </a:r>
            <a:endParaRPr lang="en-US" dirty="0" smtClean="0"/>
          </a:p>
          <a:p>
            <a:pPr>
              <a:buNone/>
            </a:pPr>
            <a:r>
              <a:rPr lang="en-US" dirty="0" smtClean="0"/>
              <a:t>x2−</a:t>
            </a:r>
            <a:r>
              <a:rPr lang="el-GR" dirty="0" smtClean="0"/>
              <a:t>μ=(3−4.5,  5−5)=(−1.5,0)</a:t>
            </a:r>
            <a:endParaRPr lang="en-US" dirty="0" smtClean="0"/>
          </a:p>
          <a:p>
            <a:pPr>
              <a:buNone/>
            </a:pPr>
            <a:r>
              <a:rPr lang="en-US" dirty="0" smtClean="0"/>
              <a:t>x3−</a:t>
            </a:r>
            <a:r>
              <a:rPr lang="el-GR" dirty="0" smtClean="0"/>
              <a:t>μ=(4−4.5,  3−5)=(−0.5,−2)</a:t>
            </a:r>
            <a:endParaRPr lang="en-US" dirty="0" smtClean="0"/>
          </a:p>
          <a:p>
            <a:pPr>
              <a:buNone/>
            </a:pPr>
            <a:r>
              <a:rPr lang="en-US" dirty="0" smtClean="0"/>
              <a:t>x4−</a:t>
            </a:r>
            <a:r>
              <a:rPr lang="el-GR" dirty="0" smtClean="0"/>
              <a:t>μ=(5−4.5,  6−5)=(0.5,1)</a:t>
            </a:r>
            <a:endParaRPr lang="en-US" dirty="0" smtClean="0"/>
          </a:p>
          <a:p>
            <a:pPr>
              <a:buNone/>
            </a:pPr>
            <a:r>
              <a:rPr lang="en-US" dirty="0" smtClean="0"/>
              <a:t>x5−</a:t>
            </a:r>
            <a:r>
              <a:rPr lang="el-GR" dirty="0" smtClean="0"/>
              <a:t>μ=(6−4.5,  7−5)=(1.5,2)</a:t>
            </a:r>
            <a:endParaRPr lang="en-US" dirty="0" smtClean="0"/>
          </a:p>
          <a:p>
            <a:pPr>
              <a:buNone/>
            </a:pPr>
            <a:r>
              <a:rPr lang="en-US" dirty="0" smtClean="0"/>
              <a:t>x6−</a:t>
            </a:r>
            <a:r>
              <a:rPr lang="el-GR" dirty="0" smtClean="0"/>
              <a:t>μ=(7−4.5,  8−5)=(2.5,3)</a:t>
            </a:r>
            <a:endParaRPr lang="en-US" dirty="0" smtClean="0"/>
          </a:p>
          <a:p>
            <a:pPr>
              <a:buNone/>
            </a:pPr>
            <a:r>
              <a:rPr lang="en-US" b="1" dirty="0" smtClean="0"/>
              <a:t>Centered Feature Vectors: </a:t>
            </a:r>
          </a:p>
          <a:p>
            <a:pPr>
              <a:buNone/>
            </a:pPr>
            <a:r>
              <a:rPr lang="en-US" dirty="0" smtClean="0"/>
              <a:t>(-2.5,-4), (-1.5,0), (-0.5,-2), (0.5,1), (1.5,2), (2.5,3)</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Covariance Matrix Formula</a:t>
            </a:r>
            <a:endParaRPr lang="en-US" dirty="0"/>
          </a:p>
        </p:txBody>
      </p:sp>
      <p:pic>
        <p:nvPicPr>
          <p:cNvPr id="4098" name="Picture 2"/>
          <p:cNvPicPr>
            <a:picLocks noGrp="1" noChangeAspect="1" noChangeArrowheads="1"/>
          </p:cNvPicPr>
          <p:nvPr>
            <p:ph idx="1"/>
          </p:nvPr>
        </p:nvPicPr>
        <p:blipFill>
          <a:blip r:embed="rId3"/>
          <a:srcRect/>
          <a:stretch>
            <a:fillRect/>
          </a:stretch>
        </p:blipFill>
        <p:spPr bwMode="auto">
          <a:xfrm>
            <a:off x="971553" y="1752600"/>
            <a:ext cx="6481759" cy="36576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Individual Matrices</a:t>
            </a:r>
            <a:endParaRPr lang="en-US" dirty="0"/>
          </a:p>
        </p:txBody>
      </p:sp>
      <p:pic>
        <p:nvPicPr>
          <p:cNvPr id="5122" name="Picture 2"/>
          <p:cNvPicPr>
            <a:picLocks noGrp="1" noChangeAspect="1" noChangeArrowheads="1"/>
          </p:cNvPicPr>
          <p:nvPr>
            <p:ph idx="1"/>
          </p:nvPr>
        </p:nvPicPr>
        <p:blipFill>
          <a:blip r:embed="rId3"/>
          <a:srcRect/>
          <a:stretch>
            <a:fillRect/>
          </a:stretch>
        </p:blipFill>
        <p:spPr bwMode="auto">
          <a:xfrm>
            <a:off x="1066801" y="1752600"/>
            <a:ext cx="7344310" cy="4199308"/>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3"/>
          <a:srcRect/>
          <a:stretch>
            <a:fillRect/>
          </a:stretch>
        </p:blipFill>
        <p:spPr bwMode="auto">
          <a:xfrm>
            <a:off x="1020738" y="1371600"/>
            <a:ext cx="6827862" cy="4765278"/>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Covariance Matrix</a:t>
            </a:r>
            <a:endParaRPr lang="en-US" dirty="0"/>
          </a:p>
        </p:txBody>
      </p:sp>
      <p:pic>
        <p:nvPicPr>
          <p:cNvPr id="7170" name="Picture 2"/>
          <p:cNvPicPr>
            <a:picLocks noGrp="1" noChangeAspect="1" noChangeArrowheads="1"/>
          </p:cNvPicPr>
          <p:nvPr>
            <p:ph idx="1"/>
          </p:nvPr>
        </p:nvPicPr>
        <p:blipFill>
          <a:blip r:embed="rId3"/>
          <a:srcRect/>
          <a:stretch>
            <a:fillRect/>
          </a:stretch>
        </p:blipFill>
        <p:spPr bwMode="auto">
          <a:xfrm>
            <a:off x="693927" y="1752600"/>
            <a:ext cx="7714529" cy="42672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a:t>
            </a:r>
            <a:r>
              <a:rPr lang="en-US" dirty="0" err="1" smtClean="0"/>
              <a:t>Eigenvalues</a:t>
            </a:r>
            <a:endParaRPr lang="en-US" dirty="0"/>
          </a:p>
        </p:txBody>
      </p:sp>
      <p:pic>
        <p:nvPicPr>
          <p:cNvPr id="8194" name="Picture 2"/>
          <p:cNvPicPr>
            <a:picLocks noGrp="1" noChangeAspect="1" noChangeArrowheads="1"/>
          </p:cNvPicPr>
          <p:nvPr>
            <p:ph idx="1"/>
          </p:nvPr>
        </p:nvPicPr>
        <p:blipFill>
          <a:blip r:embed="rId3"/>
          <a:srcRect/>
          <a:stretch>
            <a:fillRect/>
          </a:stretch>
        </p:blipFill>
        <p:spPr bwMode="auto">
          <a:xfrm>
            <a:off x="420052" y="1752600"/>
            <a:ext cx="7641404" cy="31242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Solve </a:t>
            </a:r>
            <a:r>
              <a:rPr lang="en-US" dirty="0" err="1" smtClean="0"/>
              <a:t>Eigenvalues</a:t>
            </a:r>
            <a:endParaRPr lang="en-US" dirty="0"/>
          </a:p>
        </p:txBody>
      </p:sp>
      <p:pic>
        <p:nvPicPr>
          <p:cNvPr id="9218" name="Picture 2"/>
          <p:cNvPicPr>
            <a:picLocks noGrp="1" noChangeAspect="1" noChangeArrowheads="1"/>
          </p:cNvPicPr>
          <p:nvPr>
            <p:ph idx="1"/>
          </p:nvPr>
        </p:nvPicPr>
        <p:blipFill>
          <a:blip r:embed="rId3"/>
          <a:srcRect/>
          <a:stretch>
            <a:fillRect/>
          </a:stretch>
        </p:blipFill>
        <p:spPr bwMode="auto">
          <a:xfrm>
            <a:off x="381000" y="1230584"/>
            <a:ext cx="8500555" cy="5006274"/>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Eigenvector</a:t>
            </a:r>
            <a:endParaRPr lang="en-US" dirty="0"/>
          </a:p>
        </p:txBody>
      </p:sp>
      <p:pic>
        <p:nvPicPr>
          <p:cNvPr id="10242" name="Picture 2"/>
          <p:cNvPicPr>
            <a:picLocks noGrp="1" noChangeAspect="1" noChangeArrowheads="1"/>
          </p:cNvPicPr>
          <p:nvPr>
            <p:ph idx="1"/>
          </p:nvPr>
        </p:nvPicPr>
        <p:blipFill>
          <a:blip r:embed="rId3"/>
          <a:srcRect/>
          <a:stretch>
            <a:fillRect/>
          </a:stretch>
        </p:blipFill>
        <p:spPr bwMode="auto">
          <a:xfrm>
            <a:off x="457200" y="1600200"/>
            <a:ext cx="8337666" cy="38862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Solve Eigenvector</a:t>
            </a:r>
            <a:endParaRPr lang="en-US" dirty="0"/>
          </a:p>
        </p:txBody>
      </p:sp>
      <p:pic>
        <p:nvPicPr>
          <p:cNvPr id="11266" name="Picture 2"/>
          <p:cNvPicPr>
            <a:picLocks noGrp="1" noChangeAspect="1" noChangeArrowheads="1"/>
          </p:cNvPicPr>
          <p:nvPr>
            <p:ph idx="1"/>
          </p:nvPr>
        </p:nvPicPr>
        <p:blipFill>
          <a:blip r:embed="rId3"/>
          <a:srcRect/>
          <a:stretch>
            <a:fillRect/>
          </a:stretch>
        </p:blipFill>
        <p:spPr bwMode="auto">
          <a:xfrm>
            <a:off x="958799" y="1447800"/>
            <a:ext cx="7194601" cy="480950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Principal Component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Principal Component:</a:t>
            </a:r>
          </a:p>
          <a:p>
            <a:endParaRPr lang="en-US" dirty="0" smtClean="0"/>
          </a:p>
          <a:p>
            <a:endParaRPr lang="en-US" dirty="0" smtClean="0"/>
          </a:p>
          <a:p>
            <a:r>
              <a:rPr lang="en-US" dirty="0" smtClean="0"/>
              <a:t>Projected values:</a:t>
            </a:r>
          </a:p>
          <a:p>
            <a:pPr>
              <a:buNone/>
            </a:pPr>
            <a:r>
              <a:rPr lang="en-US" dirty="0" smtClean="0"/>
              <a:t>	8.77</a:t>
            </a:r>
            <a:br>
              <a:rPr lang="en-US" dirty="0" smtClean="0"/>
            </a:br>
            <a:r>
              <a:rPr lang="en-US" dirty="0" smtClean="0"/>
              <a:t>26.00</a:t>
            </a:r>
            <a:br>
              <a:rPr lang="en-US" dirty="0" smtClean="0"/>
            </a:br>
            <a:r>
              <a:rPr lang="en-US" dirty="0" smtClean="0"/>
              <a:t>21.21</a:t>
            </a:r>
            <a:br>
              <a:rPr lang="en-US" dirty="0" smtClean="0"/>
            </a:br>
            <a:r>
              <a:rPr lang="en-US" dirty="0" smtClean="0"/>
              <a:t>34.77</a:t>
            </a:r>
            <a:br>
              <a:rPr lang="en-US" dirty="0" smtClean="0"/>
            </a:br>
            <a:r>
              <a:rPr lang="en-US" dirty="0" smtClean="0"/>
              <a:t>40.99</a:t>
            </a:r>
            <a:br>
              <a:rPr lang="en-US" dirty="0" smtClean="0"/>
            </a:br>
            <a:r>
              <a:rPr lang="en-US" dirty="0" smtClean="0"/>
              <a:t>47.21</a:t>
            </a:r>
          </a:p>
          <a:p>
            <a:endParaRPr lang="en-US" dirty="0"/>
          </a:p>
        </p:txBody>
      </p:sp>
      <p:pic>
        <p:nvPicPr>
          <p:cNvPr id="12291" name="Picture 3"/>
          <p:cNvPicPr>
            <a:picLocks noChangeAspect="1" noChangeArrowheads="1"/>
          </p:cNvPicPr>
          <p:nvPr/>
        </p:nvPicPr>
        <p:blipFill>
          <a:blip r:embed="rId3"/>
          <a:srcRect/>
          <a:stretch>
            <a:fillRect/>
          </a:stretch>
        </p:blipFill>
        <p:spPr bwMode="auto">
          <a:xfrm>
            <a:off x="2971800" y="2209800"/>
            <a:ext cx="2247772" cy="6858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endParaRPr lang="en-US" dirty="0" smtClean="0"/>
          </a:p>
          <a:p>
            <a:endParaRPr lang="en-US" dirty="0"/>
          </a:p>
          <a:p>
            <a:endParaRPr lang="en-US" dirty="0" smtClean="0"/>
          </a:p>
          <a:p>
            <a:endParaRPr lang="en-US" dirty="0"/>
          </a:p>
          <a:p>
            <a:pPr marL="0" indent="0">
              <a:buNone/>
            </a:pPr>
            <a:r>
              <a:rPr lang="en-US" dirty="0" smtClean="0"/>
              <a:t>			</a:t>
            </a:r>
            <a:r>
              <a:rPr lang="en-US" sz="4800" dirty="0" smtClean="0">
                <a:latin typeface="Times New Roman" pitchFamily="18" charset="0"/>
                <a:cs typeface="Times New Roman" pitchFamily="18" charset="0"/>
              </a:rPr>
              <a:t>Thank You !</a:t>
            </a:r>
            <a:endParaRPr lang="en-US" sz="4800" dirty="0">
              <a:latin typeface="Times New Roman" pitchFamily="18" charset="0"/>
              <a:cs typeface="Times New Roman" pitchFamily="18" charset="0"/>
            </a:endParaRPr>
          </a:p>
        </p:txBody>
      </p:sp>
    </p:spTree>
    <p:extLst>
      <p:ext uri="{BB962C8B-B14F-4D97-AF65-F5344CB8AC3E}">
        <p14:creationId xmlns:p14="http://schemas.microsoft.com/office/powerpoint/2010/main" xmlns="" val="1998807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2091</TotalTime>
  <Words>1394</Words>
  <Application>Microsoft Office PowerPoint</Application>
  <PresentationFormat>On-screen Show (4:3)</PresentationFormat>
  <Paragraphs>278</Paragraphs>
  <Slides>48</Slides>
  <Notes>47</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Feature Selection</vt:lpstr>
      <vt:lpstr>Feature Selection</vt:lpstr>
      <vt:lpstr>Relevant vs. Redundant features</vt:lpstr>
      <vt:lpstr>Feature Extraction vs. Feature Selection</vt:lpstr>
      <vt:lpstr>Interpretability of Learning Algorithms</vt:lpstr>
      <vt:lpstr>When feature selection is important?</vt:lpstr>
      <vt:lpstr>Curse of Dimensionality</vt:lpstr>
      <vt:lpstr>Feature Selection Steps</vt:lpstr>
      <vt:lpstr>Feature Selection Algorithms</vt:lpstr>
      <vt:lpstr>Supervised Feature Selection</vt:lpstr>
      <vt:lpstr>Unsupervised Feature Selection</vt:lpstr>
      <vt:lpstr>Semi-Supervised Feature Selection</vt:lpstr>
      <vt:lpstr>Feature Selection Methods</vt:lpstr>
      <vt:lpstr> Filter Methods </vt:lpstr>
      <vt:lpstr>Slide 15</vt:lpstr>
      <vt:lpstr>Wrapper Method</vt:lpstr>
      <vt:lpstr>Slide 17</vt:lpstr>
      <vt:lpstr>Embedded Methods</vt:lpstr>
      <vt:lpstr>Selection Criteria</vt:lpstr>
      <vt:lpstr>Similarity based Feature Selection</vt:lpstr>
      <vt:lpstr>Slide 21</vt:lpstr>
      <vt:lpstr>Information Theoretical based Methods</vt:lpstr>
      <vt:lpstr>Information Theoretic based Methods - A General Framework</vt:lpstr>
      <vt:lpstr>Sparse learning based methods</vt:lpstr>
      <vt:lpstr>Sparse Learning Methods - A General Framework</vt:lpstr>
      <vt:lpstr>Statistical based Methods</vt:lpstr>
      <vt:lpstr>Feature Selection Issues</vt:lpstr>
      <vt:lpstr>What is Dimensionality Reduction?</vt:lpstr>
      <vt:lpstr>Slide 29</vt:lpstr>
      <vt:lpstr>Feature Selection</vt:lpstr>
      <vt:lpstr>Feature Extraction</vt:lpstr>
      <vt:lpstr>Benefits of Dimensionality Reduction</vt:lpstr>
      <vt:lpstr>Major Dimensionality Reduction Techniques</vt:lpstr>
      <vt:lpstr>How do you do a PCA?</vt:lpstr>
      <vt:lpstr>Exercise</vt:lpstr>
      <vt:lpstr>Get Data</vt:lpstr>
      <vt:lpstr>Calculate Mean Vector</vt:lpstr>
      <vt:lpstr>Subtract Mean Vector</vt:lpstr>
      <vt:lpstr>Covariance Matrix Formula</vt:lpstr>
      <vt:lpstr>Calculate Individual Matrices</vt:lpstr>
      <vt:lpstr>Slide 41</vt:lpstr>
      <vt:lpstr>Final Covariance Matrix</vt:lpstr>
      <vt:lpstr>Calculate Eigenvalues</vt:lpstr>
      <vt:lpstr>Solve Eigenvalues</vt:lpstr>
      <vt:lpstr>Calculate Eigenvector</vt:lpstr>
      <vt:lpstr>Solve Eigenvector</vt:lpstr>
      <vt:lpstr>Principal Component</vt:lpstr>
      <vt:lpstr>Slide 48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dc:title>
  <dc:creator>JD</dc:creator>
  <cp:lastModifiedBy>Windows User</cp:lastModifiedBy>
  <cp:revision>132</cp:revision>
  <dcterms:created xsi:type="dcterms:W3CDTF">2018-02-19T13:29:20Z</dcterms:created>
  <dcterms:modified xsi:type="dcterms:W3CDTF">2026-06-29T04:42:30Z</dcterms:modified>
</cp:coreProperties>
</file>